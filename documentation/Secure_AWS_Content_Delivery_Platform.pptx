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F9900"/>
          </a:solidFill>
          <a:ln w="12700">
            <a:solidFill>
              <a:srgbClr val="FF9900"/>
            </a:solidFill>
            <a:prstDash val="solid"/>
          </a:ln>
        </p:spPr>
      </p:sp>
      <p:sp>
        <p:nvSpPr>
          <p:cNvPr id="3" name="Shape 1"/>
          <p:cNvSpPr/>
          <p:nvPr/>
        </p:nvSpPr>
        <p:spPr>
          <a:xfrm>
            <a:off x="0" y="54864"/>
            <a:ext cx="457200" cy="6803136"/>
          </a:xfrm>
          <a:prstGeom prst="rect">
            <a:avLst/>
          </a:prstGeom>
          <a:solidFill>
            <a:srgbClr val="1A2E5A"/>
          </a:solidFill>
          <a:ln w="12700">
            <a:solidFill>
              <a:srgbClr val="1A2E5A"/>
            </a:solidFill>
            <a:prstDash val="solid"/>
          </a:ln>
        </p:spPr>
      </p:sp>
      <p:sp>
        <p:nvSpPr>
          <p:cNvPr id="4" name="Shape 2"/>
          <p:cNvSpPr/>
          <p:nvPr/>
        </p:nvSpPr>
        <p:spPr>
          <a:xfrm>
            <a:off x="457200" y="54864"/>
            <a:ext cx="54864" cy="6803136"/>
          </a:xfrm>
          <a:prstGeom prst="rect">
            <a:avLst/>
          </a:prstGeom>
          <a:solidFill>
            <a:srgbClr val="FF9900"/>
          </a:solidFill>
          <a:ln w="12700">
            <a:solidFill>
              <a:srgbClr val="FF9900"/>
            </a:solidFill>
            <a:prstDash val="solid"/>
          </a:ln>
        </p:spPr>
      </p:sp>
      <p:sp>
        <p:nvSpPr>
          <p:cNvPr id="7" name="Text 4"/>
          <p:cNvSpPr/>
          <p:nvPr/>
        </p:nvSpPr>
        <p:spPr>
          <a:xfrm>
            <a:off x="731520" y="900000"/>
            <a:ext cx="10925832" cy="900000"/>
          </a:xfrm>
          <a:prstGeom prst="rect">
            <a:avLst/>
          </a:prstGeom>
          <a:noFill/>
          <a:ln/>
        </p:spPr>
        <p:txBody>
          <a:bodyPr wrap="square" lIns="0" tIns="0" rIns="0" bIns="0" rtlCol="0" anchor="ctr"/>
          <a:lstStyle/>
          <a:p>
            <a:pPr indent="0" marL="0">
              <a:buNone/>
            </a:pPr>
            <a:r>
              <a:rPr lang="en-US" sz="7200" b="1" dirty="0">
                <a:solidFill>
                  <a:srgbClr val="FF9900"/>
                </a:solidFill>
                <a:latin typeface="Calibri" pitchFamily="34" charset="0"/>
                <a:ea typeface="Calibri" pitchFamily="34" charset="-122"/>
                <a:cs typeface="Calibri" pitchFamily="34" charset="-120"/>
              </a:rPr>
              <a:t>SECURE AWS</a:t>
            </a:r>
            <a:endParaRPr lang="en-US" sz="7200" dirty="0"/>
          </a:p>
        </p:txBody>
      </p:sp>
      <p:sp>
        <p:nvSpPr>
          <p:cNvPr id="8" name="Text 5"/>
          <p:cNvSpPr/>
          <p:nvPr/>
        </p:nvSpPr>
        <p:spPr>
          <a:xfrm>
            <a:off x="731520" y="1800000"/>
            <a:ext cx="10925832" cy="7000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CONTENT DELIVERY PLATFORM</a:t>
            </a:r>
            <a:endParaRPr lang="en-US" sz="4800" dirty="0"/>
          </a:p>
        </p:txBody>
      </p:sp>
      <p:sp>
        <p:nvSpPr>
          <p:cNvPr id="9" name="Shape 6"/>
          <p:cNvSpPr/>
          <p:nvPr/>
        </p:nvSpPr>
        <p:spPr>
          <a:xfrm>
            <a:off x="731520" y="2500000"/>
            <a:ext cx="10925832" cy="36576"/>
          </a:xfrm>
          <a:prstGeom prst="rect">
            <a:avLst/>
          </a:prstGeom>
          <a:solidFill>
            <a:srgbClr val="00B4D8"/>
          </a:solidFill>
          <a:ln w="12700">
            <a:solidFill>
              <a:srgbClr val="00B4D8"/>
            </a:solidFill>
            <a:prstDash val="solid"/>
          </a:ln>
        </p:spPr>
      </p:sp>
      <p:sp>
        <p:nvSpPr>
          <p:cNvPr id="10" name="Text 7"/>
          <p:cNvSpPr/>
          <p:nvPr/>
        </p:nvSpPr>
        <p:spPr>
          <a:xfrm>
            <a:off x="731520" y="2600000"/>
            <a:ext cx="10925832" cy="600000"/>
          </a:xfrm>
          <a:prstGeom prst="rect">
            <a:avLst/>
          </a:prstGeom>
          <a:noFill/>
          <a:ln/>
        </p:spPr>
        <p:txBody>
          <a:bodyPr wrap="square" lIns="0" tIns="0" rIns="0" bIns="0" rtlCol="0" anchor="ctr"/>
          <a:lstStyle/>
          <a:p>
            <a:pPr indent="0" marL="0">
              <a:buNone/>
            </a:pPr>
            <a:r>
              <a:rPr lang="en-US" sz="2000" dirty="0">
                <a:solidFill>
                  <a:srgbClr val="B8C8E8"/>
                </a:solidFill>
                <a:latin typeface="Calibri" pitchFamily="34" charset="0"/>
                <a:ea typeface="Calibri" pitchFamily="34" charset="-122"/>
                <a:cs typeface="Calibri" pitchFamily="34" charset="-120"/>
              </a:rPr>
              <a:t>Secure content access using authentication, authorization and temporary controlled access mechanisms</a:t>
            </a:r>
            <a:endParaRPr lang="en-US" sz="2000" dirty="0"/>
          </a:p>
        </p:txBody>
      </p:sp>
      <p:sp>
        <p:nvSpPr>
          <p:cNvPr id="11" name="Shape 8"/>
          <p:cNvSpPr/>
          <p:nvPr/>
        </p:nvSpPr>
        <p:spPr>
          <a:xfrm>
            <a:off x="731520" y="3350000"/>
            <a:ext cx="3400000" cy="380000"/>
          </a:xfrm>
          <a:prstGeom prst="rect">
            <a:avLst/>
          </a:prstGeom>
          <a:solidFill>
            <a:srgbClr val="1E3A6E"/>
          </a:solidFill>
          <a:ln w="12700">
            <a:solidFill>
              <a:srgbClr val="00B4D8"/>
            </a:solidFill>
            <a:prstDash val="solid"/>
          </a:ln>
        </p:spPr>
      </p:sp>
      <p:sp>
        <p:nvSpPr>
          <p:cNvPr id="12" name="Text 9"/>
          <p:cNvSpPr/>
          <p:nvPr/>
        </p:nvSpPr>
        <p:spPr>
          <a:xfrm>
            <a:off x="731520" y="3350000"/>
            <a:ext cx="3400000" cy="380000"/>
          </a:xfrm>
          <a:prstGeom prst="rect">
            <a:avLst/>
          </a:prstGeom>
          <a:noFill/>
          <a:ln/>
        </p:spPr>
        <p:txBody>
          <a:bodyPr wrap="square" lIns="0" tIns="0" rIns="0" bIns="0" rtlCol="0" anchor="ctr"/>
          <a:lstStyle/>
          <a:p>
            <a:pPr algn="ctr" indent="0" marL="0">
              <a:buNone/>
            </a:pPr>
            <a:r>
              <a:rPr lang="en-US" sz="1400" dirty="0">
                <a:solidFill>
                  <a:srgbClr val="00B4D8"/>
                </a:solidFill>
                <a:latin typeface="Calibri" pitchFamily="34" charset="0"/>
                <a:ea typeface="Calibri" pitchFamily="34" charset="-122"/>
                <a:cs typeface="Calibri" pitchFamily="34" charset="-120"/>
              </a:rPr>
              <a:t>Amazon Cognito</a:t>
            </a:r>
            <a:endParaRPr lang="en-US" sz="1400" dirty="0"/>
          </a:p>
        </p:txBody>
      </p:sp>
      <p:sp>
        <p:nvSpPr>
          <p:cNvPr id="13" name="Shape 10"/>
          <p:cNvSpPr/>
          <p:nvPr/>
        </p:nvSpPr>
        <p:spPr>
          <a:xfrm>
            <a:off x="4331520" y="3350000"/>
            <a:ext cx="3400000" cy="380000"/>
          </a:xfrm>
          <a:prstGeom prst="rect">
            <a:avLst/>
          </a:prstGeom>
          <a:solidFill>
            <a:srgbClr val="1E3A6E"/>
          </a:solidFill>
          <a:ln w="12700">
            <a:solidFill>
              <a:srgbClr val="00B4D8"/>
            </a:solidFill>
            <a:prstDash val="solid"/>
          </a:ln>
        </p:spPr>
      </p:sp>
      <p:sp>
        <p:nvSpPr>
          <p:cNvPr id="14" name="Text 11"/>
          <p:cNvSpPr/>
          <p:nvPr/>
        </p:nvSpPr>
        <p:spPr>
          <a:xfrm>
            <a:off x="4331520" y="3350000"/>
            <a:ext cx="3400000" cy="380000"/>
          </a:xfrm>
          <a:prstGeom prst="rect">
            <a:avLst/>
          </a:prstGeom>
          <a:noFill/>
          <a:ln/>
        </p:spPr>
        <p:txBody>
          <a:bodyPr wrap="square" lIns="0" tIns="0" rIns="0" bIns="0" rtlCol="0" anchor="ctr"/>
          <a:lstStyle/>
          <a:p>
            <a:pPr algn="ctr" indent="0" marL="0">
              <a:buNone/>
            </a:pPr>
            <a:r>
              <a:rPr lang="en-US" sz="1400" dirty="0">
                <a:solidFill>
                  <a:srgbClr val="00B4D8"/>
                </a:solidFill>
                <a:latin typeface="Calibri" pitchFamily="34" charset="0"/>
                <a:ea typeface="Calibri" pitchFamily="34" charset="-122"/>
                <a:cs typeface="Calibri" pitchFamily="34" charset="-120"/>
              </a:rPr>
              <a:t>API Gateway</a:t>
            </a:r>
            <a:endParaRPr lang="en-US" sz="1400" dirty="0"/>
          </a:p>
        </p:txBody>
      </p:sp>
      <p:sp>
        <p:nvSpPr>
          <p:cNvPr id="15" name="Shape 12"/>
          <p:cNvSpPr/>
          <p:nvPr/>
        </p:nvSpPr>
        <p:spPr>
          <a:xfrm>
            <a:off x="7931520" y="3350000"/>
            <a:ext cx="3400000" cy="380000"/>
          </a:xfrm>
          <a:prstGeom prst="rect">
            <a:avLst/>
          </a:prstGeom>
          <a:solidFill>
            <a:srgbClr val="1E3A6E"/>
          </a:solidFill>
          <a:ln w="12700">
            <a:solidFill>
              <a:srgbClr val="00B4D8"/>
            </a:solidFill>
            <a:prstDash val="solid"/>
          </a:ln>
        </p:spPr>
      </p:sp>
      <p:sp>
        <p:nvSpPr>
          <p:cNvPr id="16" name="Text 13"/>
          <p:cNvSpPr/>
          <p:nvPr/>
        </p:nvSpPr>
        <p:spPr>
          <a:xfrm>
            <a:off x="7931520" y="3350000"/>
            <a:ext cx="3400000" cy="380000"/>
          </a:xfrm>
          <a:prstGeom prst="rect">
            <a:avLst/>
          </a:prstGeom>
          <a:noFill/>
          <a:ln/>
        </p:spPr>
        <p:txBody>
          <a:bodyPr wrap="square" lIns="0" tIns="0" rIns="0" bIns="0" rtlCol="0" anchor="ctr"/>
          <a:lstStyle/>
          <a:p>
            <a:pPr algn="ctr" indent="0" marL="0">
              <a:buNone/>
            </a:pPr>
            <a:r>
              <a:rPr lang="en-US" sz="1400" dirty="0">
                <a:solidFill>
                  <a:srgbClr val="00B4D8"/>
                </a:solidFill>
                <a:latin typeface="Calibri" pitchFamily="34" charset="0"/>
                <a:ea typeface="Calibri" pitchFamily="34" charset="-122"/>
                <a:cs typeface="Calibri" pitchFamily="34" charset="-120"/>
              </a:rPr>
              <a:t>AWS Lambda</a:t>
            </a:r>
            <a:endParaRPr lang="en-US" sz="1400" dirty="0"/>
          </a:p>
        </p:txBody>
      </p:sp>
      <p:sp>
        <p:nvSpPr>
          <p:cNvPr id="17" name="Shape 14"/>
          <p:cNvSpPr/>
          <p:nvPr/>
        </p:nvSpPr>
        <p:spPr>
          <a:xfrm>
            <a:off x="2631520" y="3860000"/>
            <a:ext cx="3400000" cy="380000"/>
          </a:xfrm>
          <a:prstGeom prst="rect">
            <a:avLst/>
          </a:prstGeom>
          <a:solidFill>
            <a:srgbClr val="1E3A6E"/>
          </a:solidFill>
          <a:ln w="12700">
            <a:solidFill>
              <a:srgbClr val="00B4D8"/>
            </a:solidFill>
            <a:prstDash val="solid"/>
          </a:ln>
        </p:spPr>
      </p:sp>
      <p:sp>
        <p:nvSpPr>
          <p:cNvPr id="18" name="Text 15"/>
          <p:cNvSpPr/>
          <p:nvPr/>
        </p:nvSpPr>
        <p:spPr>
          <a:xfrm>
            <a:off x="2631520" y="3860000"/>
            <a:ext cx="3400000" cy="380000"/>
          </a:xfrm>
          <a:prstGeom prst="rect">
            <a:avLst/>
          </a:prstGeom>
          <a:noFill/>
          <a:ln/>
        </p:spPr>
        <p:txBody>
          <a:bodyPr wrap="square" lIns="0" tIns="0" rIns="0" bIns="0" rtlCol="0" anchor="ctr"/>
          <a:lstStyle/>
          <a:p>
            <a:pPr algn="ctr" indent="0" marL="0">
              <a:buNone/>
            </a:pPr>
            <a:r>
              <a:rPr lang="en-US" sz="1400" dirty="0">
                <a:solidFill>
                  <a:srgbClr val="00B4D8"/>
                </a:solidFill>
                <a:latin typeface="Calibri" pitchFamily="34" charset="0"/>
                <a:ea typeface="Calibri" pitchFamily="34" charset="-122"/>
                <a:cs typeface="Calibri" pitchFamily="34" charset="-120"/>
              </a:rPr>
              <a:t>Private S3</a:t>
            </a:r>
            <a:endParaRPr lang="en-US" sz="1400" dirty="0"/>
          </a:p>
        </p:txBody>
      </p:sp>
      <p:sp>
        <p:nvSpPr>
          <p:cNvPr id="19" name="Shape 16"/>
          <p:cNvSpPr/>
          <p:nvPr/>
        </p:nvSpPr>
        <p:spPr>
          <a:xfrm>
            <a:off x="6231520" y="3860000"/>
            <a:ext cx="3400000" cy="380000"/>
          </a:xfrm>
          <a:prstGeom prst="rect">
            <a:avLst/>
          </a:prstGeom>
          <a:solidFill>
            <a:srgbClr val="1E3A6E"/>
          </a:solidFill>
          <a:ln w="12700">
            <a:solidFill>
              <a:srgbClr val="00B4D8"/>
            </a:solidFill>
            <a:prstDash val="solid"/>
          </a:ln>
        </p:spPr>
      </p:sp>
      <p:sp>
        <p:nvSpPr>
          <p:cNvPr id="20" name="Text 17"/>
          <p:cNvSpPr/>
          <p:nvPr/>
        </p:nvSpPr>
        <p:spPr>
          <a:xfrm>
            <a:off x="6231520" y="3860000"/>
            <a:ext cx="3400000" cy="380000"/>
          </a:xfrm>
          <a:prstGeom prst="rect">
            <a:avLst/>
          </a:prstGeom>
          <a:noFill/>
          <a:ln/>
        </p:spPr>
        <p:txBody>
          <a:bodyPr wrap="square" lIns="0" tIns="0" rIns="0" bIns="0" rtlCol="0" anchor="ctr"/>
          <a:lstStyle/>
          <a:p>
            <a:pPr algn="ctr" indent="0" marL="0">
              <a:buNone/>
            </a:pPr>
            <a:r>
              <a:rPr lang="en-US" sz="1400" dirty="0">
                <a:solidFill>
                  <a:srgbClr val="00B4D8"/>
                </a:solidFill>
                <a:latin typeface="Calibri" pitchFamily="34" charset="0"/>
                <a:ea typeface="Calibri" pitchFamily="34" charset="-122"/>
                <a:cs typeface="Calibri" pitchFamily="34" charset="-120"/>
              </a:rPr>
              <a:t>Pre-Signed URLs</a:t>
            </a:r>
            <a:endParaRPr lang="en-US" sz="1400" dirty="0"/>
          </a:p>
        </p:txBody>
      </p:sp>
      <p:sp>
        <p:nvSpPr>
          <p:cNvPr id="21" name="Shape 18"/>
          <p:cNvSpPr/>
          <p:nvPr/>
        </p:nvSpPr>
        <p:spPr>
          <a:xfrm>
            <a:off x="731520" y="4500000"/>
            <a:ext cx="10925832" cy="1100000"/>
          </a:xfrm>
          <a:prstGeom prst="rect">
            <a:avLst/>
          </a:prstGeom>
          <a:solidFill>
            <a:srgbClr val="1A2E5A"/>
          </a:solidFill>
          <a:ln w="12700">
            <a:solidFill>
              <a:srgbClr val="253B6E"/>
            </a:solidFill>
            <a:prstDash val="solid"/>
          </a:ln>
        </p:spPr>
      </p:sp>
      <p:sp>
        <p:nvSpPr>
          <p:cNvPr id="22" name="Text 19"/>
          <p:cNvSpPr/>
          <p:nvPr/>
        </p:nvSpPr>
        <p:spPr>
          <a:xfrm>
            <a:off x="868680" y="4590000"/>
            <a:ext cx="10000000" cy="228600"/>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Prepared by</a:t>
            </a:r>
            <a:endParaRPr lang="en-US" sz="900" dirty="0"/>
          </a:p>
        </p:txBody>
      </p:sp>
      <p:sp>
        <p:nvSpPr>
          <p:cNvPr id="23" name="Text 20"/>
          <p:cNvSpPr/>
          <p:nvPr/>
        </p:nvSpPr>
        <p:spPr>
          <a:xfrm>
            <a:off x="868680" y="4790000"/>
            <a:ext cx="10000000" cy="3500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Adhithyan Sivaraman T</a:t>
            </a:r>
            <a:endParaRPr lang="en-US" sz="1700" dirty="0"/>
          </a:p>
        </p:txBody>
      </p:sp>
      <p:sp>
        <p:nvSpPr>
          <p:cNvPr id="24" name="Text 21"/>
          <p:cNvSpPr/>
          <p:nvPr/>
        </p:nvSpPr>
        <p:spPr>
          <a:xfrm>
            <a:off x="868680" y="5140000"/>
            <a:ext cx="10000000" cy="200000"/>
          </a:xfrm>
          <a:prstGeom prst="rect">
            <a:avLst/>
          </a:prstGeom>
          <a:noFill/>
          <a:ln/>
        </p:spPr>
        <p:txBody>
          <a:bodyPr wrap="square" lIns="0" tIns="0" rIns="0" bIns="0" rtlCol="0" anchor="ctr"/>
          <a:lstStyle/>
          <a:p>
            <a:pPr indent="0" marL="0">
              <a:buNone/>
            </a:pPr>
            <a:r>
              <a:rPr lang="en-US" sz="950" dirty="0">
                <a:solidFill>
                  <a:srgbClr val="00B4D8"/>
                </a:solidFill>
                <a:latin typeface="Calibri" pitchFamily="34" charset="0"/>
                <a:ea typeface="Calibri" pitchFamily="34" charset="-122"/>
                <a:cs typeface="Calibri" pitchFamily="34" charset="-120"/>
              </a:rPr>
              <a:t>GitHub: github.com/Adhithyan-10</a:t>
            </a:r>
            <a:endParaRPr lang="en-US" sz="950" dirty="0"/>
          </a:p>
        </p:txBody>
      </p:sp>
      <p:sp>
        <p:nvSpPr>
          <p:cNvPr id="25" name="Text 22"/>
          <p:cNvSpPr/>
          <p:nvPr/>
        </p:nvSpPr>
        <p:spPr>
          <a:xfrm>
            <a:off x="868680" y="5350000"/>
            <a:ext cx="10000000" cy="200000"/>
          </a:xfrm>
          <a:prstGeom prst="rect">
            <a:avLst/>
          </a:prstGeom>
          <a:noFill/>
          <a:ln/>
        </p:spPr>
        <p:txBody>
          <a:bodyPr wrap="square" lIns="0" tIns="0" rIns="0" bIns="0" rtlCol="0" anchor="ctr"/>
          <a:lstStyle/>
          <a:p>
            <a:pPr indent="0" marL="0">
              <a:buNone/>
            </a:pPr>
            <a:r>
              <a:rPr lang="en-US" sz="950" dirty="0">
                <a:solidFill>
                  <a:srgbClr val="00B4D8"/>
                </a:solidFill>
                <a:latin typeface="Calibri" pitchFamily="34" charset="0"/>
                <a:ea typeface="Calibri" pitchFamily="34" charset="-122"/>
                <a:cs typeface="Calibri" pitchFamily="34" charset="-120"/>
              </a:rPr>
              <a:t>LinkedIn: linkedin.com/in/adhithyan-sivaraman-t-399b5b362</a:t>
            </a:r>
            <a:endParaRPr lang="en-US" sz="950" dirty="0"/>
          </a:p>
        </p:txBody>
      </p:sp>
      <p:sp>
        <p:nvSpPr>
          <p:cNvPr id="26" name="Shape 23"/>
          <p:cNvSpPr/>
          <p:nvPr/>
        </p:nvSpPr>
        <p:spPr>
          <a:xfrm>
            <a:off x="0" y="6675120"/>
            <a:ext cx="12188952" cy="182880"/>
          </a:xfrm>
          <a:prstGeom prst="rect">
            <a:avLst/>
          </a:prstGeom>
          <a:solidFill>
            <a:srgbClr val="1A2E5A"/>
          </a:solidFill>
          <a:ln w="12700">
            <a:solidFill>
              <a:srgbClr val="1A2E5A"/>
            </a:solidFill>
            <a:prstDash val="solid"/>
          </a:ln>
        </p:spPr>
      </p:sp>
      <p:sp>
        <p:nvSpPr>
          <p:cNvPr id="27" name="Text 24"/>
          <p:cNvSpPr/>
          <p:nvPr/>
        </p:nvSpPr>
        <p:spPr>
          <a:xfrm>
            <a:off x="0" y="6675120"/>
            <a:ext cx="12188952" cy="182880"/>
          </a:xfrm>
          <a:prstGeom prst="rect">
            <a:avLst/>
          </a:prstGeom>
          <a:noFill/>
          <a:ln/>
        </p:spPr>
        <p:txBody>
          <a:bodyPr wrap="square" lIns="0" tIns="0" rIns="0" bIns="0" rtlCol="0" anchor="ctr"/>
          <a:lstStyle/>
          <a:p>
            <a:pPr algn="ctr" indent="0" marL="0">
              <a:buNone/>
            </a:pPr>
            <a:r>
              <a:rPr lang="en-US" sz="800" dirty="0">
                <a:solidFill>
                  <a:srgbClr val="7A90B8"/>
                </a:solidFill>
                <a:latin typeface="Calibri" pitchFamily="34" charset="0"/>
                <a:ea typeface="Calibri" pitchFamily="34" charset="-122"/>
                <a:cs typeface="Calibri" pitchFamily="34" charset="-120"/>
              </a:rPr>
              <a:t>Cloud Engineering Portfolio  •  AWS Serverless Architecture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457200" y="457200"/>
            <a:ext cx="73152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TABLE OF CONTENTS</a:t>
            </a:r>
            <a:endParaRPr lang="en-US" sz="2800" dirty="0"/>
          </a:p>
        </p:txBody>
      </p:sp>
      <p:sp>
        <p:nvSpPr>
          <p:cNvPr id="7" name="Shape 5"/>
          <p:cNvSpPr/>
          <p:nvPr/>
        </p:nvSpPr>
        <p:spPr>
          <a:xfrm>
            <a:off x="457200" y="960120"/>
            <a:ext cx="1463040" cy="45720"/>
          </a:xfrm>
          <a:prstGeom prst="rect">
            <a:avLst/>
          </a:prstGeom>
          <a:solidFill>
            <a:srgbClr val="FF9900"/>
          </a:solidFill>
          <a:ln w="12700">
            <a:solidFill>
              <a:srgbClr val="FF9900"/>
            </a:solidFill>
            <a:prstDash val="solid"/>
          </a:ln>
        </p:spPr>
      </p:sp>
      <p:sp>
        <p:nvSpPr>
          <p:cNvPr id="8" name="Shape 6"/>
          <p:cNvSpPr/>
          <p:nvPr/>
        </p:nvSpPr>
        <p:spPr>
          <a:xfrm>
            <a:off x="365760" y="1097280"/>
            <a:ext cx="384048" cy="347472"/>
          </a:xfrm>
          <a:prstGeom prst="rect">
            <a:avLst/>
          </a:prstGeom>
          <a:solidFill>
            <a:srgbClr val="FF9900"/>
          </a:solidFill>
          <a:ln w="12700">
            <a:solidFill>
              <a:srgbClr val="1A2E5A"/>
            </a:solidFill>
            <a:prstDash val="solid"/>
          </a:ln>
        </p:spPr>
      </p:sp>
      <p:sp>
        <p:nvSpPr>
          <p:cNvPr id="9" name="Text 7"/>
          <p:cNvSpPr/>
          <p:nvPr/>
        </p:nvSpPr>
        <p:spPr>
          <a:xfrm>
            <a:off x="365760" y="1097280"/>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01</a:t>
            </a:r>
            <a:endParaRPr lang="en-US" sz="1200" dirty="0"/>
          </a:p>
        </p:txBody>
      </p:sp>
      <p:sp>
        <p:nvSpPr>
          <p:cNvPr id="10" name="Text 8"/>
          <p:cNvSpPr/>
          <p:nvPr/>
        </p:nvSpPr>
        <p:spPr>
          <a:xfrm>
            <a:off x="822960" y="1106424"/>
            <a:ext cx="475488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Project Overview</a:t>
            </a:r>
            <a:endParaRPr lang="en-US" sz="1200" dirty="0"/>
          </a:p>
        </p:txBody>
      </p:sp>
      <p:sp>
        <p:nvSpPr>
          <p:cNvPr id="11" name="Text 9"/>
          <p:cNvSpPr/>
          <p:nvPr/>
        </p:nvSpPr>
        <p:spPr>
          <a:xfrm>
            <a:off x="822960" y="1280160"/>
            <a:ext cx="475488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Problem statement &amp; solution architecture</a:t>
            </a:r>
            <a:endParaRPr lang="en-US" sz="900" dirty="0"/>
          </a:p>
        </p:txBody>
      </p:sp>
      <p:sp>
        <p:nvSpPr>
          <p:cNvPr id="12" name="Shape 10"/>
          <p:cNvSpPr/>
          <p:nvPr/>
        </p:nvSpPr>
        <p:spPr>
          <a:xfrm>
            <a:off x="365760" y="1636776"/>
            <a:ext cx="384048" cy="347472"/>
          </a:xfrm>
          <a:prstGeom prst="rect">
            <a:avLst/>
          </a:prstGeom>
          <a:solidFill>
            <a:srgbClr val="00B4D8"/>
          </a:solidFill>
          <a:ln w="12700">
            <a:solidFill>
              <a:srgbClr val="1A2E5A"/>
            </a:solidFill>
            <a:prstDash val="solid"/>
          </a:ln>
        </p:spPr>
      </p:sp>
      <p:sp>
        <p:nvSpPr>
          <p:cNvPr id="13" name="Text 11"/>
          <p:cNvSpPr/>
          <p:nvPr/>
        </p:nvSpPr>
        <p:spPr>
          <a:xfrm>
            <a:off x="365760" y="1636776"/>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822960" y="1645920"/>
            <a:ext cx="475488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Real World Scenario</a:t>
            </a:r>
            <a:endParaRPr lang="en-US" sz="1200" dirty="0"/>
          </a:p>
        </p:txBody>
      </p:sp>
      <p:sp>
        <p:nvSpPr>
          <p:cNvPr id="15" name="Text 13"/>
          <p:cNvSpPr/>
          <p:nvPr/>
        </p:nvSpPr>
        <p:spPr>
          <a:xfrm>
            <a:off x="822960" y="1819656"/>
            <a:ext cx="475488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Netflix-style secure content delivery use case</a:t>
            </a:r>
            <a:endParaRPr lang="en-US" sz="900" dirty="0"/>
          </a:p>
        </p:txBody>
      </p:sp>
      <p:sp>
        <p:nvSpPr>
          <p:cNvPr id="16" name="Shape 14"/>
          <p:cNvSpPr/>
          <p:nvPr/>
        </p:nvSpPr>
        <p:spPr>
          <a:xfrm>
            <a:off x="365760" y="2176272"/>
            <a:ext cx="384048" cy="347472"/>
          </a:xfrm>
          <a:prstGeom prst="rect">
            <a:avLst/>
          </a:prstGeom>
          <a:solidFill>
            <a:srgbClr val="FF9900"/>
          </a:solidFill>
          <a:ln w="12700">
            <a:solidFill>
              <a:srgbClr val="1A2E5A"/>
            </a:solidFill>
            <a:prstDash val="solid"/>
          </a:ln>
        </p:spPr>
      </p:sp>
      <p:sp>
        <p:nvSpPr>
          <p:cNvPr id="17" name="Text 15"/>
          <p:cNvSpPr/>
          <p:nvPr/>
        </p:nvSpPr>
        <p:spPr>
          <a:xfrm>
            <a:off x="365760" y="2176272"/>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822960" y="2185416"/>
            <a:ext cx="475488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Architecture Overview</a:t>
            </a:r>
            <a:endParaRPr lang="en-US" sz="1200" dirty="0"/>
          </a:p>
        </p:txBody>
      </p:sp>
      <p:sp>
        <p:nvSpPr>
          <p:cNvPr id="19" name="Text 17"/>
          <p:cNvSpPr/>
          <p:nvPr/>
        </p:nvSpPr>
        <p:spPr>
          <a:xfrm>
            <a:off x="822960" y="2359152"/>
            <a:ext cx="475488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End-to-end system design walkthrough</a:t>
            </a:r>
            <a:endParaRPr lang="en-US" sz="900" dirty="0"/>
          </a:p>
        </p:txBody>
      </p:sp>
      <p:sp>
        <p:nvSpPr>
          <p:cNvPr id="20" name="Shape 18"/>
          <p:cNvSpPr/>
          <p:nvPr/>
        </p:nvSpPr>
        <p:spPr>
          <a:xfrm>
            <a:off x="365760" y="2715768"/>
            <a:ext cx="384048" cy="347472"/>
          </a:xfrm>
          <a:prstGeom prst="rect">
            <a:avLst/>
          </a:prstGeom>
          <a:solidFill>
            <a:srgbClr val="00B4D8"/>
          </a:solidFill>
          <a:ln w="12700">
            <a:solidFill>
              <a:srgbClr val="1A2E5A"/>
            </a:solidFill>
            <a:prstDash val="solid"/>
          </a:ln>
        </p:spPr>
      </p:sp>
      <p:sp>
        <p:nvSpPr>
          <p:cNvPr id="21" name="Text 19"/>
          <p:cNvSpPr/>
          <p:nvPr/>
        </p:nvSpPr>
        <p:spPr>
          <a:xfrm>
            <a:off x="365760" y="2715768"/>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04</a:t>
            </a:r>
            <a:endParaRPr lang="en-US" sz="1200" dirty="0"/>
          </a:p>
        </p:txBody>
      </p:sp>
      <p:sp>
        <p:nvSpPr>
          <p:cNvPr id="22" name="Text 20"/>
          <p:cNvSpPr/>
          <p:nvPr/>
        </p:nvSpPr>
        <p:spPr>
          <a:xfrm>
            <a:off x="822960" y="2724912"/>
            <a:ext cx="475488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AWS Services Used</a:t>
            </a:r>
            <a:endParaRPr lang="en-US" sz="1200" dirty="0"/>
          </a:p>
        </p:txBody>
      </p:sp>
      <p:sp>
        <p:nvSpPr>
          <p:cNvPr id="23" name="Text 21"/>
          <p:cNvSpPr/>
          <p:nvPr/>
        </p:nvSpPr>
        <p:spPr>
          <a:xfrm>
            <a:off x="822960" y="2898648"/>
            <a:ext cx="475488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Services, purpose, and design rationale</a:t>
            </a:r>
            <a:endParaRPr lang="en-US" sz="900" dirty="0"/>
          </a:p>
        </p:txBody>
      </p:sp>
      <p:sp>
        <p:nvSpPr>
          <p:cNvPr id="24" name="Shape 22"/>
          <p:cNvSpPr/>
          <p:nvPr/>
        </p:nvSpPr>
        <p:spPr>
          <a:xfrm>
            <a:off x="365760" y="3255264"/>
            <a:ext cx="384048" cy="347472"/>
          </a:xfrm>
          <a:prstGeom prst="rect">
            <a:avLst/>
          </a:prstGeom>
          <a:solidFill>
            <a:srgbClr val="FF9900"/>
          </a:solidFill>
          <a:ln w="12700">
            <a:solidFill>
              <a:srgbClr val="1A2E5A"/>
            </a:solidFill>
            <a:prstDash val="solid"/>
          </a:ln>
        </p:spPr>
      </p:sp>
      <p:sp>
        <p:nvSpPr>
          <p:cNvPr id="25" name="Text 23"/>
          <p:cNvSpPr/>
          <p:nvPr/>
        </p:nvSpPr>
        <p:spPr>
          <a:xfrm>
            <a:off x="365760" y="3255264"/>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05</a:t>
            </a:r>
            <a:endParaRPr lang="en-US" sz="1200" dirty="0"/>
          </a:p>
        </p:txBody>
      </p:sp>
      <p:sp>
        <p:nvSpPr>
          <p:cNvPr id="26" name="Text 24"/>
          <p:cNvSpPr/>
          <p:nvPr/>
        </p:nvSpPr>
        <p:spPr>
          <a:xfrm>
            <a:off x="822960" y="3264408"/>
            <a:ext cx="475488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Authentication Flow</a:t>
            </a:r>
            <a:endParaRPr lang="en-US" sz="1200" dirty="0"/>
          </a:p>
        </p:txBody>
      </p:sp>
      <p:sp>
        <p:nvSpPr>
          <p:cNvPr id="27" name="Text 25"/>
          <p:cNvSpPr/>
          <p:nvPr/>
        </p:nvSpPr>
        <p:spPr>
          <a:xfrm>
            <a:off x="822960" y="3438144"/>
            <a:ext cx="475488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Cognito Hosted UI &amp; OAuth Authorization Code</a:t>
            </a:r>
            <a:endParaRPr lang="en-US" sz="900" dirty="0"/>
          </a:p>
        </p:txBody>
      </p:sp>
      <p:sp>
        <p:nvSpPr>
          <p:cNvPr id="28" name="Shape 26"/>
          <p:cNvSpPr/>
          <p:nvPr/>
        </p:nvSpPr>
        <p:spPr>
          <a:xfrm>
            <a:off x="365760" y="3794760"/>
            <a:ext cx="384048" cy="347472"/>
          </a:xfrm>
          <a:prstGeom prst="rect">
            <a:avLst/>
          </a:prstGeom>
          <a:solidFill>
            <a:srgbClr val="00B4D8"/>
          </a:solidFill>
          <a:ln w="12700">
            <a:solidFill>
              <a:srgbClr val="1A2E5A"/>
            </a:solidFill>
            <a:prstDash val="solid"/>
          </a:ln>
        </p:spPr>
      </p:sp>
      <p:sp>
        <p:nvSpPr>
          <p:cNvPr id="29" name="Text 27"/>
          <p:cNvSpPr/>
          <p:nvPr/>
        </p:nvSpPr>
        <p:spPr>
          <a:xfrm>
            <a:off x="365760" y="3794760"/>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06</a:t>
            </a:r>
            <a:endParaRPr lang="en-US" sz="1200" dirty="0"/>
          </a:p>
        </p:txBody>
      </p:sp>
      <p:sp>
        <p:nvSpPr>
          <p:cNvPr id="30" name="Text 28"/>
          <p:cNvSpPr/>
          <p:nvPr/>
        </p:nvSpPr>
        <p:spPr>
          <a:xfrm>
            <a:off x="822960" y="3803904"/>
            <a:ext cx="475488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Token Exchange &amp; JWT</a:t>
            </a:r>
            <a:endParaRPr lang="en-US" sz="1200" dirty="0"/>
          </a:p>
        </p:txBody>
      </p:sp>
      <p:sp>
        <p:nvSpPr>
          <p:cNvPr id="31" name="Text 29"/>
          <p:cNvSpPr/>
          <p:nvPr/>
        </p:nvSpPr>
        <p:spPr>
          <a:xfrm>
            <a:off x="822960" y="3977640"/>
            <a:ext cx="475488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Backend token exchange and JWT validation</a:t>
            </a:r>
            <a:endParaRPr lang="en-US" sz="900" dirty="0"/>
          </a:p>
        </p:txBody>
      </p:sp>
      <p:sp>
        <p:nvSpPr>
          <p:cNvPr id="32" name="Shape 30"/>
          <p:cNvSpPr/>
          <p:nvPr/>
        </p:nvSpPr>
        <p:spPr>
          <a:xfrm>
            <a:off x="365760" y="4334256"/>
            <a:ext cx="384048" cy="347472"/>
          </a:xfrm>
          <a:prstGeom prst="rect">
            <a:avLst/>
          </a:prstGeom>
          <a:solidFill>
            <a:srgbClr val="FF9900"/>
          </a:solidFill>
          <a:ln w="12700">
            <a:solidFill>
              <a:srgbClr val="1A2E5A"/>
            </a:solidFill>
            <a:prstDash val="solid"/>
          </a:ln>
        </p:spPr>
      </p:sp>
      <p:sp>
        <p:nvSpPr>
          <p:cNvPr id="33" name="Text 31"/>
          <p:cNvSpPr/>
          <p:nvPr/>
        </p:nvSpPr>
        <p:spPr>
          <a:xfrm>
            <a:off x="365760" y="4334256"/>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07</a:t>
            </a:r>
            <a:endParaRPr lang="en-US" sz="1200" dirty="0"/>
          </a:p>
        </p:txBody>
      </p:sp>
      <p:sp>
        <p:nvSpPr>
          <p:cNvPr id="34" name="Text 32"/>
          <p:cNvSpPr/>
          <p:nvPr/>
        </p:nvSpPr>
        <p:spPr>
          <a:xfrm>
            <a:off x="822960" y="4343400"/>
            <a:ext cx="475488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Secure API Protection</a:t>
            </a:r>
            <a:endParaRPr lang="en-US" sz="1200" dirty="0"/>
          </a:p>
        </p:txBody>
      </p:sp>
      <p:sp>
        <p:nvSpPr>
          <p:cNvPr id="35" name="Text 33"/>
          <p:cNvSpPr/>
          <p:nvPr/>
        </p:nvSpPr>
        <p:spPr>
          <a:xfrm>
            <a:off x="822960" y="4517136"/>
            <a:ext cx="475488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API Gateway + JWT Authorizer in action</a:t>
            </a:r>
            <a:endParaRPr lang="en-US" sz="900" dirty="0"/>
          </a:p>
        </p:txBody>
      </p:sp>
      <p:sp>
        <p:nvSpPr>
          <p:cNvPr id="36" name="Shape 34"/>
          <p:cNvSpPr/>
          <p:nvPr/>
        </p:nvSpPr>
        <p:spPr>
          <a:xfrm>
            <a:off x="6309360" y="1097280"/>
            <a:ext cx="384048" cy="347472"/>
          </a:xfrm>
          <a:prstGeom prst="rect">
            <a:avLst/>
          </a:prstGeom>
          <a:solidFill>
            <a:srgbClr val="FF9900"/>
          </a:solidFill>
          <a:ln w="12700">
            <a:solidFill>
              <a:srgbClr val="1A2E5A"/>
            </a:solidFill>
            <a:prstDash val="solid"/>
          </a:ln>
        </p:spPr>
      </p:sp>
      <p:sp>
        <p:nvSpPr>
          <p:cNvPr id="37" name="Text 35"/>
          <p:cNvSpPr/>
          <p:nvPr/>
        </p:nvSpPr>
        <p:spPr>
          <a:xfrm>
            <a:off x="6309360" y="1097280"/>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08</a:t>
            </a:r>
            <a:endParaRPr lang="en-US" sz="1200" dirty="0"/>
          </a:p>
        </p:txBody>
      </p:sp>
      <p:sp>
        <p:nvSpPr>
          <p:cNvPr id="38" name="Text 36"/>
          <p:cNvSpPr/>
          <p:nvPr/>
        </p:nvSpPr>
        <p:spPr>
          <a:xfrm>
            <a:off x="6766560" y="1106424"/>
            <a:ext cx="493776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Secure S3 Access</a:t>
            </a:r>
            <a:endParaRPr lang="en-US" sz="1200" dirty="0"/>
          </a:p>
        </p:txBody>
      </p:sp>
      <p:sp>
        <p:nvSpPr>
          <p:cNvPr id="39" name="Text 37"/>
          <p:cNvSpPr/>
          <p:nvPr/>
        </p:nvSpPr>
        <p:spPr>
          <a:xfrm>
            <a:off x="6766560" y="1280160"/>
            <a:ext cx="493776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Private bucket, access denial &amp; pre-signed URLs</a:t>
            </a:r>
            <a:endParaRPr lang="en-US" sz="900" dirty="0"/>
          </a:p>
        </p:txBody>
      </p:sp>
      <p:sp>
        <p:nvSpPr>
          <p:cNvPr id="40" name="Shape 38"/>
          <p:cNvSpPr/>
          <p:nvPr/>
        </p:nvSpPr>
        <p:spPr>
          <a:xfrm>
            <a:off x="6309360" y="1636776"/>
            <a:ext cx="384048" cy="347472"/>
          </a:xfrm>
          <a:prstGeom prst="rect">
            <a:avLst/>
          </a:prstGeom>
          <a:solidFill>
            <a:srgbClr val="00B4D8"/>
          </a:solidFill>
          <a:ln w="12700">
            <a:solidFill>
              <a:srgbClr val="1A2E5A"/>
            </a:solidFill>
            <a:prstDash val="solid"/>
          </a:ln>
        </p:spPr>
      </p:sp>
      <p:sp>
        <p:nvSpPr>
          <p:cNvPr id="41" name="Text 39"/>
          <p:cNvSpPr/>
          <p:nvPr/>
        </p:nvSpPr>
        <p:spPr>
          <a:xfrm>
            <a:off x="6309360" y="1636776"/>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09</a:t>
            </a:r>
            <a:endParaRPr lang="en-US" sz="1200" dirty="0"/>
          </a:p>
        </p:txBody>
      </p:sp>
      <p:sp>
        <p:nvSpPr>
          <p:cNvPr id="42" name="Text 40"/>
          <p:cNvSpPr/>
          <p:nvPr/>
        </p:nvSpPr>
        <p:spPr>
          <a:xfrm>
            <a:off x="6766560" y="1645920"/>
            <a:ext cx="493776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IAM Security</a:t>
            </a:r>
            <a:endParaRPr lang="en-US" sz="1200" dirty="0"/>
          </a:p>
        </p:txBody>
      </p:sp>
      <p:sp>
        <p:nvSpPr>
          <p:cNvPr id="43" name="Text 41"/>
          <p:cNvSpPr/>
          <p:nvPr/>
        </p:nvSpPr>
        <p:spPr>
          <a:xfrm>
            <a:off x="6766560" y="1819656"/>
            <a:ext cx="493776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Least privilege IAM policy configuration</a:t>
            </a:r>
            <a:endParaRPr lang="en-US" sz="900" dirty="0"/>
          </a:p>
        </p:txBody>
      </p:sp>
      <p:sp>
        <p:nvSpPr>
          <p:cNvPr id="44" name="Shape 42"/>
          <p:cNvSpPr/>
          <p:nvPr/>
        </p:nvSpPr>
        <p:spPr>
          <a:xfrm>
            <a:off x="6309360" y="2176272"/>
            <a:ext cx="384048" cy="347472"/>
          </a:xfrm>
          <a:prstGeom prst="rect">
            <a:avLst/>
          </a:prstGeom>
          <a:solidFill>
            <a:srgbClr val="FF9900"/>
          </a:solidFill>
          <a:ln w="12700">
            <a:solidFill>
              <a:srgbClr val="1A2E5A"/>
            </a:solidFill>
            <a:prstDash val="solid"/>
          </a:ln>
        </p:spPr>
      </p:sp>
      <p:sp>
        <p:nvSpPr>
          <p:cNvPr id="45" name="Text 43"/>
          <p:cNvSpPr/>
          <p:nvPr/>
        </p:nvSpPr>
        <p:spPr>
          <a:xfrm>
            <a:off x="6309360" y="2176272"/>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10</a:t>
            </a:r>
            <a:endParaRPr lang="en-US" sz="1200" dirty="0"/>
          </a:p>
        </p:txBody>
      </p:sp>
      <p:sp>
        <p:nvSpPr>
          <p:cNvPr id="46" name="Text 44"/>
          <p:cNvSpPr/>
          <p:nvPr/>
        </p:nvSpPr>
        <p:spPr>
          <a:xfrm>
            <a:off x="6766560" y="2185416"/>
            <a:ext cx="493776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Challenges &amp; Solutions</a:t>
            </a:r>
            <a:endParaRPr lang="en-US" sz="1200" dirty="0"/>
          </a:p>
        </p:txBody>
      </p:sp>
      <p:sp>
        <p:nvSpPr>
          <p:cNvPr id="47" name="Text 45"/>
          <p:cNvSpPr/>
          <p:nvPr/>
        </p:nvSpPr>
        <p:spPr>
          <a:xfrm>
            <a:off x="6766560" y="2359152"/>
            <a:ext cx="493776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CORS, JWT issues &amp; configuration fixes</a:t>
            </a:r>
            <a:endParaRPr lang="en-US" sz="900" dirty="0"/>
          </a:p>
        </p:txBody>
      </p:sp>
      <p:sp>
        <p:nvSpPr>
          <p:cNvPr id="48" name="Shape 46"/>
          <p:cNvSpPr/>
          <p:nvPr/>
        </p:nvSpPr>
        <p:spPr>
          <a:xfrm>
            <a:off x="6309360" y="2715768"/>
            <a:ext cx="384048" cy="347472"/>
          </a:xfrm>
          <a:prstGeom prst="rect">
            <a:avLst/>
          </a:prstGeom>
          <a:solidFill>
            <a:srgbClr val="00B4D8"/>
          </a:solidFill>
          <a:ln w="12700">
            <a:solidFill>
              <a:srgbClr val="1A2E5A"/>
            </a:solidFill>
            <a:prstDash val="solid"/>
          </a:ln>
        </p:spPr>
      </p:sp>
      <p:sp>
        <p:nvSpPr>
          <p:cNvPr id="49" name="Text 47"/>
          <p:cNvSpPr/>
          <p:nvPr/>
        </p:nvSpPr>
        <p:spPr>
          <a:xfrm>
            <a:off x="6309360" y="2715768"/>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11</a:t>
            </a:r>
            <a:endParaRPr lang="en-US" sz="1200" dirty="0"/>
          </a:p>
        </p:txBody>
      </p:sp>
      <p:sp>
        <p:nvSpPr>
          <p:cNvPr id="50" name="Text 48"/>
          <p:cNvSpPr/>
          <p:nvPr/>
        </p:nvSpPr>
        <p:spPr>
          <a:xfrm>
            <a:off x="6766560" y="2724912"/>
            <a:ext cx="493776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Security Principles</a:t>
            </a:r>
            <a:endParaRPr lang="en-US" sz="1200" dirty="0"/>
          </a:p>
        </p:txBody>
      </p:sp>
      <p:sp>
        <p:nvSpPr>
          <p:cNvPr id="51" name="Text 49"/>
          <p:cNvSpPr/>
          <p:nvPr/>
        </p:nvSpPr>
        <p:spPr>
          <a:xfrm>
            <a:off x="6766560" y="2898648"/>
            <a:ext cx="493776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Key lessons in cloud security design</a:t>
            </a:r>
            <a:endParaRPr lang="en-US" sz="900" dirty="0"/>
          </a:p>
        </p:txBody>
      </p:sp>
      <p:sp>
        <p:nvSpPr>
          <p:cNvPr id="52" name="Shape 50"/>
          <p:cNvSpPr/>
          <p:nvPr/>
        </p:nvSpPr>
        <p:spPr>
          <a:xfrm>
            <a:off x="6309360" y="3255264"/>
            <a:ext cx="384048" cy="347472"/>
          </a:xfrm>
          <a:prstGeom prst="rect">
            <a:avLst/>
          </a:prstGeom>
          <a:solidFill>
            <a:srgbClr val="FF9900"/>
          </a:solidFill>
          <a:ln w="12700">
            <a:solidFill>
              <a:srgbClr val="1A2E5A"/>
            </a:solidFill>
            <a:prstDash val="solid"/>
          </a:ln>
        </p:spPr>
      </p:sp>
      <p:sp>
        <p:nvSpPr>
          <p:cNvPr id="53" name="Text 51"/>
          <p:cNvSpPr/>
          <p:nvPr/>
        </p:nvSpPr>
        <p:spPr>
          <a:xfrm>
            <a:off x="6309360" y="3255264"/>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12</a:t>
            </a:r>
            <a:endParaRPr lang="en-US" sz="1200" dirty="0"/>
          </a:p>
        </p:txBody>
      </p:sp>
      <p:sp>
        <p:nvSpPr>
          <p:cNvPr id="54" name="Text 52"/>
          <p:cNvSpPr/>
          <p:nvPr/>
        </p:nvSpPr>
        <p:spPr>
          <a:xfrm>
            <a:off x="6766560" y="3264408"/>
            <a:ext cx="493776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Future Enhancements</a:t>
            </a:r>
            <a:endParaRPr lang="en-US" sz="1200" dirty="0"/>
          </a:p>
        </p:txBody>
      </p:sp>
      <p:sp>
        <p:nvSpPr>
          <p:cNvPr id="55" name="Text 53"/>
          <p:cNvSpPr/>
          <p:nvPr/>
        </p:nvSpPr>
        <p:spPr>
          <a:xfrm>
            <a:off x="6766560" y="3438144"/>
            <a:ext cx="493776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WAF, Secrets Manager &amp; CloudWatch monitoring</a:t>
            </a:r>
            <a:endParaRPr lang="en-US" sz="900" dirty="0"/>
          </a:p>
        </p:txBody>
      </p:sp>
      <p:sp>
        <p:nvSpPr>
          <p:cNvPr id="56" name="Shape 54"/>
          <p:cNvSpPr/>
          <p:nvPr/>
        </p:nvSpPr>
        <p:spPr>
          <a:xfrm>
            <a:off x="6309360" y="3794760"/>
            <a:ext cx="384048" cy="347472"/>
          </a:xfrm>
          <a:prstGeom prst="rect">
            <a:avLst/>
          </a:prstGeom>
          <a:solidFill>
            <a:srgbClr val="00B4D8"/>
          </a:solidFill>
          <a:ln w="12700">
            <a:solidFill>
              <a:srgbClr val="1A2E5A"/>
            </a:solidFill>
            <a:prstDash val="solid"/>
          </a:ln>
        </p:spPr>
      </p:sp>
      <p:sp>
        <p:nvSpPr>
          <p:cNvPr id="57" name="Text 55"/>
          <p:cNvSpPr/>
          <p:nvPr/>
        </p:nvSpPr>
        <p:spPr>
          <a:xfrm>
            <a:off x="6309360" y="3794760"/>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13</a:t>
            </a:r>
            <a:endParaRPr lang="en-US" sz="1200" dirty="0"/>
          </a:p>
        </p:txBody>
      </p:sp>
      <p:sp>
        <p:nvSpPr>
          <p:cNvPr id="58" name="Text 56"/>
          <p:cNvSpPr/>
          <p:nvPr/>
        </p:nvSpPr>
        <p:spPr>
          <a:xfrm>
            <a:off x="6766560" y="3803904"/>
            <a:ext cx="493776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Interview Q&amp;A</a:t>
            </a:r>
            <a:endParaRPr lang="en-US" sz="1200" dirty="0"/>
          </a:p>
        </p:txBody>
      </p:sp>
      <p:sp>
        <p:nvSpPr>
          <p:cNvPr id="59" name="Text 57"/>
          <p:cNvSpPr/>
          <p:nvPr/>
        </p:nvSpPr>
        <p:spPr>
          <a:xfrm>
            <a:off x="6766560" y="3977640"/>
            <a:ext cx="493776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10 key questions with detailed answers</a:t>
            </a:r>
            <a:endParaRPr lang="en-US" sz="900" dirty="0"/>
          </a:p>
        </p:txBody>
      </p:sp>
      <p:sp>
        <p:nvSpPr>
          <p:cNvPr id="60" name="Shape 58"/>
          <p:cNvSpPr/>
          <p:nvPr/>
        </p:nvSpPr>
        <p:spPr>
          <a:xfrm>
            <a:off x="6309360" y="4334256"/>
            <a:ext cx="384048" cy="347472"/>
          </a:xfrm>
          <a:prstGeom prst="rect">
            <a:avLst/>
          </a:prstGeom>
          <a:solidFill>
            <a:srgbClr val="FF9900"/>
          </a:solidFill>
          <a:ln w="12700">
            <a:solidFill>
              <a:srgbClr val="1A2E5A"/>
            </a:solidFill>
            <a:prstDash val="solid"/>
          </a:ln>
        </p:spPr>
      </p:sp>
      <p:sp>
        <p:nvSpPr>
          <p:cNvPr id="61" name="Text 59"/>
          <p:cNvSpPr/>
          <p:nvPr/>
        </p:nvSpPr>
        <p:spPr>
          <a:xfrm>
            <a:off x="6309360" y="4334256"/>
            <a:ext cx="384048" cy="347472"/>
          </a:xfrm>
          <a:prstGeom prst="rect">
            <a:avLst/>
          </a:prstGeom>
          <a:noFill/>
          <a:ln/>
        </p:spPr>
        <p:txBody>
          <a:bodyPr wrap="square" lIns="0" tIns="0" rIns="0" bIns="0" rtlCol="0" anchor="ctr"/>
          <a:lstStyle/>
          <a:p>
            <a:pPr algn="ctr" indent="0" marL="0">
              <a:buNone/>
            </a:pPr>
            <a:r>
              <a:rPr lang="en-US" sz="1200" b="1" dirty="0">
                <a:solidFill>
                  <a:srgbClr val="0F1B35"/>
                </a:solidFill>
                <a:latin typeface="Calibri" pitchFamily="34" charset="0"/>
                <a:ea typeface="Calibri" pitchFamily="34" charset="-122"/>
                <a:cs typeface="Calibri" pitchFamily="34" charset="-120"/>
              </a:rPr>
              <a:t>14</a:t>
            </a:r>
            <a:endParaRPr lang="en-US" sz="1200" dirty="0"/>
          </a:p>
        </p:txBody>
      </p:sp>
      <p:sp>
        <p:nvSpPr>
          <p:cNvPr id="62" name="Text 60"/>
          <p:cNvSpPr/>
          <p:nvPr/>
        </p:nvSpPr>
        <p:spPr>
          <a:xfrm>
            <a:off x="6766560" y="4343400"/>
            <a:ext cx="493776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Conclusion</a:t>
            </a:r>
            <a:endParaRPr lang="en-US" sz="1200" dirty="0"/>
          </a:p>
        </p:txBody>
      </p:sp>
      <p:sp>
        <p:nvSpPr>
          <p:cNvPr id="63" name="Text 61"/>
          <p:cNvSpPr/>
          <p:nvPr/>
        </p:nvSpPr>
        <p:spPr>
          <a:xfrm>
            <a:off x="6766560" y="4517136"/>
            <a:ext cx="4937760" cy="164592"/>
          </a:xfrm>
          <a:prstGeom prst="rect">
            <a:avLst/>
          </a:prstGeom>
          <a:noFill/>
          <a:ln/>
        </p:spPr>
        <p:txBody>
          <a:bodyPr wrap="square" lIns="0" tIns="0" rIns="0" bIns="0" rtlCol="0" anchor="ctr"/>
          <a:lstStyle/>
          <a:p>
            <a:pPr indent="0" marL="0">
              <a:buNone/>
            </a:pPr>
            <a:r>
              <a:rPr lang="en-US" sz="900" dirty="0">
                <a:solidFill>
                  <a:srgbClr val="7A90B8"/>
                </a:solidFill>
                <a:latin typeface="Calibri" pitchFamily="34" charset="0"/>
                <a:ea typeface="Calibri" pitchFamily="34" charset="-122"/>
                <a:cs typeface="Calibri" pitchFamily="34" charset="-120"/>
              </a:rPr>
              <a:t>Summary &amp; portfolio statement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01 · PROJECT OVERVIEW</a:t>
            </a:r>
            <a:endParaRPr lang="en-US" sz="800" dirty="0"/>
          </a:p>
        </p:txBody>
      </p:sp>
      <p:sp>
        <p:nvSpPr>
          <p:cNvPr id="7" name="Text 5"/>
          <p:cNvSpPr/>
          <p:nvPr/>
        </p:nvSpPr>
        <p:spPr>
          <a:xfrm>
            <a:off x="320040" y="685800"/>
            <a:ext cx="114300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Project Overview</a:t>
            </a:r>
            <a:endParaRPr lang="en-US" sz="3000" dirty="0"/>
          </a:p>
        </p:txBody>
      </p:sp>
      <p:sp>
        <p:nvSpPr>
          <p:cNvPr id="8" name="Shape 6"/>
          <p:cNvSpPr/>
          <p:nvPr/>
        </p:nvSpPr>
        <p:spPr>
          <a:xfrm>
            <a:off x="320040" y="1325880"/>
            <a:ext cx="5394960" cy="5029200"/>
          </a:xfrm>
          <a:prstGeom prst="rect">
            <a:avLst/>
          </a:prstGeom>
          <a:solidFill>
            <a:srgbClr val="162447"/>
          </a:solidFill>
          <a:ln w="12700">
            <a:solidFill>
              <a:srgbClr val="E74C3C"/>
            </a:solidFill>
            <a:prstDash val="solid"/>
          </a:ln>
        </p:spPr>
      </p:sp>
      <p:sp>
        <p:nvSpPr>
          <p:cNvPr id="9" name="Shape 7"/>
          <p:cNvSpPr/>
          <p:nvPr/>
        </p:nvSpPr>
        <p:spPr>
          <a:xfrm>
            <a:off x="320040" y="1325880"/>
            <a:ext cx="54864" cy="5029200"/>
          </a:xfrm>
          <a:prstGeom prst="rect">
            <a:avLst/>
          </a:prstGeom>
          <a:solidFill>
            <a:srgbClr val="E74C3C"/>
          </a:solidFill>
          <a:ln w="12700">
            <a:solidFill>
              <a:srgbClr val="E74C3C"/>
            </a:solidFill>
            <a:prstDash val="solid"/>
          </a:ln>
        </p:spPr>
      </p:sp>
      <p:pic>
        <p:nvPicPr>
          <p:cNvPr id="10" name="Image 0" descr="preencoded.png"/>
          <p:cNvPicPr>
            <a:picLocks noChangeAspect="1"/>
          </p:cNvPicPr>
          <p:nvPr/>
        </p:nvPicPr>
        <p:blipFill>
          <a:blip r:embed="rId1"/>
          <a:stretch>
            <a:fillRect/>
          </a:stretch>
        </p:blipFill>
        <p:spPr>
          <a:xfrm>
            <a:off x="502920" y="1463040"/>
            <a:ext cx="320040" cy="320040"/>
          </a:xfrm>
          <a:prstGeom prst="rect">
            <a:avLst/>
          </a:prstGeom>
        </p:spPr>
      </p:pic>
      <p:sp>
        <p:nvSpPr>
          <p:cNvPr id="11" name="Text 8"/>
          <p:cNvSpPr/>
          <p:nvPr/>
        </p:nvSpPr>
        <p:spPr>
          <a:xfrm>
            <a:off x="896112" y="1463040"/>
            <a:ext cx="4572000" cy="320040"/>
          </a:xfrm>
          <a:prstGeom prst="rect">
            <a:avLst/>
          </a:prstGeom>
          <a:noFill/>
          <a:ln/>
        </p:spPr>
        <p:txBody>
          <a:bodyPr wrap="square" lIns="0" tIns="0" rIns="0" bIns="0" rtlCol="0" anchor="ctr"/>
          <a:lstStyle/>
          <a:p>
            <a:pPr indent="0" marL="0">
              <a:buNone/>
            </a:pPr>
            <a:r>
              <a:rPr lang="en-US" sz="1300" b="1" dirty="0">
                <a:solidFill>
                  <a:srgbClr val="E74C3C"/>
                </a:solidFill>
                <a:latin typeface="Calibri" pitchFamily="34" charset="0"/>
                <a:ea typeface="Calibri" pitchFamily="34" charset="-122"/>
                <a:cs typeface="Calibri" pitchFamily="34" charset="-120"/>
              </a:rPr>
              <a:t>BEFORE — The Problem</a:t>
            </a:r>
            <a:endParaRPr lang="en-US" sz="1300" dirty="0"/>
          </a:p>
        </p:txBody>
      </p:sp>
      <p:sp>
        <p:nvSpPr>
          <p:cNvPr id="12" name="Shape 9"/>
          <p:cNvSpPr/>
          <p:nvPr/>
        </p:nvSpPr>
        <p:spPr>
          <a:xfrm>
            <a:off x="502920" y="1920240"/>
            <a:ext cx="5029200" cy="914400"/>
          </a:xfrm>
          <a:prstGeom prst="rect">
            <a:avLst/>
          </a:prstGeom>
          <a:solidFill>
            <a:srgbClr val="1A0F0F"/>
          </a:solidFill>
          <a:ln w="12700">
            <a:solidFill>
              <a:srgbClr val="3D1515"/>
            </a:solidFill>
            <a:prstDash val="solid"/>
          </a:ln>
        </p:spPr>
      </p:sp>
      <p:sp>
        <p:nvSpPr>
          <p:cNvPr id="13" name="Text 10"/>
          <p:cNvSpPr/>
          <p:nvPr/>
        </p:nvSpPr>
        <p:spPr>
          <a:xfrm>
            <a:off x="658368" y="1993392"/>
            <a:ext cx="4663440" cy="237744"/>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Public API Exposure</a:t>
            </a:r>
            <a:endParaRPr lang="en-US" sz="1100" dirty="0"/>
          </a:p>
        </p:txBody>
      </p:sp>
      <p:sp>
        <p:nvSpPr>
          <p:cNvPr id="14" name="Text 11"/>
          <p:cNvSpPr/>
          <p:nvPr/>
        </p:nvSpPr>
        <p:spPr>
          <a:xfrm>
            <a:off x="658368" y="2240280"/>
            <a:ext cx="4663440" cy="50292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APIs were publicly accessible — no authentication or authorization gates in place.</a:t>
            </a:r>
            <a:endParaRPr lang="en-US" sz="1000" dirty="0"/>
          </a:p>
        </p:txBody>
      </p:sp>
      <p:sp>
        <p:nvSpPr>
          <p:cNvPr id="15" name="Shape 12"/>
          <p:cNvSpPr/>
          <p:nvPr/>
        </p:nvSpPr>
        <p:spPr>
          <a:xfrm>
            <a:off x="502920" y="2971800"/>
            <a:ext cx="5029200" cy="914400"/>
          </a:xfrm>
          <a:prstGeom prst="rect">
            <a:avLst/>
          </a:prstGeom>
          <a:solidFill>
            <a:srgbClr val="1A0F0F"/>
          </a:solidFill>
          <a:ln w="12700">
            <a:solidFill>
              <a:srgbClr val="3D1515"/>
            </a:solidFill>
            <a:prstDash val="solid"/>
          </a:ln>
        </p:spPr>
      </p:sp>
      <p:sp>
        <p:nvSpPr>
          <p:cNvPr id="16" name="Text 13"/>
          <p:cNvSpPr/>
          <p:nvPr/>
        </p:nvSpPr>
        <p:spPr>
          <a:xfrm>
            <a:off x="658368" y="3044952"/>
            <a:ext cx="4663440" cy="237744"/>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No Access Control</a:t>
            </a:r>
            <a:endParaRPr lang="en-US" sz="1100" dirty="0"/>
          </a:p>
        </p:txBody>
      </p:sp>
      <p:sp>
        <p:nvSpPr>
          <p:cNvPr id="17" name="Text 14"/>
          <p:cNvSpPr/>
          <p:nvPr/>
        </p:nvSpPr>
        <p:spPr>
          <a:xfrm>
            <a:off x="658368" y="3291840"/>
            <a:ext cx="4663440" cy="50292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Any user could call backend endpoints directly, bypassing security checks.</a:t>
            </a:r>
            <a:endParaRPr lang="en-US" sz="1000" dirty="0"/>
          </a:p>
        </p:txBody>
      </p:sp>
      <p:sp>
        <p:nvSpPr>
          <p:cNvPr id="18" name="Shape 15"/>
          <p:cNvSpPr/>
          <p:nvPr/>
        </p:nvSpPr>
        <p:spPr>
          <a:xfrm>
            <a:off x="502920" y="4023360"/>
            <a:ext cx="5029200" cy="914400"/>
          </a:xfrm>
          <a:prstGeom prst="rect">
            <a:avLst/>
          </a:prstGeom>
          <a:solidFill>
            <a:srgbClr val="1A0F0F"/>
          </a:solidFill>
          <a:ln w="12700">
            <a:solidFill>
              <a:srgbClr val="3D1515"/>
            </a:solidFill>
            <a:prstDash val="solid"/>
          </a:ln>
        </p:spPr>
      </p:sp>
      <p:sp>
        <p:nvSpPr>
          <p:cNvPr id="19" name="Text 16"/>
          <p:cNvSpPr/>
          <p:nvPr/>
        </p:nvSpPr>
        <p:spPr>
          <a:xfrm>
            <a:off x="658368" y="4096512"/>
            <a:ext cx="4663440" cy="237744"/>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Direct S3 Access Risk</a:t>
            </a:r>
            <a:endParaRPr lang="en-US" sz="1100" dirty="0"/>
          </a:p>
        </p:txBody>
      </p:sp>
      <p:sp>
        <p:nvSpPr>
          <p:cNvPr id="20" name="Text 17"/>
          <p:cNvSpPr/>
          <p:nvPr/>
        </p:nvSpPr>
        <p:spPr>
          <a:xfrm>
            <a:off x="658368" y="4343400"/>
            <a:ext cx="4663440" cy="50292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S3 objects were potentially reachable with a direct URL — no bucket-level protection.</a:t>
            </a:r>
            <a:endParaRPr lang="en-US" sz="1000" dirty="0"/>
          </a:p>
        </p:txBody>
      </p:sp>
      <p:sp>
        <p:nvSpPr>
          <p:cNvPr id="21" name="Shape 18"/>
          <p:cNvSpPr/>
          <p:nvPr/>
        </p:nvSpPr>
        <p:spPr>
          <a:xfrm>
            <a:off x="502920" y="5074920"/>
            <a:ext cx="5029200" cy="914400"/>
          </a:xfrm>
          <a:prstGeom prst="rect">
            <a:avLst/>
          </a:prstGeom>
          <a:solidFill>
            <a:srgbClr val="1A0F0F"/>
          </a:solidFill>
          <a:ln w="12700">
            <a:solidFill>
              <a:srgbClr val="3D1515"/>
            </a:solidFill>
            <a:prstDash val="solid"/>
          </a:ln>
        </p:spPr>
      </p:sp>
      <p:sp>
        <p:nvSpPr>
          <p:cNvPr id="22" name="Text 19"/>
          <p:cNvSpPr/>
          <p:nvPr/>
        </p:nvSpPr>
        <p:spPr>
          <a:xfrm>
            <a:off x="658368" y="5148072"/>
            <a:ext cx="4663440" cy="237744"/>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No Identity Verification</a:t>
            </a:r>
            <a:endParaRPr lang="en-US" sz="1100" dirty="0"/>
          </a:p>
        </p:txBody>
      </p:sp>
      <p:sp>
        <p:nvSpPr>
          <p:cNvPr id="23" name="Text 20"/>
          <p:cNvSpPr/>
          <p:nvPr/>
        </p:nvSpPr>
        <p:spPr>
          <a:xfrm>
            <a:off x="658368" y="5394960"/>
            <a:ext cx="4663440" cy="50292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No mechanism to verify who the user is before serving sensitive content.</a:t>
            </a:r>
            <a:endParaRPr lang="en-US" sz="1000" dirty="0"/>
          </a:p>
        </p:txBody>
      </p:sp>
      <p:sp>
        <p:nvSpPr>
          <p:cNvPr id="24" name="Shape 21"/>
          <p:cNvSpPr/>
          <p:nvPr/>
        </p:nvSpPr>
        <p:spPr>
          <a:xfrm>
            <a:off x="6400800" y="1325880"/>
            <a:ext cx="5394960" cy="5029200"/>
          </a:xfrm>
          <a:prstGeom prst="rect">
            <a:avLst/>
          </a:prstGeom>
          <a:solidFill>
            <a:srgbClr val="162447"/>
          </a:solidFill>
          <a:ln w="12700">
            <a:solidFill>
              <a:srgbClr val="2ECC71"/>
            </a:solidFill>
            <a:prstDash val="solid"/>
          </a:ln>
        </p:spPr>
      </p:sp>
      <p:sp>
        <p:nvSpPr>
          <p:cNvPr id="25" name="Shape 22"/>
          <p:cNvSpPr/>
          <p:nvPr/>
        </p:nvSpPr>
        <p:spPr>
          <a:xfrm>
            <a:off x="6400800" y="1325880"/>
            <a:ext cx="54864" cy="5029200"/>
          </a:xfrm>
          <a:prstGeom prst="rect">
            <a:avLst/>
          </a:prstGeom>
          <a:solidFill>
            <a:srgbClr val="2ECC71"/>
          </a:solidFill>
          <a:ln w="12700">
            <a:solidFill>
              <a:srgbClr val="2ECC71"/>
            </a:solidFill>
            <a:prstDash val="solid"/>
          </a:ln>
        </p:spPr>
      </p:sp>
      <p:pic>
        <p:nvPicPr>
          <p:cNvPr id="26" name="Image 1" descr="preencoded.png"/>
          <p:cNvPicPr>
            <a:picLocks noChangeAspect="1"/>
          </p:cNvPicPr>
          <p:nvPr/>
        </p:nvPicPr>
        <p:blipFill>
          <a:blip r:embed="rId2"/>
          <a:stretch>
            <a:fillRect/>
          </a:stretch>
        </p:blipFill>
        <p:spPr>
          <a:xfrm>
            <a:off x="6583680" y="1463040"/>
            <a:ext cx="320040" cy="320040"/>
          </a:xfrm>
          <a:prstGeom prst="rect">
            <a:avLst/>
          </a:prstGeom>
        </p:spPr>
      </p:pic>
      <p:sp>
        <p:nvSpPr>
          <p:cNvPr id="27" name="Text 23"/>
          <p:cNvSpPr/>
          <p:nvPr/>
        </p:nvSpPr>
        <p:spPr>
          <a:xfrm>
            <a:off x="6967728" y="1463040"/>
            <a:ext cx="4572000" cy="32004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AFTER — The Solution</a:t>
            </a:r>
            <a:endParaRPr lang="en-US" sz="1300" dirty="0"/>
          </a:p>
        </p:txBody>
      </p:sp>
      <p:sp>
        <p:nvSpPr>
          <p:cNvPr id="28" name="Shape 24"/>
          <p:cNvSpPr/>
          <p:nvPr/>
        </p:nvSpPr>
        <p:spPr>
          <a:xfrm>
            <a:off x="6565392" y="1920240"/>
            <a:ext cx="5029200" cy="914400"/>
          </a:xfrm>
          <a:prstGeom prst="rect">
            <a:avLst/>
          </a:prstGeom>
          <a:solidFill>
            <a:srgbClr val="0A1F12"/>
          </a:solidFill>
          <a:ln w="12700">
            <a:solidFill>
              <a:srgbClr val="1A4D28"/>
            </a:solidFill>
            <a:prstDash val="solid"/>
          </a:ln>
        </p:spPr>
      </p:sp>
      <p:sp>
        <p:nvSpPr>
          <p:cNvPr id="29" name="Text 25"/>
          <p:cNvSpPr/>
          <p:nvPr/>
        </p:nvSpPr>
        <p:spPr>
          <a:xfrm>
            <a:off x="6720840" y="1993392"/>
            <a:ext cx="4663440" cy="237744"/>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Amazon Cognito</a:t>
            </a:r>
            <a:endParaRPr lang="en-US" sz="1100" dirty="0"/>
          </a:p>
        </p:txBody>
      </p:sp>
      <p:sp>
        <p:nvSpPr>
          <p:cNvPr id="30" name="Text 26"/>
          <p:cNvSpPr/>
          <p:nvPr/>
        </p:nvSpPr>
        <p:spPr>
          <a:xfrm>
            <a:off x="6720840" y="2240280"/>
            <a:ext cx="4663440" cy="50292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User Pool with Hosted UI handles authentication, user management and OAuth 2.0 flows.</a:t>
            </a:r>
            <a:endParaRPr lang="en-US" sz="1000" dirty="0"/>
          </a:p>
        </p:txBody>
      </p:sp>
      <p:sp>
        <p:nvSpPr>
          <p:cNvPr id="31" name="Shape 27"/>
          <p:cNvSpPr/>
          <p:nvPr/>
        </p:nvSpPr>
        <p:spPr>
          <a:xfrm>
            <a:off x="6565392" y="2971800"/>
            <a:ext cx="5029200" cy="914400"/>
          </a:xfrm>
          <a:prstGeom prst="rect">
            <a:avLst/>
          </a:prstGeom>
          <a:solidFill>
            <a:srgbClr val="0A1F12"/>
          </a:solidFill>
          <a:ln w="12700">
            <a:solidFill>
              <a:srgbClr val="1A4D28"/>
            </a:solidFill>
            <a:prstDash val="solid"/>
          </a:ln>
        </p:spPr>
      </p:sp>
      <p:sp>
        <p:nvSpPr>
          <p:cNvPr id="32" name="Text 28"/>
          <p:cNvSpPr/>
          <p:nvPr/>
        </p:nvSpPr>
        <p:spPr>
          <a:xfrm>
            <a:off x="6720840" y="3044952"/>
            <a:ext cx="4663440" cy="237744"/>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API Gateway + JWT Authorizer</a:t>
            </a:r>
            <a:endParaRPr lang="en-US" sz="1100" dirty="0"/>
          </a:p>
        </p:txBody>
      </p:sp>
      <p:sp>
        <p:nvSpPr>
          <p:cNvPr id="33" name="Text 29"/>
          <p:cNvSpPr/>
          <p:nvPr/>
        </p:nvSpPr>
        <p:spPr>
          <a:xfrm>
            <a:off x="6720840" y="3291840"/>
            <a:ext cx="4663440" cy="50292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Every API request is validated against a Cognito-issued JWT token before reaching Lambda.</a:t>
            </a:r>
            <a:endParaRPr lang="en-US" sz="1000" dirty="0"/>
          </a:p>
        </p:txBody>
      </p:sp>
      <p:sp>
        <p:nvSpPr>
          <p:cNvPr id="34" name="Shape 30"/>
          <p:cNvSpPr/>
          <p:nvPr/>
        </p:nvSpPr>
        <p:spPr>
          <a:xfrm>
            <a:off x="6565392" y="4023360"/>
            <a:ext cx="5029200" cy="914400"/>
          </a:xfrm>
          <a:prstGeom prst="rect">
            <a:avLst/>
          </a:prstGeom>
          <a:solidFill>
            <a:srgbClr val="0A1F12"/>
          </a:solidFill>
          <a:ln w="12700">
            <a:solidFill>
              <a:srgbClr val="1A4D28"/>
            </a:solidFill>
            <a:prstDash val="solid"/>
          </a:ln>
        </p:spPr>
      </p:sp>
      <p:sp>
        <p:nvSpPr>
          <p:cNvPr id="35" name="Text 31"/>
          <p:cNvSpPr/>
          <p:nvPr/>
        </p:nvSpPr>
        <p:spPr>
          <a:xfrm>
            <a:off x="6720840" y="4096512"/>
            <a:ext cx="4663440" cy="237744"/>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Private S3 + IAM Roles</a:t>
            </a:r>
            <a:endParaRPr lang="en-US" sz="1100" dirty="0"/>
          </a:p>
        </p:txBody>
      </p:sp>
      <p:sp>
        <p:nvSpPr>
          <p:cNvPr id="36" name="Text 32"/>
          <p:cNvSpPr/>
          <p:nvPr/>
        </p:nvSpPr>
        <p:spPr>
          <a:xfrm>
            <a:off x="6720840" y="4343400"/>
            <a:ext cx="4663440" cy="50292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Bucket has Block Public Access enabled; Lambda accesses it only via a scoped IAM role.</a:t>
            </a:r>
            <a:endParaRPr lang="en-US" sz="1000" dirty="0"/>
          </a:p>
        </p:txBody>
      </p:sp>
      <p:sp>
        <p:nvSpPr>
          <p:cNvPr id="37" name="Shape 33"/>
          <p:cNvSpPr/>
          <p:nvPr/>
        </p:nvSpPr>
        <p:spPr>
          <a:xfrm>
            <a:off x="6565392" y="5074920"/>
            <a:ext cx="5029200" cy="914400"/>
          </a:xfrm>
          <a:prstGeom prst="rect">
            <a:avLst/>
          </a:prstGeom>
          <a:solidFill>
            <a:srgbClr val="0A1F12"/>
          </a:solidFill>
          <a:ln w="12700">
            <a:solidFill>
              <a:srgbClr val="1A4D28"/>
            </a:solidFill>
            <a:prstDash val="solid"/>
          </a:ln>
        </p:spPr>
      </p:sp>
      <p:sp>
        <p:nvSpPr>
          <p:cNvPr id="38" name="Text 34"/>
          <p:cNvSpPr/>
          <p:nvPr/>
        </p:nvSpPr>
        <p:spPr>
          <a:xfrm>
            <a:off x="6720840" y="5148072"/>
            <a:ext cx="4663440" cy="237744"/>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Pre-Signed URLs</a:t>
            </a:r>
            <a:endParaRPr lang="en-US" sz="1100" dirty="0"/>
          </a:p>
        </p:txBody>
      </p:sp>
      <p:sp>
        <p:nvSpPr>
          <p:cNvPr id="39" name="Text 35"/>
          <p:cNvSpPr/>
          <p:nvPr/>
        </p:nvSpPr>
        <p:spPr>
          <a:xfrm>
            <a:off x="6720840" y="5394960"/>
            <a:ext cx="4663440" cy="50292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Lambda generates time-limited, cryptographically signed S3 URLs — no direct bucket exposure.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02 · REAL WORLD SCENARIO</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Real World Scenario</a:t>
            </a:r>
            <a:endParaRPr lang="en-US" sz="3000" dirty="0"/>
          </a:p>
        </p:txBody>
      </p:sp>
      <p:sp>
        <p:nvSpPr>
          <p:cNvPr id="8" name="Shape 6"/>
          <p:cNvSpPr/>
          <p:nvPr/>
        </p:nvSpPr>
        <p:spPr>
          <a:xfrm>
            <a:off x="320040" y="1234440"/>
            <a:ext cx="11521440" cy="960120"/>
          </a:xfrm>
          <a:prstGeom prst="rect">
            <a:avLst/>
          </a:prstGeom>
          <a:solidFill>
            <a:srgbClr val="1E3A6E"/>
          </a:solidFill>
          <a:ln w="12700">
            <a:solidFill>
              <a:srgbClr val="00B4D8"/>
            </a:solidFill>
            <a:prstDash val="solid"/>
          </a:ln>
        </p:spPr>
      </p:sp>
      <p:pic>
        <p:nvPicPr>
          <p:cNvPr id="9" name="Image 0" descr="preencoded.png"/>
          <p:cNvPicPr>
            <a:picLocks noChangeAspect="1"/>
          </p:cNvPicPr>
          <p:nvPr/>
        </p:nvPicPr>
        <p:blipFill>
          <a:blip r:embed="rId1"/>
          <a:stretch>
            <a:fillRect/>
          </a:stretch>
        </p:blipFill>
        <p:spPr>
          <a:xfrm>
            <a:off x="502920" y="1371600"/>
            <a:ext cx="457200" cy="457200"/>
          </a:xfrm>
          <a:prstGeom prst="rect">
            <a:avLst/>
          </a:prstGeom>
        </p:spPr>
      </p:pic>
      <p:sp>
        <p:nvSpPr>
          <p:cNvPr id="10" name="Text 7"/>
          <p:cNvSpPr/>
          <p:nvPr/>
        </p:nvSpPr>
        <p:spPr>
          <a:xfrm>
            <a:off x="1051560" y="1298448"/>
            <a:ext cx="10424160" cy="274320"/>
          </a:xfrm>
          <a:prstGeom prst="rect">
            <a:avLst/>
          </a:prstGeom>
          <a:noFill/>
          <a:ln/>
        </p:spPr>
        <p:txBody>
          <a:bodyPr wrap="square" lIns="0" tIns="0" rIns="0" bIns="0" rtlCol="0" anchor="ctr"/>
          <a:lstStyle/>
          <a:p>
            <a:pPr indent="0" marL="0">
              <a:buNone/>
            </a:pPr>
            <a:r>
              <a:rPr lang="en-US" sz="1500" b="1" dirty="0">
                <a:solidFill>
                  <a:srgbClr val="FF9900"/>
                </a:solidFill>
                <a:latin typeface="Calibri" pitchFamily="34" charset="0"/>
                <a:ea typeface="Calibri" pitchFamily="34" charset="-122"/>
                <a:cs typeface="Calibri" pitchFamily="34" charset="-120"/>
              </a:rPr>
              <a:t>Netflix-Style Secure Video Delivery</a:t>
            </a:r>
            <a:endParaRPr lang="en-US" sz="1500" dirty="0"/>
          </a:p>
        </p:txBody>
      </p:sp>
      <p:sp>
        <p:nvSpPr>
          <p:cNvPr id="11" name="Text 8"/>
          <p:cNvSpPr/>
          <p:nvPr/>
        </p:nvSpPr>
        <p:spPr>
          <a:xfrm>
            <a:off x="1051560" y="1572768"/>
            <a:ext cx="10424160" cy="502920"/>
          </a:xfrm>
          <a:prstGeom prst="rect">
            <a:avLst/>
          </a:prstGeom>
          <a:noFill/>
          <a:ln/>
        </p:spPr>
        <p:txBody>
          <a:bodyPr wrap="square" lIns="0" tIns="0" rIns="0" bIns="0" rtlCol="0" anchor="ctr"/>
          <a:lstStyle/>
          <a:p>
            <a:pPr indent="0" marL="0">
              <a:buNone/>
            </a:pPr>
            <a:r>
              <a:rPr lang="en-US" sz="1100" dirty="0">
                <a:solidFill>
                  <a:srgbClr val="B8C8E8"/>
                </a:solidFill>
                <a:latin typeface="Calibri" pitchFamily="34" charset="0"/>
                <a:ea typeface="Calibri" pitchFamily="34" charset="-122"/>
                <a:cs typeface="Calibri" pitchFamily="34" charset="-120"/>
              </a:rPr>
              <a:t>Consider a streaming platform where video content (stored in S3) must only be accessible to paid, authenticated users. A direct S3 URL would expose all content to anyone with the link — including bots, scrapers, and unauthorized users.</a:t>
            </a:r>
            <a:endParaRPr lang="en-US" sz="1100" dirty="0"/>
          </a:p>
        </p:txBody>
      </p:sp>
      <p:sp>
        <p:nvSpPr>
          <p:cNvPr id="12" name="Text 9"/>
          <p:cNvSpPr/>
          <p:nvPr/>
        </p:nvSpPr>
        <p:spPr>
          <a:xfrm>
            <a:off x="320040" y="2331720"/>
            <a:ext cx="5577840" cy="274320"/>
          </a:xfrm>
          <a:prstGeom prst="rect">
            <a:avLst/>
          </a:prstGeom>
          <a:noFill/>
          <a:ln/>
        </p:spPr>
        <p:txBody>
          <a:bodyPr wrap="square" lIns="0" tIns="0" rIns="0" bIns="0" rtlCol="0" anchor="ctr"/>
          <a:lstStyle/>
          <a:p>
            <a:pPr indent="0" marL="0">
              <a:buNone/>
            </a:pPr>
            <a:r>
              <a:rPr lang="en-US" sz="1100" b="1" spc="200" kern="0" dirty="0">
                <a:solidFill>
                  <a:srgbClr val="E74C3C"/>
                </a:solidFill>
                <a:latin typeface="Calibri" pitchFamily="34" charset="0"/>
                <a:ea typeface="Calibri" pitchFamily="34" charset="-122"/>
                <a:cs typeface="Calibri" pitchFamily="34" charset="-120"/>
              </a:rPr>
              <a:t>WITHOUT SECURITY</a:t>
            </a:r>
            <a:endParaRPr lang="en-US" sz="1100" dirty="0"/>
          </a:p>
        </p:txBody>
      </p:sp>
      <p:sp>
        <p:nvSpPr>
          <p:cNvPr id="13" name="Text 10"/>
          <p:cNvSpPr/>
          <p:nvPr/>
        </p:nvSpPr>
        <p:spPr>
          <a:xfrm>
            <a:off x="6400800" y="2331720"/>
            <a:ext cx="5669280" cy="274320"/>
          </a:xfrm>
          <a:prstGeom prst="rect">
            <a:avLst/>
          </a:prstGeom>
          <a:noFill/>
          <a:ln/>
        </p:spPr>
        <p:txBody>
          <a:bodyPr wrap="square" lIns="0" tIns="0" rIns="0" bIns="0" rtlCol="0" anchor="ctr"/>
          <a:lstStyle/>
          <a:p>
            <a:pPr indent="0" marL="0">
              <a:buNone/>
            </a:pPr>
            <a:r>
              <a:rPr lang="en-US" sz="1100" b="1" spc="200" kern="0" dirty="0">
                <a:solidFill>
                  <a:srgbClr val="2ECC71"/>
                </a:solidFill>
                <a:latin typeface="Calibri" pitchFamily="34" charset="0"/>
                <a:ea typeface="Calibri" pitchFamily="34" charset="-122"/>
                <a:cs typeface="Calibri" pitchFamily="34" charset="-120"/>
              </a:rPr>
              <a:t>WITH THIS ARCHITECTURE</a:t>
            </a:r>
            <a:endParaRPr lang="en-US" sz="1100" dirty="0"/>
          </a:p>
        </p:txBody>
      </p:sp>
      <p:sp>
        <p:nvSpPr>
          <p:cNvPr id="14" name="Shape 11"/>
          <p:cNvSpPr/>
          <p:nvPr/>
        </p:nvSpPr>
        <p:spPr>
          <a:xfrm>
            <a:off x="320040" y="2679192"/>
            <a:ext cx="5577840" cy="548640"/>
          </a:xfrm>
          <a:prstGeom prst="rect">
            <a:avLst/>
          </a:prstGeom>
          <a:solidFill>
            <a:srgbClr val="1A0808"/>
          </a:solidFill>
          <a:ln w="12700">
            <a:solidFill>
              <a:srgbClr val="3D1515"/>
            </a:solidFill>
            <a:prstDash val="solid"/>
          </a:ln>
        </p:spPr>
      </p:sp>
      <p:pic>
        <p:nvPicPr>
          <p:cNvPr id="15" name="Image 1" descr="preencoded.png"/>
          <p:cNvPicPr>
            <a:picLocks noChangeAspect="1"/>
          </p:cNvPicPr>
          <p:nvPr/>
        </p:nvPicPr>
        <p:blipFill>
          <a:blip r:embed="rId2"/>
          <a:stretch>
            <a:fillRect/>
          </a:stretch>
        </p:blipFill>
        <p:spPr>
          <a:xfrm>
            <a:off x="475488" y="2724912"/>
            <a:ext cx="256032" cy="256032"/>
          </a:xfrm>
          <a:prstGeom prst="rect">
            <a:avLst/>
          </a:prstGeom>
        </p:spPr>
      </p:pic>
      <p:sp>
        <p:nvSpPr>
          <p:cNvPr id="16" name="Text 12"/>
          <p:cNvSpPr/>
          <p:nvPr/>
        </p:nvSpPr>
        <p:spPr>
          <a:xfrm>
            <a:off x="822960" y="2697480"/>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Direct S3 URL works for anyone — no login required</a:t>
            </a:r>
            <a:endParaRPr lang="en-US" sz="1050" dirty="0"/>
          </a:p>
        </p:txBody>
      </p:sp>
      <p:sp>
        <p:nvSpPr>
          <p:cNvPr id="17" name="Shape 13"/>
          <p:cNvSpPr/>
          <p:nvPr/>
        </p:nvSpPr>
        <p:spPr>
          <a:xfrm>
            <a:off x="320040" y="3337560"/>
            <a:ext cx="5577840" cy="548640"/>
          </a:xfrm>
          <a:prstGeom prst="rect">
            <a:avLst/>
          </a:prstGeom>
          <a:solidFill>
            <a:srgbClr val="1A0808"/>
          </a:solidFill>
          <a:ln w="12700">
            <a:solidFill>
              <a:srgbClr val="3D1515"/>
            </a:solidFill>
            <a:prstDash val="solid"/>
          </a:ln>
        </p:spPr>
      </p:sp>
      <p:pic>
        <p:nvPicPr>
          <p:cNvPr id="18" name="Image 2" descr="preencoded.png"/>
          <p:cNvPicPr>
            <a:picLocks noChangeAspect="1"/>
          </p:cNvPicPr>
          <p:nvPr/>
        </p:nvPicPr>
        <p:blipFill>
          <a:blip r:embed="rId3"/>
          <a:stretch>
            <a:fillRect/>
          </a:stretch>
        </p:blipFill>
        <p:spPr>
          <a:xfrm>
            <a:off x="475488" y="3383280"/>
            <a:ext cx="256032" cy="256032"/>
          </a:xfrm>
          <a:prstGeom prst="rect">
            <a:avLst/>
          </a:prstGeom>
        </p:spPr>
      </p:pic>
      <p:sp>
        <p:nvSpPr>
          <p:cNvPr id="19" name="Text 14"/>
          <p:cNvSpPr/>
          <p:nvPr/>
        </p:nvSpPr>
        <p:spPr>
          <a:xfrm>
            <a:off x="822960" y="3355848"/>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Scraper bots can download and redistribute content freely</a:t>
            </a:r>
            <a:endParaRPr lang="en-US" sz="1050" dirty="0"/>
          </a:p>
        </p:txBody>
      </p:sp>
      <p:sp>
        <p:nvSpPr>
          <p:cNvPr id="20" name="Shape 15"/>
          <p:cNvSpPr/>
          <p:nvPr/>
        </p:nvSpPr>
        <p:spPr>
          <a:xfrm>
            <a:off x="320040" y="3995928"/>
            <a:ext cx="5577840" cy="548640"/>
          </a:xfrm>
          <a:prstGeom prst="rect">
            <a:avLst/>
          </a:prstGeom>
          <a:solidFill>
            <a:srgbClr val="1A0808"/>
          </a:solidFill>
          <a:ln w="12700">
            <a:solidFill>
              <a:srgbClr val="3D1515"/>
            </a:solidFill>
            <a:prstDash val="solid"/>
          </a:ln>
        </p:spPr>
      </p:sp>
      <p:pic>
        <p:nvPicPr>
          <p:cNvPr id="21" name="Image 3" descr="preencoded.png"/>
          <p:cNvPicPr>
            <a:picLocks noChangeAspect="1"/>
          </p:cNvPicPr>
          <p:nvPr/>
        </p:nvPicPr>
        <p:blipFill>
          <a:blip r:embed="rId4"/>
          <a:stretch>
            <a:fillRect/>
          </a:stretch>
        </p:blipFill>
        <p:spPr>
          <a:xfrm>
            <a:off x="475488" y="4041648"/>
            <a:ext cx="256032" cy="256032"/>
          </a:xfrm>
          <a:prstGeom prst="rect">
            <a:avLst/>
          </a:prstGeom>
        </p:spPr>
      </p:pic>
      <p:sp>
        <p:nvSpPr>
          <p:cNvPr id="22" name="Text 16"/>
          <p:cNvSpPr/>
          <p:nvPr/>
        </p:nvSpPr>
        <p:spPr>
          <a:xfrm>
            <a:off x="822960" y="4014216"/>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No audit trail of who accessed what and when</a:t>
            </a:r>
            <a:endParaRPr lang="en-US" sz="1050" dirty="0"/>
          </a:p>
        </p:txBody>
      </p:sp>
      <p:sp>
        <p:nvSpPr>
          <p:cNvPr id="23" name="Shape 17"/>
          <p:cNvSpPr/>
          <p:nvPr/>
        </p:nvSpPr>
        <p:spPr>
          <a:xfrm>
            <a:off x="320040" y="4654296"/>
            <a:ext cx="5577840" cy="548640"/>
          </a:xfrm>
          <a:prstGeom prst="rect">
            <a:avLst/>
          </a:prstGeom>
          <a:solidFill>
            <a:srgbClr val="1A0808"/>
          </a:solidFill>
          <a:ln w="12700">
            <a:solidFill>
              <a:srgbClr val="3D1515"/>
            </a:solidFill>
            <a:prstDash val="solid"/>
          </a:ln>
        </p:spPr>
      </p:sp>
      <p:pic>
        <p:nvPicPr>
          <p:cNvPr id="24" name="Image 4" descr="preencoded.png"/>
          <p:cNvPicPr>
            <a:picLocks noChangeAspect="1"/>
          </p:cNvPicPr>
          <p:nvPr/>
        </p:nvPicPr>
        <p:blipFill>
          <a:blip r:embed="rId5"/>
          <a:stretch>
            <a:fillRect/>
          </a:stretch>
        </p:blipFill>
        <p:spPr>
          <a:xfrm>
            <a:off x="475488" y="4700016"/>
            <a:ext cx="256032" cy="256032"/>
          </a:xfrm>
          <a:prstGeom prst="rect">
            <a:avLst/>
          </a:prstGeom>
        </p:spPr>
      </p:pic>
      <p:sp>
        <p:nvSpPr>
          <p:cNvPr id="25" name="Text 18"/>
          <p:cNvSpPr/>
          <p:nvPr/>
        </p:nvSpPr>
        <p:spPr>
          <a:xfrm>
            <a:off x="822960" y="4672584"/>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URLs never expire — shared links work indefinitely</a:t>
            </a:r>
            <a:endParaRPr lang="en-US" sz="1050" dirty="0"/>
          </a:p>
        </p:txBody>
      </p:sp>
      <p:sp>
        <p:nvSpPr>
          <p:cNvPr id="26" name="Shape 19"/>
          <p:cNvSpPr/>
          <p:nvPr/>
        </p:nvSpPr>
        <p:spPr>
          <a:xfrm>
            <a:off x="320040" y="5312664"/>
            <a:ext cx="5577840" cy="548640"/>
          </a:xfrm>
          <a:prstGeom prst="rect">
            <a:avLst/>
          </a:prstGeom>
          <a:solidFill>
            <a:srgbClr val="1A0808"/>
          </a:solidFill>
          <a:ln w="12700">
            <a:solidFill>
              <a:srgbClr val="3D1515"/>
            </a:solidFill>
            <a:prstDash val="solid"/>
          </a:ln>
        </p:spPr>
      </p:sp>
      <p:pic>
        <p:nvPicPr>
          <p:cNvPr id="27" name="Image 5" descr="preencoded.png"/>
          <p:cNvPicPr>
            <a:picLocks noChangeAspect="1"/>
          </p:cNvPicPr>
          <p:nvPr/>
        </p:nvPicPr>
        <p:blipFill>
          <a:blip r:embed="rId6"/>
          <a:stretch>
            <a:fillRect/>
          </a:stretch>
        </p:blipFill>
        <p:spPr>
          <a:xfrm>
            <a:off x="475488" y="5358384"/>
            <a:ext cx="256032" cy="256032"/>
          </a:xfrm>
          <a:prstGeom prst="rect">
            <a:avLst/>
          </a:prstGeom>
        </p:spPr>
      </p:pic>
      <p:sp>
        <p:nvSpPr>
          <p:cNvPr id="28" name="Text 20"/>
          <p:cNvSpPr/>
          <p:nvPr/>
        </p:nvSpPr>
        <p:spPr>
          <a:xfrm>
            <a:off x="822960" y="5330952"/>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No way to revoke access for a suspended user</a:t>
            </a:r>
            <a:endParaRPr lang="en-US" sz="1050" dirty="0"/>
          </a:p>
        </p:txBody>
      </p:sp>
      <p:sp>
        <p:nvSpPr>
          <p:cNvPr id="29" name="Shape 21"/>
          <p:cNvSpPr/>
          <p:nvPr/>
        </p:nvSpPr>
        <p:spPr>
          <a:xfrm>
            <a:off x="6400800" y="2679192"/>
            <a:ext cx="5577840" cy="548640"/>
          </a:xfrm>
          <a:prstGeom prst="rect">
            <a:avLst/>
          </a:prstGeom>
          <a:solidFill>
            <a:srgbClr val="071A0E"/>
          </a:solidFill>
          <a:ln w="12700">
            <a:solidFill>
              <a:srgbClr val="1A4D28"/>
            </a:solidFill>
            <a:prstDash val="solid"/>
          </a:ln>
        </p:spPr>
      </p:sp>
      <p:pic>
        <p:nvPicPr>
          <p:cNvPr id="30" name="Image 6" descr="preencoded.png"/>
          <p:cNvPicPr>
            <a:picLocks noChangeAspect="1"/>
          </p:cNvPicPr>
          <p:nvPr/>
        </p:nvPicPr>
        <p:blipFill>
          <a:blip r:embed="rId7"/>
          <a:stretch>
            <a:fillRect/>
          </a:stretch>
        </p:blipFill>
        <p:spPr>
          <a:xfrm>
            <a:off x="6565392" y="2724912"/>
            <a:ext cx="256032" cy="256032"/>
          </a:xfrm>
          <a:prstGeom prst="rect">
            <a:avLst/>
          </a:prstGeom>
        </p:spPr>
      </p:pic>
      <p:sp>
        <p:nvSpPr>
          <p:cNvPr id="31" name="Text 22"/>
          <p:cNvSpPr/>
          <p:nvPr/>
        </p:nvSpPr>
        <p:spPr>
          <a:xfrm>
            <a:off x="6903720" y="2697480"/>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User must authenticate via Cognito — no token, no access</a:t>
            </a:r>
            <a:endParaRPr lang="en-US" sz="1050" dirty="0"/>
          </a:p>
        </p:txBody>
      </p:sp>
      <p:sp>
        <p:nvSpPr>
          <p:cNvPr id="32" name="Shape 23"/>
          <p:cNvSpPr/>
          <p:nvPr/>
        </p:nvSpPr>
        <p:spPr>
          <a:xfrm>
            <a:off x="6400800" y="3337560"/>
            <a:ext cx="5577840" cy="548640"/>
          </a:xfrm>
          <a:prstGeom prst="rect">
            <a:avLst/>
          </a:prstGeom>
          <a:solidFill>
            <a:srgbClr val="071A0E"/>
          </a:solidFill>
          <a:ln w="12700">
            <a:solidFill>
              <a:srgbClr val="1A4D28"/>
            </a:solidFill>
            <a:prstDash val="solid"/>
          </a:ln>
        </p:spPr>
      </p:sp>
      <p:pic>
        <p:nvPicPr>
          <p:cNvPr id="33" name="Image 7" descr="preencoded.png"/>
          <p:cNvPicPr>
            <a:picLocks noChangeAspect="1"/>
          </p:cNvPicPr>
          <p:nvPr/>
        </p:nvPicPr>
        <p:blipFill>
          <a:blip r:embed="rId8"/>
          <a:stretch>
            <a:fillRect/>
          </a:stretch>
        </p:blipFill>
        <p:spPr>
          <a:xfrm>
            <a:off x="6565392" y="3383280"/>
            <a:ext cx="256032" cy="256032"/>
          </a:xfrm>
          <a:prstGeom prst="rect">
            <a:avLst/>
          </a:prstGeom>
        </p:spPr>
      </p:pic>
      <p:sp>
        <p:nvSpPr>
          <p:cNvPr id="34" name="Text 24"/>
          <p:cNvSpPr/>
          <p:nvPr/>
        </p:nvSpPr>
        <p:spPr>
          <a:xfrm>
            <a:off x="6903720" y="3355848"/>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JWT is validated on every single API request by API Gateway</a:t>
            </a:r>
            <a:endParaRPr lang="en-US" sz="1050" dirty="0"/>
          </a:p>
        </p:txBody>
      </p:sp>
      <p:sp>
        <p:nvSpPr>
          <p:cNvPr id="35" name="Shape 25"/>
          <p:cNvSpPr/>
          <p:nvPr/>
        </p:nvSpPr>
        <p:spPr>
          <a:xfrm>
            <a:off x="6400800" y="3995928"/>
            <a:ext cx="5577840" cy="548640"/>
          </a:xfrm>
          <a:prstGeom prst="rect">
            <a:avLst/>
          </a:prstGeom>
          <a:solidFill>
            <a:srgbClr val="071A0E"/>
          </a:solidFill>
          <a:ln w="12700">
            <a:solidFill>
              <a:srgbClr val="1A4D28"/>
            </a:solidFill>
            <a:prstDash val="solid"/>
          </a:ln>
        </p:spPr>
      </p:sp>
      <p:pic>
        <p:nvPicPr>
          <p:cNvPr id="36" name="Image 8" descr="preencoded.png"/>
          <p:cNvPicPr>
            <a:picLocks noChangeAspect="1"/>
          </p:cNvPicPr>
          <p:nvPr/>
        </p:nvPicPr>
        <p:blipFill>
          <a:blip r:embed="rId9"/>
          <a:stretch>
            <a:fillRect/>
          </a:stretch>
        </p:blipFill>
        <p:spPr>
          <a:xfrm>
            <a:off x="6565392" y="4041648"/>
            <a:ext cx="256032" cy="256032"/>
          </a:xfrm>
          <a:prstGeom prst="rect">
            <a:avLst/>
          </a:prstGeom>
        </p:spPr>
      </p:pic>
      <p:sp>
        <p:nvSpPr>
          <p:cNvPr id="37" name="Text 26"/>
          <p:cNvSpPr/>
          <p:nvPr/>
        </p:nvSpPr>
        <p:spPr>
          <a:xfrm>
            <a:off x="6903720" y="4014216"/>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Lambda generates a time-limited URL (e.g. 15 minutes) per request</a:t>
            </a:r>
            <a:endParaRPr lang="en-US" sz="1050" dirty="0"/>
          </a:p>
        </p:txBody>
      </p:sp>
      <p:sp>
        <p:nvSpPr>
          <p:cNvPr id="38" name="Shape 27"/>
          <p:cNvSpPr/>
          <p:nvPr/>
        </p:nvSpPr>
        <p:spPr>
          <a:xfrm>
            <a:off x="6400800" y="4654296"/>
            <a:ext cx="5577840" cy="548640"/>
          </a:xfrm>
          <a:prstGeom prst="rect">
            <a:avLst/>
          </a:prstGeom>
          <a:solidFill>
            <a:srgbClr val="071A0E"/>
          </a:solidFill>
          <a:ln w="12700">
            <a:solidFill>
              <a:srgbClr val="1A4D28"/>
            </a:solidFill>
            <a:prstDash val="solid"/>
          </a:ln>
        </p:spPr>
      </p:sp>
      <p:pic>
        <p:nvPicPr>
          <p:cNvPr id="39" name="Image 9" descr="preencoded.png"/>
          <p:cNvPicPr>
            <a:picLocks noChangeAspect="1"/>
          </p:cNvPicPr>
          <p:nvPr/>
        </p:nvPicPr>
        <p:blipFill>
          <a:blip r:embed="rId10"/>
          <a:stretch>
            <a:fillRect/>
          </a:stretch>
        </p:blipFill>
        <p:spPr>
          <a:xfrm>
            <a:off x="6565392" y="4700016"/>
            <a:ext cx="256032" cy="256032"/>
          </a:xfrm>
          <a:prstGeom prst="rect">
            <a:avLst/>
          </a:prstGeom>
        </p:spPr>
      </p:pic>
      <p:sp>
        <p:nvSpPr>
          <p:cNvPr id="40" name="Text 28"/>
          <p:cNvSpPr/>
          <p:nvPr/>
        </p:nvSpPr>
        <p:spPr>
          <a:xfrm>
            <a:off x="6903720" y="4672584"/>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Direct S3 access is blocked — content only reachable via signed URL</a:t>
            </a:r>
            <a:endParaRPr lang="en-US" sz="1050" dirty="0"/>
          </a:p>
        </p:txBody>
      </p:sp>
      <p:sp>
        <p:nvSpPr>
          <p:cNvPr id="41" name="Shape 29"/>
          <p:cNvSpPr/>
          <p:nvPr/>
        </p:nvSpPr>
        <p:spPr>
          <a:xfrm>
            <a:off x="6400800" y="5312664"/>
            <a:ext cx="5577840" cy="548640"/>
          </a:xfrm>
          <a:prstGeom prst="rect">
            <a:avLst/>
          </a:prstGeom>
          <a:solidFill>
            <a:srgbClr val="071A0E"/>
          </a:solidFill>
          <a:ln w="12700">
            <a:solidFill>
              <a:srgbClr val="1A4D28"/>
            </a:solidFill>
            <a:prstDash val="solid"/>
          </a:ln>
        </p:spPr>
      </p:sp>
      <p:pic>
        <p:nvPicPr>
          <p:cNvPr id="42" name="Image 10" descr="preencoded.png"/>
          <p:cNvPicPr>
            <a:picLocks noChangeAspect="1"/>
          </p:cNvPicPr>
          <p:nvPr/>
        </p:nvPicPr>
        <p:blipFill>
          <a:blip r:embed="rId11"/>
          <a:stretch>
            <a:fillRect/>
          </a:stretch>
        </p:blipFill>
        <p:spPr>
          <a:xfrm>
            <a:off x="6565392" y="5358384"/>
            <a:ext cx="256032" cy="256032"/>
          </a:xfrm>
          <a:prstGeom prst="rect">
            <a:avLst/>
          </a:prstGeom>
        </p:spPr>
      </p:pic>
      <p:sp>
        <p:nvSpPr>
          <p:cNvPr id="43" name="Text 30"/>
          <p:cNvSpPr/>
          <p:nvPr/>
        </p:nvSpPr>
        <p:spPr>
          <a:xfrm>
            <a:off x="6903720" y="5330952"/>
            <a:ext cx="4937760" cy="50292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CloudTrail logs every API call and S3 access for full auditability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03 · ARCHITECTURE OVERVIEW</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Architecture Overview</a:t>
            </a:r>
            <a:endParaRPr lang="en-US" sz="3000" dirty="0"/>
          </a:p>
        </p:txBody>
      </p:sp>
      <p:sp>
        <p:nvSpPr>
          <p:cNvPr id="8" name="Shape 6"/>
          <p:cNvSpPr/>
          <p:nvPr/>
        </p:nvSpPr>
        <p:spPr>
          <a:xfrm>
            <a:off x="274320" y="1280160"/>
            <a:ext cx="11640312" cy="4983480"/>
          </a:xfrm>
          <a:prstGeom prst="rect">
            <a:avLst/>
          </a:prstGeom>
          <a:solidFill>
            <a:srgbClr val="162447"/>
          </a:solidFill>
          <a:ln w="12700">
            <a:solidFill>
              <a:srgbClr val="253B6E"/>
            </a:solidFill>
            <a:prstDash val="solid"/>
          </a:ln>
          <a:effectLst>
            <a:outerShdw sx="100000" sy="100000" kx="0" ky="0" algn="bl" rotWithShape="0" blurRad="190500" dist="63500" dir="8100000">
              <a:srgbClr val="000000">
                <a:alpha val="40000"/>
              </a:srgbClr>
            </a:outerShdw>
          </a:effectLst>
        </p:spPr>
      </p:sp>
      <p:pic>
        <p:nvPicPr>
          <p:cNvPr id="9" name="Image 0" descr="/mnt/user-data/uploads/secure_arc.png"/>
          <p:cNvPicPr>
            <a:picLocks noChangeAspect="1"/>
          </p:cNvPicPr>
          <p:nvPr/>
        </p:nvPicPr>
        <p:blipFill>
          <a:blip r:embed="rId1"/>
          <a:srcRect l="0" r="0" t="0" b="0"/>
          <a:stretch/>
        </p:blipFill>
        <p:spPr>
          <a:xfrm>
            <a:off x="320040" y="1325880"/>
            <a:ext cx="11548872" cy="4892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03 · ARCHITECTURE WALKTHROUGH</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End-to-End Request Flow</a:t>
            </a:r>
            <a:endParaRPr lang="en-US" sz="3000" dirty="0"/>
          </a:p>
        </p:txBody>
      </p:sp>
      <p:sp>
        <p:nvSpPr>
          <p:cNvPr id="8" name="Shape 6"/>
          <p:cNvSpPr/>
          <p:nvPr/>
        </p:nvSpPr>
        <p:spPr>
          <a:xfrm>
            <a:off x="320040" y="1298448"/>
            <a:ext cx="5760720" cy="1188720"/>
          </a:xfrm>
          <a:prstGeom prst="rect">
            <a:avLst/>
          </a:prstGeom>
          <a:solidFill>
            <a:srgbClr val="162447"/>
          </a:solidFill>
          <a:ln w="12700">
            <a:solidFill>
              <a:srgbClr val="FF9900"/>
            </a:solidFill>
            <a:prstDash val="solid"/>
          </a:ln>
        </p:spPr>
      </p:sp>
      <p:sp>
        <p:nvSpPr>
          <p:cNvPr id="9" name="Shape 7"/>
          <p:cNvSpPr/>
          <p:nvPr/>
        </p:nvSpPr>
        <p:spPr>
          <a:xfrm>
            <a:off x="429768" y="1572768"/>
            <a:ext cx="502920" cy="502920"/>
          </a:xfrm>
          <a:prstGeom prst="oval">
            <a:avLst/>
          </a:prstGeom>
          <a:solidFill>
            <a:srgbClr val="FF9900"/>
          </a:solidFill>
          <a:ln w="12700">
            <a:solidFill>
              <a:srgbClr val="FF9900"/>
            </a:solidFill>
            <a:prstDash val="solid"/>
          </a:ln>
        </p:spPr>
      </p:sp>
      <p:sp>
        <p:nvSpPr>
          <p:cNvPr id="10" name="Text 8"/>
          <p:cNvSpPr/>
          <p:nvPr/>
        </p:nvSpPr>
        <p:spPr>
          <a:xfrm>
            <a:off x="429768" y="1572768"/>
            <a:ext cx="502920" cy="502920"/>
          </a:xfrm>
          <a:prstGeom prst="rect">
            <a:avLst/>
          </a:prstGeom>
          <a:noFill/>
          <a:ln/>
        </p:spPr>
        <p:txBody>
          <a:bodyPr wrap="square" lIns="0" tIns="0" rIns="0" bIns="0" rtlCol="0" anchor="ctr"/>
          <a:lstStyle/>
          <a:p>
            <a:pPr algn="ctr" indent="0" marL="0">
              <a:buNone/>
            </a:pPr>
            <a:r>
              <a:rPr lang="en-US" sz="1400" b="1" dirty="0">
                <a:solidFill>
                  <a:srgbClr val="0F1B35"/>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1051560" y="1408176"/>
            <a:ext cx="4846320" cy="274320"/>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User Access</a:t>
            </a:r>
            <a:endParaRPr lang="en-US" sz="1200" dirty="0"/>
          </a:p>
        </p:txBody>
      </p:sp>
      <p:sp>
        <p:nvSpPr>
          <p:cNvPr id="12" name="Text 10"/>
          <p:cNvSpPr/>
          <p:nvPr/>
        </p:nvSpPr>
        <p:spPr>
          <a:xfrm>
            <a:off x="1051560" y="1709928"/>
            <a:ext cx="4846320" cy="64008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User opens the web app and clicks Login.</a:t>
            </a:r>
            <a:endParaRPr lang="en-US" sz="1050" dirty="0"/>
          </a:p>
        </p:txBody>
      </p:sp>
      <p:pic>
        <p:nvPicPr>
          <p:cNvPr id="13" name="Image 0" descr="preencoded.png"/>
          <p:cNvPicPr>
            <a:picLocks noChangeAspect="1"/>
          </p:cNvPicPr>
          <p:nvPr/>
        </p:nvPicPr>
        <p:blipFill>
          <a:blip r:embed="rId1"/>
          <a:stretch>
            <a:fillRect/>
          </a:stretch>
        </p:blipFill>
        <p:spPr>
          <a:xfrm>
            <a:off x="484632" y="2532888"/>
            <a:ext cx="201168" cy="201168"/>
          </a:xfrm>
          <a:prstGeom prst="rect">
            <a:avLst/>
          </a:prstGeom>
        </p:spPr>
      </p:pic>
      <p:sp>
        <p:nvSpPr>
          <p:cNvPr id="14" name="Shape 11"/>
          <p:cNvSpPr/>
          <p:nvPr/>
        </p:nvSpPr>
        <p:spPr>
          <a:xfrm>
            <a:off x="320040" y="2624328"/>
            <a:ext cx="5760720" cy="1188720"/>
          </a:xfrm>
          <a:prstGeom prst="rect">
            <a:avLst/>
          </a:prstGeom>
          <a:solidFill>
            <a:srgbClr val="162447"/>
          </a:solidFill>
          <a:ln w="12700">
            <a:solidFill>
              <a:srgbClr val="00B4D8"/>
            </a:solidFill>
            <a:prstDash val="solid"/>
          </a:ln>
        </p:spPr>
      </p:sp>
      <p:sp>
        <p:nvSpPr>
          <p:cNvPr id="15" name="Shape 12"/>
          <p:cNvSpPr/>
          <p:nvPr/>
        </p:nvSpPr>
        <p:spPr>
          <a:xfrm>
            <a:off x="429768" y="2898648"/>
            <a:ext cx="502920" cy="502920"/>
          </a:xfrm>
          <a:prstGeom prst="oval">
            <a:avLst/>
          </a:prstGeom>
          <a:solidFill>
            <a:srgbClr val="00B4D8"/>
          </a:solidFill>
          <a:ln w="12700">
            <a:solidFill>
              <a:srgbClr val="00B4D8"/>
            </a:solidFill>
            <a:prstDash val="solid"/>
          </a:ln>
        </p:spPr>
      </p:sp>
      <p:sp>
        <p:nvSpPr>
          <p:cNvPr id="16" name="Text 13"/>
          <p:cNvSpPr/>
          <p:nvPr/>
        </p:nvSpPr>
        <p:spPr>
          <a:xfrm>
            <a:off x="429768" y="2898648"/>
            <a:ext cx="502920" cy="502920"/>
          </a:xfrm>
          <a:prstGeom prst="rect">
            <a:avLst/>
          </a:prstGeom>
          <a:noFill/>
          <a:ln/>
        </p:spPr>
        <p:txBody>
          <a:bodyPr wrap="square" lIns="0" tIns="0" rIns="0" bIns="0" rtlCol="0" anchor="ctr"/>
          <a:lstStyle/>
          <a:p>
            <a:pPr algn="ctr" indent="0" marL="0">
              <a:buNone/>
            </a:pPr>
            <a:r>
              <a:rPr lang="en-US" sz="1400" b="1" dirty="0">
                <a:solidFill>
                  <a:srgbClr val="0F1B35"/>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051560" y="2734056"/>
            <a:ext cx="4846320" cy="27432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Cognito Hosted UI</a:t>
            </a:r>
            <a:endParaRPr lang="en-US" sz="1200" dirty="0"/>
          </a:p>
        </p:txBody>
      </p:sp>
      <p:sp>
        <p:nvSpPr>
          <p:cNvPr id="18" name="Text 15"/>
          <p:cNvSpPr/>
          <p:nvPr/>
        </p:nvSpPr>
        <p:spPr>
          <a:xfrm>
            <a:off x="1051560" y="3035808"/>
            <a:ext cx="4846320" cy="64008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Redirected to Cognito's managed login page — email/password authentication.</a:t>
            </a:r>
            <a:endParaRPr lang="en-US" sz="1050" dirty="0"/>
          </a:p>
        </p:txBody>
      </p:sp>
      <p:pic>
        <p:nvPicPr>
          <p:cNvPr id="19" name="Image 1" descr="preencoded.png"/>
          <p:cNvPicPr>
            <a:picLocks noChangeAspect="1"/>
          </p:cNvPicPr>
          <p:nvPr/>
        </p:nvPicPr>
        <p:blipFill>
          <a:blip r:embed="rId2"/>
          <a:stretch>
            <a:fillRect/>
          </a:stretch>
        </p:blipFill>
        <p:spPr>
          <a:xfrm>
            <a:off x="484632" y="3858768"/>
            <a:ext cx="201168" cy="201168"/>
          </a:xfrm>
          <a:prstGeom prst="rect">
            <a:avLst/>
          </a:prstGeom>
        </p:spPr>
      </p:pic>
      <p:sp>
        <p:nvSpPr>
          <p:cNvPr id="20" name="Shape 16"/>
          <p:cNvSpPr/>
          <p:nvPr/>
        </p:nvSpPr>
        <p:spPr>
          <a:xfrm>
            <a:off x="320040" y="3950208"/>
            <a:ext cx="5760720" cy="1188720"/>
          </a:xfrm>
          <a:prstGeom prst="rect">
            <a:avLst/>
          </a:prstGeom>
          <a:solidFill>
            <a:srgbClr val="162447"/>
          </a:solidFill>
          <a:ln w="12700">
            <a:solidFill>
              <a:srgbClr val="1A73E8"/>
            </a:solidFill>
            <a:prstDash val="solid"/>
          </a:ln>
        </p:spPr>
      </p:sp>
      <p:sp>
        <p:nvSpPr>
          <p:cNvPr id="21" name="Shape 17"/>
          <p:cNvSpPr/>
          <p:nvPr/>
        </p:nvSpPr>
        <p:spPr>
          <a:xfrm>
            <a:off x="429768" y="4224528"/>
            <a:ext cx="502920" cy="502920"/>
          </a:xfrm>
          <a:prstGeom prst="oval">
            <a:avLst/>
          </a:prstGeom>
          <a:solidFill>
            <a:srgbClr val="1A73E8"/>
          </a:solidFill>
          <a:ln w="12700">
            <a:solidFill>
              <a:srgbClr val="1A73E8"/>
            </a:solidFill>
            <a:prstDash val="solid"/>
          </a:ln>
        </p:spPr>
      </p:sp>
      <p:sp>
        <p:nvSpPr>
          <p:cNvPr id="22" name="Text 18"/>
          <p:cNvSpPr/>
          <p:nvPr/>
        </p:nvSpPr>
        <p:spPr>
          <a:xfrm>
            <a:off x="429768" y="4224528"/>
            <a:ext cx="502920" cy="502920"/>
          </a:xfrm>
          <a:prstGeom prst="rect">
            <a:avLst/>
          </a:prstGeom>
          <a:noFill/>
          <a:ln/>
        </p:spPr>
        <p:txBody>
          <a:bodyPr wrap="square" lIns="0" tIns="0" rIns="0" bIns="0" rtlCol="0" anchor="ctr"/>
          <a:lstStyle/>
          <a:p>
            <a:pPr algn="ctr" indent="0" marL="0">
              <a:buNone/>
            </a:pPr>
            <a:r>
              <a:rPr lang="en-US" sz="1400" b="1" dirty="0">
                <a:solidFill>
                  <a:srgbClr val="0F1B35"/>
                </a:solidFill>
                <a:latin typeface="Calibri" pitchFamily="34" charset="0"/>
                <a:ea typeface="Calibri" pitchFamily="34" charset="-122"/>
                <a:cs typeface="Calibri" pitchFamily="34" charset="-120"/>
              </a:rPr>
              <a:t>3</a:t>
            </a:r>
            <a:endParaRPr lang="en-US" sz="1400" dirty="0"/>
          </a:p>
        </p:txBody>
      </p:sp>
      <p:sp>
        <p:nvSpPr>
          <p:cNvPr id="23" name="Text 19"/>
          <p:cNvSpPr/>
          <p:nvPr/>
        </p:nvSpPr>
        <p:spPr>
          <a:xfrm>
            <a:off x="1051560" y="4059936"/>
            <a:ext cx="4846320" cy="274320"/>
          </a:xfrm>
          <a:prstGeom prst="rect">
            <a:avLst/>
          </a:prstGeom>
          <a:noFill/>
          <a:ln/>
        </p:spPr>
        <p:txBody>
          <a:bodyPr wrap="square" lIns="0" tIns="0" rIns="0" bIns="0" rtlCol="0" anchor="ctr"/>
          <a:lstStyle/>
          <a:p>
            <a:pPr indent="0" marL="0">
              <a:buNone/>
            </a:pPr>
            <a:r>
              <a:rPr lang="en-US" sz="1200" b="1" dirty="0">
                <a:solidFill>
                  <a:srgbClr val="1A73E8"/>
                </a:solidFill>
                <a:latin typeface="Calibri" pitchFamily="34" charset="0"/>
                <a:ea typeface="Calibri" pitchFamily="34" charset="-122"/>
                <a:cs typeface="Calibri" pitchFamily="34" charset="-120"/>
              </a:rPr>
              <a:t>Authorization Code</a:t>
            </a:r>
            <a:endParaRPr lang="en-US" sz="1200" dirty="0"/>
          </a:p>
        </p:txBody>
      </p:sp>
      <p:sp>
        <p:nvSpPr>
          <p:cNvPr id="24" name="Text 20"/>
          <p:cNvSpPr/>
          <p:nvPr/>
        </p:nvSpPr>
        <p:spPr>
          <a:xfrm>
            <a:off x="1051560" y="4361688"/>
            <a:ext cx="4846320" cy="64008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After login, Cognito redirects back with a one-time authorization code.</a:t>
            </a:r>
            <a:endParaRPr lang="en-US" sz="1050" dirty="0"/>
          </a:p>
        </p:txBody>
      </p:sp>
      <p:pic>
        <p:nvPicPr>
          <p:cNvPr id="25" name="Image 2" descr="preencoded.png"/>
          <p:cNvPicPr>
            <a:picLocks noChangeAspect="1"/>
          </p:cNvPicPr>
          <p:nvPr/>
        </p:nvPicPr>
        <p:blipFill>
          <a:blip r:embed="rId3"/>
          <a:stretch>
            <a:fillRect/>
          </a:stretch>
        </p:blipFill>
        <p:spPr>
          <a:xfrm>
            <a:off x="484632" y="5184648"/>
            <a:ext cx="201168" cy="201168"/>
          </a:xfrm>
          <a:prstGeom prst="rect">
            <a:avLst/>
          </a:prstGeom>
        </p:spPr>
      </p:pic>
      <p:sp>
        <p:nvSpPr>
          <p:cNvPr id="26" name="Shape 21"/>
          <p:cNvSpPr/>
          <p:nvPr/>
        </p:nvSpPr>
        <p:spPr>
          <a:xfrm>
            <a:off x="320040" y="5276088"/>
            <a:ext cx="5760720" cy="1188720"/>
          </a:xfrm>
          <a:prstGeom prst="rect">
            <a:avLst/>
          </a:prstGeom>
          <a:solidFill>
            <a:srgbClr val="162447"/>
          </a:solidFill>
          <a:ln w="12700">
            <a:solidFill>
              <a:srgbClr val="2ECC71"/>
            </a:solidFill>
            <a:prstDash val="solid"/>
          </a:ln>
        </p:spPr>
      </p:sp>
      <p:sp>
        <p:nvSpPr>
          <p:cNvPr id="27" name="Shape 22"/>
          <p:cNvSpPr/>
          <p:nvPr/>
        </p:nvSpPr>
        <p:spPr>
          <a:xfrm>
            <a:off x="429768" y="5550408"/>
            <a:ext cx="502920" cy="502920"/>
          </a:xfrm>
          <a:prstGeom prst="oval">
            <a:avLst/>
          </a:prstGeom>
          <a:solidFill>
            <a:srgbClr val="2ECC71"/>
          </a:solidFill>
          <a:ln w="12700">
            <a:solidFill>
              <a:srgbClr val="2ECC71"/>
            </a:solidFill>
            <a:prstDash val="solid"/>
          </a:ln>
        </p:spPr>
      </p:sp>
      <p:sp>
        <p:nvSpPr>
          <p:cNvPr id="28" name="Text 23"/>
          <p:cNvSpPr/>
          <p:nvPr/>
        </p:nvSpPr>
        <p:spPr>
          <a:xfrm>
            <a:off x="429768" y="5550408"/>
            <a:ext cx="502920" cy="502920"/>
          </a:xfrm>
          <a:prstGeom prst="rect">
            <a:avLst/>
          </a:prstGeom>
          <a:noFill/>
          <a:ln/>
        </p:spPr>
        <p:txBody>
          <a:bodyPr wrap="square" lIns="0" tIns="0" rIns="0" bIns="0" rtlCol="0" anchor="ctr"/>
          <a:lstStyle/>
          <a:p>
            <a:pPr algn="ctr" indent="0" marL="0">
              <a:buNone/>
            </a:pPr>
            <a:r>
              <a:rPr lang="en-US" sz="1400" b="1" dirty="0">
                <a:solidFill>
                  <a:srgbClr val="0F1B35"/>
                </a:solidFill>
                <a:latin typeface="Calibri" pitchFamily="34" charset="0"/>
                <a:ea typeface="Calibri" pitchFamily="34" charset="-122"/>
                <a:cs typeface="Calibri" pitchFamily="34" charset="-120"/>
              </a:rPr>
              <a:t>4</a:t>
            </a:r>
            <a:endParaRPr lang="en-US" sz="1400" dirty="0"/>
          </a:p>
        </p:txBody>
      </p:sp>
      <p:sp>
        <p:nvSpPr>
          <p:cNvPr id="29" name="Text 24"/>
          <p:cNvSpPr/>
          <p:nvPr/>
        </p:nvSpPr>
        <p:spPr>
          <a:xfrm>
            <a:off x="1051560" y="5385816"/>
            <a:ext cx="4846320" cy="274320"/>
          </a:xfrm>
          <a:prstGeom prst="rect">
            <a:avLst/>
          </a:prstGeom>
          <a:noFill/>
          <a:ln/>
        </p:spPr>
        <p:txBody>
          <a:bodyPr wrap="square" lIns="0" tIns="0" rIns="0" bIns="0" rtlCol="0" anchor="ctr"/>
          <a:lstStyle/>
          <a:p>
            <a:pPr indent="0" marL="0">
              <a:buNone/>
            </a:pPr>
            <a:r>
              <a:rPr lang="en-US" sz="1200" b="1" dirty="0">
                <a:solidFill>
                  <a:srgbClr val="2ECC71"/>
                </a:solidFill>
                <a:latin typeface="Calibri" pitchFamily="34" charset="0"/>
                <a:ea typeface="Calibri" pitchFamily="34" charset="-122"/>
                <a:cs typeface="Calibri" pitchFamily="34" charset="-120"/>
              </a:rPr>
              <a:t>Token Exchange</a:t>
            </a:r>
            <a:endParaRPr lang="en-US" sz="1200" dirty="0"/>
          </a:p>
        </p:txBody>
      </p:sp>
      <p:sp>
        <p:nvSpPr>
          <p:cNvPr id="30" name="Text 25"/>
          <p:cNvSpPr/>
          <p:nvPr/>
        </p:nvSpPr>
        <p:spPr>
          <a:xfrm>
            <a:off x="1051560" y="5687568"/>
            <a:ext cx="4846320" cy="64008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Frontend sends code to /token API. Lambda exchanges it with Cognito for JWT tokens.</a:t>
            </a:r>
            <a:endParaRPr lang="en-US" sz="1050" dirty="0"/>
          </a:p>
        </p:txBody>
      </p:sp>
      <p:sp>
        <p:nvSpPr>
          <p:cNvPr id="31" name="Shape 26"/>
          <p:cNvSpPr/>
          <p:nvPr/>
        </p:nvSpPr>
        <p:spPr>
          <a:xfrm>
            <a:off x="6355080" y="1298448"/>
            <a:ext cx="5760720" cy="1188720"/>
          </a:xfrm>
          <a:prstGeom prst="rect">
            <a:avLst/>
          </a:prstGeom>
          <a:solidFill>
            <a:srgbClr val="162447"/>
          </a:solidFill>
          <a:ln w="12700">
            <a:solidFill>
              <a:srgbClr val="FF9900"/>
            </a:solidFill>
            <a:prstDash val="solid"/>
          </a:ln>
        </p:spPr>
      </p:sp>
      <p:sp>
        <p:nvSpPr>
          <p:cNvPr id="32" name="Shape 27"/>
          <p:cNvSpPr/>
          <p:nvPr/>
        </p:nvSpPr>
        <p:spPr>
          <a:xfrm>
            <a:off x="6464808" y="1572768"/>
            <a:ext cx="502920" cy="502920"/>
          </a:xfrm>
          <a:prstGeom prst="oval">
            <a:avLst/>
          </a:prstGeom>
          <a:solidFill>
            <a:srgbClr val="FF9900"/>
          </a:solidFill>
          <a:ln w="12700">
            <a:solidFill>
              <a:srgbClr val="FF9900"/>
            </a:solidFill>
            <a:prstDash val="solid"/>
          </a:ln>
        </p:spPr>
      </p:sp>
      <p:sp>
        <p:nvSpPr>
          <p:cNvPr id="33" name="Text 28"/>
          <p:cNvSpPr/>
          <p:nvPr/>
        </p:nvSpPr>
        <p:spPr>
          <a:xfrm>
            <a:off x="6464808" y="1572768"/>
            <a:ext cx="502920" cy="502920"/>
          </a:xfrm>
          <a:prstGeom prst="rect">
            <a:avLst/>
          </a:prstGeom>
          <a:noFill/>
          <a:ln/>
        </p:spPr>
        <p:txBody>
          <a:bodyPr wrap="square" lIns="0" tIns="0" rIns="0" bIns="0" rtlCol="0" anchor="ctr"/>
          <a:lstStyle/>
          <a:p>
            <a:pPr algn="ctr" indent="0" marL="0">
              <a:buNone/>
            </a:pPr>
            <a:r>
              <a:rPr lang="en-US" sz="1400" b="1" dirty="0">
                <a:solidFill>
                  <a:srgbClr val="0F1B35"/>
                </a:solidFill>
                <a:latin typeface="Calibri" pitchFamily="34" charset="0"/>
                <a:ea typeface="Calibri" pitchFamily="34" charset="-122"/>
                <a:cs typeface="Calibri" pitchFamily="34" charset="-120"/>
              </a:rPr>
              <a:t>5</a:t>
            </a:r>
            <a:endParaRPr lang="en-US" sz="1400" dirty="0"/>
          </a:p>
        </p:txBody>
      </p:sp>
      <p:sp>
        <p:nvSpPr>
          <p:cNvPr id="34" name="Text 29"/>
          <p:cNvSpPr/>
          <p:nvPr/>
        </p:nvSpPr>
        <p:spPr>
          <a:xfrm>
            <a:off x="7086600" y="1408176"/>
            <a:ext cx="4846320" cy="274320"/>
          </a:xfrm>
          <a:prstGeom prst="rect">
            <a:avLst/>
          </a:prstGeom>
          <a:noFill/>
          <a:ln/>
        </p:spPr>
        <p:txBody>
          <a:bodyPr wrap="square" lIns="0" tIns="0" rIns="0" bIns="0" rtlCol="0" anchor="ctr"/>
          <a:lstStyle/>
          <a:p>
            <a:pPr indent="0" marL="0">
              <a:buNone/>
            </a:pPr>
            <a:r>
              <a:rPr lang="en-US" sz="1200" b="1" dirty="0">
                <a:solidFill>
                  <a:srgbClr val="FF9900"/>
                </a:solidFill>
                <a:latin typeface="Calibri" pitchFamily="34" charset="0"/>
                <a:ea typeface="Calibri" pitchFamily="34" charset="-122"/>
                <a:cs typeface="Calibri" pitchFamily="34" charset="-120"/>
              </a:rPr>
              <a:t>JWT Validation</a:t>
            </a:r>
            <a:endParaRPr lang="en-US" sz="1200" dirty="0"/>
          </a:p>
        </p:txBody>
      </p:sp>
      <p:sp>
        <p:nvSpPr>
          <p:cNvPr id="35" name="Text 30"/>
          <p:cNvSpPr/>
          <p:nvPr/>
        </p:nvSpPr>
        <p:spPr>
          <a:xfrm>
            <a:off x="7086600" y="1709928"/>
            <a:ext cx="4846320" cy="64008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For every protected API call, the JWT Authorizer in API Gateway validates the token.</a:t>
            </a:r>
            <a:endParaRPr lang="en-US" sz="1050" dirty="0"/>
          </a:p>
        </p:txBody>
      </p:sp>
      <p:pic>
        <p:nvPicPr>
          <p:cNvPr id="36" name="Image 3" descr="preencoded.png"/>
          <p:cNvPicPr>
            <a:picLocks noChangeAspect="1"/>
          </p:cNvPicPr>
          <p:nvPr/>
        </p:nvPicPr>
        <p:blipFill>
          <a:blip r:embed="rId4"/>
          <a:stretch>
            <a:fillRect/>
          </a:stretch>
        </p:blipFill>
        <p:spPr>
          <a:xfrm>
            <a:off x="6519672" y="2532888"/>
            <a:ext cx="201168" cy="201168"/>
          </a:xfrm>
          <a:prstGeom prst="rect">
            <a:avLst/>
          </a:prstGeom>
        </p:spPr>
      </p:pic>
      <p:sp>
        <p:nvSpPr>
          <p:cNvPr id="37" name="Shape 31"/>
          <p:cNvSpPr/>
          <p:nvPr/>
        </p:nvSpPr>
        <p:spPr>
          <a:xfrm>
            <a:off x="6355080" y="2624328"/>
            <a:ext cx="5760720" cy="1188720"/>
          </a:xfrm>
          <a:prstGeom prst="rect">
            <a:avLst/>
          </a:prstGeom>
          <a:solidFill>
            <a:srgbClr val="162447"/>
          </a:solidFill>
          <a:ln w="12700">
            <a:solidFill>
              <a:srgbClr val="00B4D8"/>
            </a:solidFill>
            <a:prstDash val="solid"/>
          </a:ln>
        </p:spPr>
      </p:sp>
      <p:sp>
        <p:nvSpPr>
          <p:cNvPr id="38" name="Shape 32"/>
          <p:cNvSpPr/>
          <p:nvPr/>
        </p:nvSpPr>
        <p:spPr>
          <a:xfrm>
            <a:off x="6464808" y="2898648"/>
            <a:ext cx="502920" cy="502920"/>
          </a:xfrm>
          <a:prstGeom prst="oval">
            <a:avLst/>
          </a:prstGeom>
          <a:solidFill>
            <a:srgbClr val="00B4D8"/>
          </a:solidFill>
          <a:ln w="12700">
            <a:solidFill>
              <a:srgbClr val="00B4D8"/>
            </a:solidFill>
            <a:prstDash val="solid"/>
          </a:ln>
        </p:spPr>
      </p:sp>
      <p:sp>
        <p:nvSpPr>
          <p:cNvPr id="39" name="Text 33"/>
          <p:cNvSpPr/>
          <p:nvPr/>
        </p:nvSpPr>
        <p:spPr>
          <a:xfrm>
            <a:off x="6464808" y="2898648"/>
            <a:ext cx="502920" cy="502920"/>
          </a:xfrm>
          <a:prstGeom prst="rect">
            <a:avLst/>
          </a:prstGeom>
          <a:noFill/>
          <a:ln/>
        </p:spPr>
        <p:txBody>
          <a:bodyPr wrap="square" lIns="0" tIns="0" rIns="0" bIns="0" rtlCol="0" anchor="ctr"/>
          <a:lstStyle/>
          <a:p>
            <a:pPr algn="ctr" indent="0" marL="0">
              <a:buNone/>
            </a:pPr>
            <a:r>
              <a:rPr lang="en-US" sz="1400" b="1" dirty="0">
                <a:solidFill>
                  <a:srgbClr val="0F1B35"/>
                </a:solidFill>
                <a:latin typeface="Calibri" pitchFamily="34" charset="0"/>
                <a:ea typeface="Calibri" pitchFamily="34" charset="-122"/>
                <a:cs typeface="Calibri" pitchFamily="34" charset="-120"/>
              </a:rPr>
              <a:t>6</a:t>
            </a:r>
            <a:endParaRPr lang="en-US" sz="1400" dirty="0"/>
          </a:p>
        </p:txBody>
      </p:sp>
      <p:sp>
        <p:nvSpPr>
          <p:cNvPr id="40" name="Text 34"/>
          <p:cNvSpPr/>
          <p:nvPr/>
        </p:nvSpPr>
        <p:spPr>
          <a:xfrm>
            <a:off x="7086600" y="2734056"/>
            <a:ext cx="4846320" cy="27432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Lambda Invocation</a:t>
            </a:r>
            <a:endParaRPr lang="en-US" sz="1200" dirty="0"/>
          </a:p>
        </p:txBody>
      </p:sp>
      <p:sp>
        <p:nvSpPr>
          <p:cNvPr id="41" name="Text 35"/>
          <p:cNvSpPr/>
          <p:nvPr/>
        </p:nvSpPr>
        <p:spPr>
          <a:xfrm>
            <a:off x="7086600" y="3035808"/>
            <a:ext cx="4846320" cy="64008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Validated request reaches Lambda, which uses its IAM role to call S3.</a:t>
            </a:r>
            <a:endParaRPr lang="en-US" sz="1050" dirty="0"/>
          </a:p>
        </p:txBody>
      </p:sp>
      <p:pic>
        <p:nvPicPr>
          <p:cNvPr id="42" name="Image 4" descr="preencoded.png"/>
          <p:cNvPicPr>
            <a:picLocks noChangeAspect="1"/>
          </p:cNvPicPr>
          <p:nvPr/>
        </p:nvPicPr>
        <p:blipFill>
          <a:blip r:embed="rId5"/>
          <a:stretch>
            <a:fillRect/>
          </a:stretch>
        </p:blipFill>
        <p:spPr>
          <a:xfrm>
            <a:off x="6519672" y="3858768"/>
            <a:ext cx="201168" cy="201168"/>
          </a:xfrm>
          <a:prstGeom prst="rect">
            <a:avLst/>
          </a:prstGeom>
        </p:spPr>
      </p:pic>
      <p:sp>
        <p:nvSpPr>
          <p:cNvPr id="43" name="Shape 36"/>
          <p:cNvSpPr/>
          <p:nvPr/>
        </p:nvSpPr>
        <p:spPr>
          <a:xfrm>
            <a:off x="6355080" y="3950208"/>
            <a:ext cx="5760720" cy="1188720"/>
          </a:xfrm>
          <a:prstGeom prst="rect">
            <a:avLst/>
          </a:prstGeom>
          <a:solidFill>
            <a:srgbClr val="162447"/>
          </a:solidFill>
          <a:ln w="12700">
            <a:solidFill>
              <a:srgbClr val="1A73E8"/>
            </a:solidFill>
            <a:prstDash val="solid"/>
          </a:ln>
        </p:spPr>
      </p:sp>
      <p:sp>
        <p:nvSpPr>
          <p:cNvPr id="44" name="Shape 37"/>
          <p:cNvSpPr/>
          <p:nvPr/>
        </p:nvSpPr>
        <p:spPr>
          <a:xfrm>
            <a:off x="6464808" y="4224528"/>
            <a:ext cx="502920" cy="502920"/>
          </a:xfrm>
          <a:prstGeom prst="oval">
            <a:avLst/>
          </a:prstGeom>
          <a:solidFill>
            <a:srgbClr val="1A73E8"/>
          </a:solidFill>
          <a:ln w="12700">
            <a:solidFill>
              <a:srgbClr val="1A73E8"/>
            </a:solidFill>
            <a:prstDash val="solid"/>
          </a:ln>
        </p:spPr>
      </p:sp>
      <p:sp>
        <p:nvSpPr>
          <p:cNvPr id="45" name="Text 38"/>
          <p:cNvSpPr/>
          <p:nvPr/>
        </p:nvSpPr>
        <p:spPr>
          <a:xfrm>
            <a:off x="6464808" y="4224528"/>
            <a:ext cx="502920" cy="502920"/>
          </a:xfrm>
          <a:prstGeom prst="rect">
            <a:avLst/>
          </a:prstGeom>
          <a:noFill/>
          <a:ln/>
        </p:spPr>
        <p:txBody>
          <a:bodyPr wrap="square" lIns="0" tIns="0" rIns="0" bIns="0" rtlCol="0" anchor="ctr"/>
          <a:lstStyle/>
          <a:p>
            <a:pPr algn="ctr" indent="0" marL="0">
              <a:buNone/>
            </a:pPr>
            <a:r>
              <a:rPr lang="en-US" sz="1400" b="1" dirty="0">
                <a:solidFill>
                  <a:srgbClr val="0F1B35"/>
                </a:solidFill>
                <a:latin typeface="Calibri" pitchFamily="34" charset="0"/>
                <a:ea typeface="Calibri" pitchFamily="34" charset="-122"/>
                <a:cs typeface="Calibri" pitchFamily="34" charset="-120"/>
              </a:rPr>
              <a:t>7</a:t>
            </a:r>
            <a:endParaRPr lang="en-US" sz="1400" dirty="0"/>
          </a:p>
        </p:txBody>
      </p:sp>
      <p:sp>
        <p:nvSpPr>
          <p:cNvPr id="46" name="Text 39"/>
          <p:cNvSpPr/>
          <p:nvPr/>
        </p:nvSpPr>
        <p:spPr>
          <a:xfrm>
            <a:off x="7086600" y="4059936"/>
            <a:ext cx="4846320" cy="274320"/>
          </a:xfrm>
          <a:prstGeom prst="rect">
            <a:avLst/>
          </a:prstGeom>
          <a:noFill/>
          <a:ln/>
        </p:spPr>
        <p:txBody>
          <a:bodyPr wrap="square" lIns="0" tIns="0" rIns="0" bIns="0" rtlCol="0" anchor="ctr"/>
          <a:lstStyle/>
          <a:p>
            <a:pPr indent="0" marL="0">
              <a:buNone/>
            </a:pPr>
            <a:r>
              <a:rPr lang="en-US" sz="1200" b="1" dirty="0">
                <a:solidFill>
                  <a:srgbClr val="1A73E8"/>
                </a:solidFill>
                <a:latin typeface="Calibri" pitchFamily="34" charset="0"/>
                <a:ea typeface="Calibri" pitchFamily="34" charset="-122"/>
                <a:cs typeface="Calibri" pitchFamily="34" charset="-120"/>
              </a:rPr>
              <a:t>Pre-Signed URL</a:t>
            </a:r>
            <a:endParaRPr lang="en-US" sz="1200" dirty="0"/>
          </a:p>
        </p:txBody>
      </p:sp>
      <p:sp>
        <p:nvSpPr>
          <p:cNvPr id="47" name="Text 40"/>
          <p:cNvSpPr/>
          <p:nvPr/>
        </p:nvSpPr>
        <p:spPr>
          <a:xfrm>
            <a:off x="7086600" y="4361688"/>
            <a:ext cx="4846320" cy="64008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Lambda generates a time-limited signed URL for the S3 object.</a:t>
            </a:r>
            <a:endParaRPr lang="en-US" sz="1050" dirty="0"/>
          </a:p>
        </p:txBody>
      </p:sp>
      <p:pic>
        <p:nvPicPr>
          <p:cNvPr id="48" name="Image 5" descr="preencoded.png"/>
          <p:cNvPicPr>
            <a:picLocks noChangeAspect="1"/>
          </p:cNvPicPr>
          <p:nvPr/>
        </p:nvPicPr>
        <p:blipFill>
          <a:blip r:embed="rId6"/>
          <a:stretch>
            <a:fillRect/>
          </a:stretch>
        </p:blipFill>
        <p:spPr>
          <a:xfrm>
            <a:off x="6519672" y="5184648"/>
            <a:ext cx="201168" cy="201168"/>
          </a:xfrm>
          <a:prstGeom prst="rect">
            <a:avLst/>
          </a:prstGeom>
        </p:spPr>
      </p:pic>
      <p:sp>
        <p:nvSpPr>
          <p:cNvPr id="49" name="Shape 41"/>
          <p:cNvSpPr/>
          <p:nvPr/>
        </p:nvSpPr>
        <p:spPr>
          <a:xfrm>
            <a:off x="6355080" y="5276088"/>
            <a:ext cx="5760720" cy="1188720"/>
          </a:xfrm>
          <a:prstGeom prst="rect">
            <a:avLst/>
          </a:prstGeom>
          <a:solidFill>
            <a:srgbClr val="162447"/>
          </a:solidFill>
          <a:ln w="12700">
            <a:solidFill>
              <a:srgbClr val="2ECC71"/>
            </a:solidFill>
            <a:prstDash val="solid"/>
          </a:ln>
        </p:spPr>
      </p:sp>
      <p:sp>
        <p:nvSpPr>
          <p:cNvPr id="50" name="Shape 42"/>
          <p:cNvSpPr/>
          <p:nvPr/>
        </p:nvSpPr>
        <p:spPr>
          <a:xfrm>
            <a:off x="6464808" y="5550408"/>
            <a:ext cx="502920" cy="502920"/>
          </a:xfrm>
          <a:prstGeom prst="oval">
            <a:avLst/>
          </a:prstGeom>
          <a:solidFill>
            <a:srgbClr val="2ECC71"/>
          </a:solidFill>
          <a:ln w="12700">
            <a:solidFill>
              <a:srgbClr val="2ECC71"/>
            </a:solidFill>
            <a:prstDash val="solid"/>
          </a:ln>
        </p:spPr>
      </p:sp>
      <p:sp>
        <p:nvSpPr>
          <p:cNvPr id="51" name="Text 43"/>
          <p:cNvSpPr/>
          <p:nvPr/>
        </p:nvSpPr>
        <p:spPr>
          <a:xfrm>
            <a:off x="6464808" y="5550408"/>
            <a:ext cx="502920" cy="502920"/>
          </a:xfrm>
          <a:prstGeom prst="rect">
            <a:avLst/>
          </a:prstGeom>
          <a:noFill/>
          <a:ln/>
        </p:spPr>
        <p:txBody>
          <a:bodyPr wrap="square" lIns="0" tIns="0" rIns="0" bIns="0" rtlCol="0" anchor="ctr"/>
          <a:lstStyle/>
          <a:p>
            <a:pPr algn="ctr" indent="0" marL="0">
              <a:buNone/>
            </a:pPr>
            <a:r>
              <a:rPr lang="en-US" sz="1400" b="1" dirty="0">
                <a:solidFill>
                  <a:srgbClr val="0F1B35"/>
                </a:solidFill>
                <a:latin typeface="Calibri" pitchFamily="34" charset="0"/>
                <a:ea typeface="Calibri" pitchFamily="34" charset="-122"/>
                <a:cs typeface="Calibri" pitchFamily="34" charset="-120"/>
              </a:rPr>
              <a:t>8</a:t>
            </a:r>
            <a:endParaRPr lang="en-US" sz="1400" dirty="0"/>
          </a:p>
        </p:txBody>
      </p:sp>
      <p:sp>
        <p:nvSpPr>
          <p:cNvPr id="52" name="Text 44"/>
          <p:cNvSpPr/>
          <p:nvPr/>
        </p:nvSpPr>
        <p:spPr>
          <a:xfrm>
            <a:off x="7086600" y="5385816"/>
            <a:ext cx="4846320" cy="274320"/>
          </a:xfrm>
          <a:prstGeom prst="rect">
            <a:avLst/>
          </a:prstGeom>
          <a:noFill/>
          <a:ln/>
        </p:spPr>
        <p:txBody>
          <a:bodyPr wrap="square" lIns="0" tIns="0" rIns="0" bIns="0" rtlCol="0" anchor="ctr"/>
          <a:lstStyle/>
          <a:p>
            <a:pPr indent="0" marL="0">
              <a:buNone/>
            </a:pPr>
            <a:r>
              <a:rPr lang="en-US" sz="1200" b="1" dirty="0">
                <a:solidFill>
                  <a:srgbClr val="2ECC71"/>
                </a:solidFill>
                <a:latin typeface="Calibri" pitchFamily="34" charset="0"/>
                <a:ea typeface="Calibri" pitchFamily="34" charset="-122"/>
                <a:cs typeface="Calibri" pitchFamily="34" charset="-120"/>
              </a:rPr>
              <a:t>Content Access</a:t>
            </a:r>
            <a:endParaRPr lang="en-US" sz="1200" dirty="0"/>
          </a:p>
        </p:txBody>
      </p:sp>
      <p:sp>
        <p:nvSpPr>
          <p:cNvPr id="53" name="Text 45"/>
          <p:cNvSpPr/>
          <p:nvPr/>
        </p:nvSpPr>
        <p:spPr>
          <a:xfrm>
            <a:off x="7086600" y="5687568"/>
            <a:ext cx="4846320" cy="64008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User's browser uses the pre-signed URL to securely stream/download content.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04 · AWS SERVICES USED</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AWS Services Used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261872"/>
          <a:ext cx="11521440" cy="5212080"/>
        </p:xfrm>
        <a:graphic>
          <a:graphicData uri="http://schemas.openxmlformats.org/drawingml/2006/table">
            <a:tbl>
              <a:tblPr/>
              <a:tblGrid>
                <a:gridCol w="2011680"/>
                <a:gridCol w="3017520"/>
                <a:gridCol w="6492240"/>
              </a:tblGrid>
              <a:tr h="651510">
                <a:tc>
                  <a:txBody>
                    <a:bodyPr/>
                    <a:lstStyle/>
                    <a:p>
                      <a:pPr algn="ctr" indent="0" marL="0">
                        <a:buNone/>
                      </a:pPr>
                      <a:r>
                        <a:rPr lang="en-US" sz="1100" b="1" dirty="0">
                          <a:solidFill>
                            <a:srgbClr val="0F1B35"/>
                          </a:solidFill>
                          <a:latin typeface="Calibri" pitchFamily="34" charset="0"/>
                          <a:ea typeface="Calibri" pitchFamily="34" charset="-122"/>
                          <a:cs typeface="Calibri" pitchFamily="34" charset="-120"/>
                        </a:rPr>
                        <a:t>Service</a:t>
                      </a:r>
                      <a:endParaRPr lang="en-US" sz="1100" dirty="0">
                        <a:latin typeface="Calibri" charset="0"/>
                        <a:ea typeface="Calibri" charset="0"/>
                        <a:cs typeface="Calibri" charset="0"/>
                      </a:endParaRPr>
                    </a:p>
                  </a:txBody>
                  <a:tcPr marL="91440" marR="91440" marT="45720" marB="45720">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FF9900"/>
                    </a:solidFill>
                  </a:tcPr>
                </a:tc>
                <a:tc>
                  <a:txBody>
                    <a:bodyPr/>
                    <a:lstStyle/>
                    <a:p>
                      <a:pPr indent="0" marL="0">
                        <a:buNone/>
                      </a:pPr>
                      <a:r>
                        <a:rPr lang="en-US" sz="1100" b="1" dirty="0">
                          <a:solidFill>
                            <a:srgbClr val="0F1B35"/>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91440" marR="91440" marT="45720" marB="45720">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FF9900"/>
                    </a:solidFill>
                  </a:tcPr>
                </a:tc>
                <a:tc>
                  <a:txBody>
                    <a:bodyPr/>
                    <a:lstStyle/>
                    <a:p>
                      <a:pPr indent="0" marL="0">
                        <a:buNone/>
                      </a:pPr>
                      <a:r>
                        <a:rPr lang="en-US" sz="1100" b="1" dirty="0">
                          <a:solidFill>
                            <a:srgbClr val="0F1B35"/>
                          </a:solidFill>
                          <a:latin typeface="Calibri" pitchFamily="34" charset="0"/>
                          <a:ea typeface="Calibri" pitchFamily="34" charset="-122"/>
                          <a:cs typeface="Calibri" pitchFamily="34" charset="-120"/>
                        </a:rPr>
                        <a:t>Why Used</a:t>
                      </a:r>
                      <a:endParaRPr lang="en-US" sz="1100" dirty="0">
                        <a:latin typeface="Calibri" charset="0"/>
                        <a:ea typeface="Calibri" charset="0"/>
                        <a:cs typeface="Calibri" charset="0"/>
                      </a:endParaRPr>
                    </a:p>
                  </a:txBody>
                  <a:tcPr marL="91440" marR="91440" marT="45720" marB="45720">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FF9900"/>
                    </a:solidFill>
                  </a:tcPr>
                </a:tc>
              </a:tr>
              <a:tr h="651510">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Amazon Cognito</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User identity and authentication management</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Provides managed OAuth 2.0 Hosted UI, User Pools, App Clients and JWT token issuance without building custom auth.</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r>
              <a:tr h="651510">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API Gateway</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HTTP API frontend — routes and protects all requests</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Integrates natively with Cognito JWT Authorizer to block unauthenticated requests before they reach Lambda.</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r>
              <a:tr h="651510">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AWS Lambda</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Serverless backend logic</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Handles token exchange with Cognito and generates pre-signed S3 URLs on authenticated request — no servers to manage.</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r>
              <a:tr h="651510">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Amazon S3</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Private object storage for protected content</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Block Public Access ensures content is never directly reachable; only accessible via Lambda-generated signed URLs.</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r>
              <a:tr h="651510">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AWS IAM</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Role-based access control for Lambda</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Lambda's execution role is granted only s3:GetObject — enforcing least privilege so it cannot modify or delete objects.</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r>
              <a:tr h="651510">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JWT Authorizer</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Validates JWT on every incoming API request</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Decodes and verifies the Cognito-issued id_token against the JWKS endpoint — rejects expired or tampered tokens.</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E3A6E"/>
                    </a:solidFill>
                  </a:tcPr>
                </a:tc>
              </a:tr>
              <a:tr h="651510">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CloudTrail</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Audit logging for all AWS API calls</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c>
                  <a:txBody>
                    <a:bodyPr/>
                    <a:lstStyle/>
                    <a:p>
                      <a:pPr indent="0" marL="0">
                        <a:buNone/>
                      </a:pPr>
                      <a:r>
                        <a:rPr lang="en-US" sz="950" dirty="0">
                          <a:solidFill>
                            <a:srgbClr val="B8C8E8"/>
                          </a:solidFill>
                          <a:latin typeface="Calibri" pitchFamily="34" charset="0"/>
                          <a:ea typeface="Calibri" pitchFamily="34" charset="-122"/>
                          <a:cs typeface="Calibri" pitchFamily="34" charset="-120"/>
                        </a:rPr>
                        <a:t>Every Lambda invocation, S3 access, and Cognito event is logged — providing a full tamper-evident audit trail.</a:t>
                      </a:r>
                      <a:endParaRPr lang="en-US" sz="950" dirty="0">
                        <a:latin typeface="Calibri" charset="0"/>
                        <a:ea typeface="Calibri" charset="0"/>
                        <a:cs typeface="Calibri" charset="0"/>
                      </a:endParaRPr>
                    </a:p>
                  </a:txBody>
                  <a:tcPr marL="91440" marR="91440" marT="45720" marB="45720" anchor="ctr">
                    <a:lnL w="6350" cap="flat" cmpd="sng" algn="ctr">
                      <a:solidFill>
                        <a:srgbClr val="253B6E"/>
                      </a:solidFill>
                      <a:prstDash val="solid"/>
                      <a:round/>
                      <a:headEnd type="none" w="med" len="med"/>
                      <a:tailEnd type="none" w="med" len="med"/>
                    </a:lnL>
                    <a:lnR w="6350" cap="flat" cmpd="sng" algn="ctr">
                      <a:solidFill>
                        <a:srgbClr val="253B6E"/>
                      </a:solidFill>
                      <a:prstDash val="solid"/>
                      <a:round/>
                      <a:headEnd type="none" w="med" len="med"/>
                      <a:tailEnd type="none" w="med" len="med"/>
                    </a:lnR>
                    <a:lnT w="6350" cap="flat" cmpd="sng" algn="ctr">
                      <a:solidFill>
                        <a:srgbClr val="253B6E"/>
                      </a:solidFill>
                      <a:prstDash val="solid"/>
                      <a:round/>
                      <a:headEnd type="none" w="med" len="med"/>
                      <a:tailEnd type="none" w="med" len="med"/>
                    </a:lnT>
                    <a:lnB w="6350" cap="flat" cmpd="sng" algn="ctr">
                      <a:solidFill>
                        <a:srgbClr val="253B6E"/>
                      </a:solidFill>
                      <a:prstDash val="solid"/>
                      <a:round/>
                      <a:headEnd type="none" w="med" len="med"/>
                      <a:tailEnd type="none" w="med" len="med"/>
                    </a:lnB>
                    <a:solidFill>
                      <a:srgbClr val="162447"/>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05 · AUTHENTICATION FLOW</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Cognito Configuration</a:t>
            </a:r>
            <a:endParaRPr lang="en-US" sz="3000" dirty="0"/>
          </a:p>
        </p:txBody>
      </p:sp>
      <p:sp>
        <p:nvSpPr>
          <p:cNvPr id="8" name="Shape 6"/>
          <p:cNvSpPr/>
          <p:nvPr/>
        </p:nvSpPr>
        <p:spPr>
          <a:xfrm>
            <a:off x="274320" y="1261872"/>
            <a:ext cx="5468112" cy="3107817"/>
          </a:xfrm>
          <a:prstGeom prst="rect">
            <a:avLst/>
          </a:prstGeom>
          <a:solidFill>
            <a:srgbClr val="253B6E"/>
          </a:solidFill>
          <a:ln w="12700">
            <a:solidFill>
              <a:srgbClr val="253B6E"/>
            </a:solidFill>
            <a:prstDash val="solid"/>
          </a:ln>
        </p:spPr>
      </p:sp>
      <p:pic>
        <p:nvPicPr>
          <p:cNvPr id="9" name="Image 0" descr="/mnt/user-data/uploads/1-Cognito-User-Pool-Configuration.png"/>
          <p:cNvPicPr>
            <a:picLocks noChangeAspect="1"/>
          </p:cNvPicPr>
          <p:nvPr/>
        </p:nvPicPr>
        <p:blipFill>
          <a:blip r:embed="rId1"/>
          <a:stretch>
            <a:fillRect/>
          </a:stretch>
        </p:blipFill>
        <p:spPr>
          <a:xfrm>
            <a:off x="310896" y="1298448"/>
            <a:ext cx="5394960" cy="3034665"/>
          </a:xfrm>
          <a:prstGeom prst="rect">
            <a:avLst/>
          </a:prstGeom>
        </p:spPr>
      </p:pic>
      <p:sp>
        <p:nvSpPr>
          <p:cNvPr id="10" name="Text 7"/>
          <p:cNvSpPr/>
          <p:nvPr/>
        </p:nvSpPr>
        <p:spPr>
          <a:xfrm>
            <a:off x="310896" y="4424553"/>
            <a:ext cx="539496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1 — Cognito User Pool Overview</a:t>
            </a:r>
            <a:endParaRPr lang="en-US" sz="900" dirty="0"/>
          </a:p>
        </p:txBody>
      </p:sp>
      <p:sp>
        <p:nvSpPr>
          <p:cNvPr id="11" name="Shape 8"/>
          <p:cNvSpPr/>
          <p:nvPr/>
        </p:nvSpPr>
        <p:spPr>
          <a:xfrm>
            <a:off x="6446520" y="1261872"/>
            <a:ext cx="5468112" cy="3107817"/>
          </a:xfrm>
          <a:prstGeom prst="rect">
            <a:avLst/>
          </a:prstGeom>
          <a:solidFill>
            <a:srgbClr val="253B6E"/>
          </a:solidFill>
          <a:ln w="12700">
            <a:solidFill>
              <a:srgbClr val="253B6E"/>
            </a:solidFill>
            <a:prstDash val="solid"/>
          </a:ln>
        </p:spPr>
      </p:sp>
      <p:pic>
        <p:nvPicPr>
          <p:cNvPr id="12" name="Image 1" descr="/mnt/user-data/uploads/2-App-Client-with-OAuth-Configuration.png"/>
          <p:cNvPicPr>
            <a:picLocks noChangeAspect="1"/>
          </p:cNvPicPr>
          <p:nvPr/>
        </p:nvPicPr>
        <p:blipFill>
          <a:blip r:embed="rId2"/>
          <a:stretch>
            <a:fillRect/>
          </a:stretch>
        </p:blipFill>
        <p:spPr>
          <a:xfrm>
            <a:off x="6483096" y="1298448"/>
            <a:ext cx="5394960" cy="3034665"/>
          </a:xfrm>
          <a:prstGeom prst="rect">
            <a:avLst/>
          </a:prstGeom>
        </p:spPr>
      </p:pic>
      <p:sp>
        <p:nvSpPr>
          <p:cNvPr id="13" name="Text 9"/>
          <p:cNvSpPr/>
          <p:nvPr/>
        </p:nvSpPr>
        <p:spPr>
          <a:xfrm>
            <a:off x="6483096" y="4424553"/>
            <a:ext cx="539496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2 — App Client with OAuth 2.0 Authorization Code Grant enabled</a:t>
            </a:r>
            <a:endParaRPr lang="en-US" sz="900" dirty="0"/>
          </a:p>
        </p:txBody>
      </p:sp>
      <p:sp>
        <p:nvSpPr>
          <p:cNvPr id="14" name="Shape 10"/>
          <p:cNvSpPr/>
          <p:nvPr/>
        </p:nvSpPr>
        <p:spPr>
          <a:xfrm>
            <a:off x="320040" y="4744593"/>
            <a:ext cx="11521440" cy="457200"/>
          </a:xfrm>
          <a:prstGeom prst="rect">
            <a:avLst/>
          </a:prstGeom>
          <a:solidFill>
            <a:srgbClr val="162447"/>
          </a:solidFill>
          <a:ln w="12700">
            <a:solidFill>
              <a:srgbClr val="253B6E"/>
            </a:solidFill>
            <a:prstDash val="solid"/>
          </a:ln>
        </p:spPr>
      </p:sp>
      <p:sp>
        <p:nvSpPr>
          <p:cNvPr id="15" name="Shape 11"/>
          <p:cNvSpPr/>
          <p:nvPr/>
        </p:nvSpPr>
        <p:spPr>
          <a:xfrm>
            <a:off x="320040" y="4744593"/>
            <a:ext cx="54864" cy="457200"/>
          </a:xfrm>
          <a:prstGeom prst="rect">
            <a:avLst/>
          </a:prstGeom>
          <a:solidFill>
            <a:srgbClr val="00B4D8"/>
          </a:solidFill>
          <a:ln w="12700">
            <a:solidFill>
              <a:srgbClr val="00B4D8"/>
            </a:solidFill>
            <a:prstDash val="solid"/>
          </a:ln>
        </p:spPr>
      </p:sp>
      <p:sp>
        <p:nvSpPr>
          <p:cNvPr id="16" name="Text 12"/>
          <p:cNvSpPr/>
          <p:nvPr/>
        </p:nvSpPr>
        <p:spPr>
          <a:xfrm>
            <a:off x="475488" y="4854321"/>
            <a:ext cx="1371600" cy="256032"/>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User Pool:</a:t>
            </a:r>
            <a:endParaRPr lang="en-US" sz="1000" dirty="0"/>
          </a:p>
        </p:txBody>
      </p:sp>
      <p:sp>
        <p:nvSpPr>
          <p:cNvPr id="17" name="Text 13"/>
          <p:cNvSpPr/>
          <p:nvPr/>
        </p:nvSpPr>
        <p:spPr>
          <a:xfrm>
            <a:off x="1874520" y="4854321"/>
            <a:ext cx="9784080" cy="2560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An Amazon Cognito User Pool was created in ap-south-1. It stores user credentials and manages sign-in flows.</a:t>
            </a:r>
            <a:endParaRPr lang="en-US" sz="1000" dirty="0"/>
          </a:p>
        </p:txBody>
      </p:sp>
      <p:sp>
        <p:nvSpPr>
          <p:cNvPr id="18" name="Shape 14"/>
          <p:cNvSpPr/>
          <p:nvPr/>
        </p:nvSpPr>
        <p:spPr>
          <a:xfrm>
            <a:off x="320040" y="5293233"/>
            <a:ext cx="11521440" cy="457200"/>
          </a:xfrm>
          <a:prstGeom prst="rect">
            <a:avLst/>
          </a:prstGeom>
          <a:solidFill>
            <a:srgbClr val="162447"/>
          </a:solidFill>
          <a:ln w="12700">
            <a:solidFill>
              <a:srgbClr val="253B6E"/>
            </a:solidFill>
            <a:prstDash val="solid"/>
          </a:ln>
        </p:spPr>
      </p:sp>
      <p:sp>
        <p:nvSpPr>
          <p:cNvPr id="19" name="Shape 15"/>
          <p:cNvSpPr/>
          <p:nvPr/>
        </p:nvSpPr>
        <p:spPr>
          <a:xfrm>
            <a:off x="320040" y="5293233"/>
            <a:ext cx="54864" cy="457200"/>
          </a:xfrm>
          <a:prstGeom prst="rect">
            <a:avLst/>
          </a:prstGeom>
          <a:solidFill>
            <a:srgbClr val="00B4D8"/>
          </a:solidFill>
          <a:ln w="12700">
            <a:solidFill>
              <a:srgbClr val="00B4D8"/>
            </a:solidFill>
            <a:prstDash val="solid"/>
          </a:ln>
        </p:spPr>
      </p:sp>
      <p:sp>
        <p:nvSpPr>
          <p:cNvPr id="20" name="Text 16"/>
          <p:cNvSpPr/>
          <p:nvPr/>
        </p:nvSpPr>
        <p:spPr>
          <a:xfrm>
            <a:off x="475488" y="5402961"/>
            <a:ext cx="1371600" cy="256032"/>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App Client:</a:t>
            </a:r>
            <a:endParaRPr lang="en-US" sz="1000" dirty="0"/>
          </a:p>
        </p:txBody>
      </p:sp>
      <p:sp>
        <p:nvSpPr>
          <p:cNvPr id="21" name="Text 17"/>
          <p:cNvSpPr/>
          <p:nvPr/>
        </p:nvSpPr>
        <p:spPr>
          <a:xfrm>
            <a:off x="1874520" y="5402961"/>
            <a:ext cx="9784080" cy="2560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The App Client is configured with Authorization Code Grant, allowing OAuth 2.0 flows with email/openid scopes.</a:t>
            </a:r>
            <a:endParaRPr lang="en-US" sz="1000" dirty="0"/>
          </a:p>
        </p:txBody>
      </p:sp>
      <p:sp>
        <p:nvSpPr>
          <p:cNvPr id="22" name="Shape 18"/>
          <p:cNvSpPr/>
          <p:nvPr/>
        </p:nvSpPr>
        <p:spPr>
          <a:xfrm>
            <a:off x="320040" y="5841873"/>
            <a:ext cx="11521440" cy="457200"/>
          </a:xfrm>
          <a:prstGeom prst="rect">
            <a:avLst/>
          </a:prstGeom>
          <a:solidFill>
            <a:srgbClr val="162447"/>
          </a:solidFill>
          <a:ln w="12700">
            <a:solidFill>
              <a:srgbClr val="253B6E"/>
            </a:solidFill>
            <a:prstDash val="solid"/>
          </a:ln>
        </p:spPr>
      </p:sp>
      <p:sp>
        <p:nvSpPr>
          <p:cNvPr id="23" name="Shape 19"/>
          <p:cNvSpPr/>
          <p:nvPr/>
        </p:nvSpPr>
        <p:spPr>
          <a:xfrm>
            <a:off x="320040" y="5841873"/>
            <a:ext cx="54864" cy="457200"/>
          </a:xfrm>
          <a:prstGeom prst="rect">
            <a:avLst/>
          </a:prstGeom>
          <a:solidFill>
            <a:srgbClr val="00B4D8"/>
          </a:solidFill>
          <a:ln w="12700">
            <a:solidFill>
              <a:srgbClr val="00B4D8"/>
            </a:solidFill>
            <a:prstDash val="solid"/>
          </a:ln>
        </p:spPr>
      </p:sp>
      <p:sp>
        <p:nvSpPr>
          <p:cNvPr id="24" name="Text 20"/>
          <p:cNvSpPr/>
          <p:nvPr/>
        </p:nvSpPr>
        <p:spPr>
          <a:xfrm>
            <a:off x="475488" y="5951601"/>
            <a:ext cx="1371600" cy="256032"/>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Callback URL:</a:t>
            </a:r>
            <a:endParaRPr lang="en-US" sz="1000" dirty="0"/>
          </a:p>
        </p:txBody>
      </p:sp>
      <p:sp>
        <p:nvSpPr>
          <p:cNvPr id="25" name="Text 21"/>
          <p:cNvSpPr/>
          <p:nvPr/>
        </p:nvSpPr>
        <p:spPr>
          <a:xfrm>
            <a:off x="1874520" y="5951601"/>
            <a:ext cx="9784080" cy="2560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Development callback URL configured for local testing environment. The token exchange happens server-side — client secret stays hidden.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05 · AUTHENTICATION FLOW</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Hosted UI &amp; Authorization Code</a:t>
            </a:r>
            <a:endParaRPr lang="en-US" sz="3000" dirty="0"/>
          </a:p>
        </p:txBody>
      </p:sp>
      <p:sp>
        <p:nvSpPr>
          <p:cNvPr id="8" name="Shape 6"/>
          <p:cNvSpPr/>
          <p:nvPr/>
        </p:nvSpPr>
        <p:spPr>
          <a:xfrm>
            <a:off x="1714500" y="1261872"/>
            <a:ext cx="6016752" cy="3416427"/>
          </a:xfrm>
          <a:prstGeom prst="rect">
            <a:avLst/>
          </a:prstGeom>
          <a:solidFill>
            <a:srgbClr val="253B6E"/>
          </a:solidFill>
          <a:ln w="12700">
            <a:solidFill>
              <a:srgbClr val="253B6E"/>
            </a:solidFill>
            <a:prstDash val="solid"/>
          </a:ln>
        </p:spPr>
      </p:sp>
      <p:pic>
        <p:nvPicPr>
          <p:cNvPr id="9" name="Image 0" descr="/mnt/user-data/uploads/3-Cognito-Hosted-UI-Login-Page.png"/>
          <p:cNvPicPr>
            <a:picLocks noChangeAspect="1"/>
          </p:cNvPicPr>
          <p:nvPr/>
        </p:nvPicPr>
        <p:blipFill>
          <a:blip r:embed="rId1"/>
          <a:stretch>
            <a:fillRect/>
          </a:stretch>
        </p:blipFill>
        <p:spPr>
          <a:xfrm>
            <a:off x="1751076" y="1298448"/>
            <a:ext cx="5943600" cy="3343275"/>
          </a:xfrm>
          <a:prstGeom prst="rect">
            <a:avLst/>
          </a:prstGeom>
        </p:spPr>
      </p:pic>
      <p:sp>
        <p:nvSpPr>
          <p:cNvPr id="10" name="Text 7"/>
          <p:cNvSpPr/>
          <p:nvPr/>
        </p:nvSpPr>
        <p:spPr>
          <a:xfrm>
            <a:off x="1751076" y="4714875"/>
            <a:ext cx="594360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3 — Cognito Hosted UI Login Page</a:t>
            </a:r>
            <a:endParaRPr lang="en-US" sz="900" dirty="0"/>
          </a:p>
        </p:txBody>
      </p:sp>
      <p:sp>
        <p:nvSpPr>
          <p:cNvPr id="11" name="Shape 8"/>
          <p:cNvSpPr/>
          <p:nvPr/>
        </p:nvSpPr>
        <p:spPr>
          <a:xfrm>
            <a:off x="8023860" y="1261872"/>
            <a:ext cx="3881628" cy="2215420"/>
          </a:xfrm>
          <a:prstGeom prst="rect">
            <a:avLst/>
          </a:prstGeom>
          <a:solidFill>
            <a:srgbClr val="253B6E"/>
          </a:solidFill>
          <a:ln w="12700">
            <a:solidFill>
              <a:srgbClr val="253B6E"/>
            </a:solidFill>
            <a:prstDash val="solid"/>
          </a:ln>
        </p:spPr>
      </p:sp>
      <p:pic>
        <p:nvPicPr>
          <p:cNvPr id="12" name="Image 1" descr="/mnt/user-data/uploads/4-Authorization-Code-Received-After-Login.png"/>
          <p:cNvPicPr>
            <a:picLocks noChangeAspect="1"/>
          </p:cNvPicPr>
          <p:nvPr/>
        </p:nvPicPr>
        <p:blipFill>
          <a:blip r:embed="rId2"/>
          <a:stretch>
            <a:fillRect/>
          </a:stretch>
        </p:blipFill>
        <p:spPr>
          <a:xfrm>
            <a:off x="8060436" y="1298448"/>
            <a:ext cx="3808476" cy="2142268"/>
          </a:xfrm>
          <a:prstGeom prst="rect">
            <a:avLst/>
          </a:prstGeom>
        </p:spPr>
      </p:pic>
      <p:sp>
        <p:nvSpPr>
          <p:cNvPr id="13" name="Text 9"/>
          <p:cNvSpPr/>
          <p:nvPr/>
        </p:nvSpPr>
        <p:spPr>
          <a:xfrm>
            <a:off x="8060436" y="3513868"/>
            <a:ext cx="3808476"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4 — Authorization Code appended to redirect URL after login</a:t>
            </a:r>
            <a:endParaRPr lang="en-US" sz="900" dirty="0"/>
          </a:p>
        </p:txBody>
      </p:sp>
      <p:sp>
        <p:nvSpPr>
          <p:cNvPr id="14" name="Shape 10"/>
          <p:cNvSpPr/>
          <p:nvPr/>
        </p:nvSpPr>
        <p:spPr>
          <a:xfrm>
            <a:off x="320040" y="5025771"/>
            <a:ext cx="11521440" cy="502920"/>
          </a:xfrm>
          <a:prstGeom prst="rect">
            <a:avLst/>
          </a:prstGeom>
          <a:solidFill>
            <a:srgbClr val="162447"/>
          </a:solidFill>
          <a:ln w="12700">
            <a:solidFill>
              <a:srgbClr val="253B6E"/>
            </a:solidFill>
            <a:prstDash val="solid"/>
          </a:ln>
        </p:spPr>
      </p:sp>
      <p:sp>
        <p:nvSpPr>
          <p:cNvPr id="15" name="Shape 11"/>
          <p:cNvSpPr/>
          <p:nvPr/>
        </p:nvSpPr>
        <p:spPr>
          <a:xfrm>
            <a:off x="320040" y="5025771"/>
            <a:ext cx="54864" cy="502920"/>
          </a:xfrm>
          <a:prstGeom prst="rect">
            <a:avLst/>
          </a:prstGeom>
          <a:solidFill>
            <a:srgbClr val="FF9900"/>
          </a:solidFill>
          <a:ln w="12700">
            <a:solidFill>
              <a:srgbClr val="FF9900"/>
            </a:solidFill>
            <a:prstDash val="solid"/>
          </a:ln>
        </p:spPr>
      </p:sp>
      <p:sp>
        <p:nvSpPr>
          <p:cNvPr id="16" name="Text 12"/>
          <p:cNvSpPr/>
          <p:nvPr/>
        </p:nvSpPr>
        <p:spPr>
          <a:xfrm>
            <a:off x="475488" y="5153787"/>
            <a:ext cx="1828800" cy="256032"/>
          </a:xfrm>
          <a:prstGeom prst="rect">
            <a:avLst/>
          </a:prstGeom>
          <a:noFill/>
          <a:ln/>
        </p:spPr>
        <p:txBody>
          <a:bodyPr wrap="square" lIns="0" tIns="0" rIns="0" bIns="0" rtlCol="0" anchor="ctr"/>
          <a:lstStyle/>
          <a:p>
            <a:pPr indent="0" marL="0">
              <a:buNone/>
            </a:pPr>
            <a:r>
              <a:rPr lang="en-US" sz="1000" b="1" dirty="0">
                <a:solidFill>
                  <a:srgbClr val="FF9900"/>
                </a:solidFill>
                <a:latin typeface="Calibri" pitchFamily="34" charset="0"/>
                <a:ea typeface="Calibri" pitchFamily="34" charset="-122"/>
                <a:cs typeface="Calibri" pitchFamily="34" charset="-120"/>
              </a:rPr>
              <a:t>Hosted UI:</a:t>
            </a:r>
            <a:endParaRPr lang="en-US" sz="1000" dirty="0"/>
          </a:p>
        </p:txBody>
      </p:sp>
      <p:sp>
        <p:nvSpPr>
          <p:cNvPr id="17" name="Text 13"/>
          <p:cNvSpPr/>
          <p:nvPr/>
        </p:nvSpPr>
        <p:spPr>
          <a:xfrm>
            <a:off x="2331720" y="5153787"/>
            <a:ext cx="9326880" cy="2560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Cognito manages the login page — no custom auth UI needs to be built. The URL includes the client_id, response_type=code, scope, and redirect_uri.</a:t>
            </a:r>
            <a:endParaRPr lang="en-US" sz="1000" dirty="0"/>
          </a:p>
        </p:txBody>
      </p:sp>
      <p:sp>
        <p:nvSpPr>
          <p:cNvPr id="18" name="Shape 14"/>
          <p:cNvSpPr/>
          <p:nvPr/>
        </p:nvSpPr>
        <p:spPr>
          <a:xfrm>
            <a:off x="320040" y="5620131"/>
            <a:ext cx="11521440" cy="502920"/>
          </a:xfrm>
          <a:prstGeom prst="rect">
            <a:avLst/>
          </a:prstGeom>
          <a:solidFill>
            <a:srgbClr val="162447"/>
          </a:solidFill>
          <a:ln w="12700">
            <a:solidFill>
              <a:srgbClr val="253B6E"/>
            </a:solidFill>
            <a:prstDash val="solid"/>
          </a:ln>
        </p:spPr>
      </p:sp>
      <p:sp>
        <p:nvSpPr>
          <p:cNvPr id="19" name="Shape 15"/>
          <p:cNvSpPr/>
          <p:nvPr/>
        </p:nvSpPr>
        <p:spPr>
          <a:xfrm>
            <a:off x="320040" y="5620131"/>
            <a:ext cx="54864" cy="502920"/>
          </a:xfrm>
          <a:prstGeom prst="rect">
            <a:avLst/>
          </a:prstGeom>
          <a:solidFill>
            <a:srgbClr val="FF9900"/>
          </a:solidFill>
          <a:ln w="12700">
            <a:solidFill>
              <a:srgbClr val="FF9900"/>
            </a:solidFill>
            <a:prstDash val="solid"/>
          </a:ln>
        </p:spPr>
      </p:sp>
      <p:sp>
        <p:nvSpPr>
          <p:cNvPr id="20" name="Text 16"/>
          <p:cNvSpPr/>
          <p:nvPr/>
        </p:nvSpPr>
        <p:spPr>
          <a:xfrm>
            <a:off x="475488" y="5748147"/>
            <a:ext cx="1828800" cy="256032"/>
          </a:xfrm>
          <a:prstGeom prst="rect">
            <a:avLst/>
          </a:prstGeom>
          <a:noFill/>
          <a:ln/>
        </p:spPr>
        <p:txBody>
          <a:bodyPr wrap="square" lIns="0" tIns="0" rIns="0" bIns="0" rtlCol="0" anchor="ctr"/>
          <a:lstStyle/>
          <a:p>
            <a:pPr indent="0" marL="0">
              <a:buNone/>
            </a:pPr>
            <a:r>
              <a:rPr lang="en-US" sz="1000" b="1" dirty="0">
                <a:solidFill>
                  <a:srgbClr val="FF9900"/>
                </a:solidFill>
                <a:latin typeface="Calibri" pitchFamily="34" charset="0"/>
                <a:ea typeface="Calibri" pitchFamily="34" charset="-122"/>
                <a:cs typeface="Calibri" pitchFamily="34" charset="-120"/>
              </a:rPr>
              <a:t>Authorization Code:</a:t>
            </a:r>
            <a:endParaRPr lang="en-US" sz="1000" dirty="0"/>
          </a:p>
        </p:txBody>
      </p:sp>
      <p:sp>
        <p:nvSpPr>
          <p:cNvPr id="21" name="Text 17"/>
          <p:cNvSpPr/>
          <p:nvPr/>
        </p:nvSpPr>
        <p:spPr>
          <a:xfrm>
            <a:off x="2331720" y="5748147"/>
            <a:ext cx="9326880" cy="2560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After successful login, Cognito redirects the user back to the callback URL with a short-lived authorization code appended as a query parameter (?code=...).</a:t>
            </a:r>
            <a:endParaRPr lang="en-US" sz="1000" dirty="0"/>
          </a:p>
        </p:txBody>
      </p:sp>
      <p:sp>
        <p:nvSpPr>
          <p:cNvPr id="22" name="Shape 18"/>
          <p:cNvSpPr/>
          <p:nvPr/>
        </p:nvSpPr>
        <p:spPr>
          <a:xfrm>
            <a:off x="320040" y="6214491"/>
            <a:ext cx="11521440" cy="502920"/>
          </a:xfrm>
          <a:prstGeom prst="rect">
            <a:avLst/>
          </a:prstGeom>
          <a:solidFill>
            <a:srgbClr val="162447"/>
          </a:solidFill>
          <a:ln w="12700">
            <a:solidFill>
              <a:srgbClr val="253B6E"/>
            </a:solidFill>
            <a:prstDash val="solid"/>
          </a:ln>
        </p:spPr>
      </p:sp>
      <p:sp>
        <p:nvSpPr>
          <p:cNvPr id="23" name="Shape 19"/>
          <p:cNvSpPr/>
          <p:nvPr/>
        </p:nvSpPr>
        <p:spPr>
          <a:xfrm>
            <a:off x="320040" y="6214491"/>
            <a:ext cx="54864" cy="502920"/>
          </a:xfrm>
          <a:prstGeom prst="rect">
            <a:avLst/>
          </a:prstGeom>
          <a:solidFill>
            <a:srgbClr val="FF9900"/>
          </a:solidFill>
          <a:ln w="12700">
            <a:solidFill>
              <a:srgbClr val="FF9900"/>
            </a:solidFill>
            <a:prstDash val="solid"/>
          </a:ln>
        </p:spPr>
      </p:sp>
      <p:sp>
        <p:nvSpPr>
          <p:cNvPr id="24" name="Text 20"/>
          <p:cNvSpPr/>
          <p:nvPr/>
        </p:nvSpPr>
        <p:spPr>
          <a:xfrm>
            <a:off x="475488" y="6342507"/>
            <a:ext cx="1828800" cy="256032"/>
          </a:xfrm>
          <a:prstGeom prst="rect">
            <a:avLst/>
          </a:prstGeom>
          <a:noFill/>
          <a:ln/>
        </p:spPr>
        <p:txBody>
          <a:bodyPr wrap="square" lIns="0" tIns="0" rIns="0" bIns="0" rtlCol="0" anchor="ctr"/>
          <a:lstStyle/>
          <a:p>
            <a:pPr indent="0" marL="0">
              <a:buNone/>
            </a:pPr>
            <a:r>
              <a:rPr lang="en-US" sz="1000" b="1" dirty="0">
                <a:solidFill>
                  <a:srgbClr val="FF9900"/>
                </a:solidFill>
                <a:latin typeface="Calibri" pitchFamily="34" charset="0"/>
                <a:ea typeface="Calibri" pitchFamily="34" charset="-122"/>
                <a:cs typeface="Calibri" pitchFamily="34" charset="-120"/>
              </a:rPr>
              <a:t>Why Code, Not Token?:</a:t>
            </a:r>
            <a:endParaRPr lang="en-US" sz="1000" dirty="0"/>
          </a:p>
        </p:txBody>
      </p:sp>
      <p:sp>
        <p:nvSpPr>
          <p:cNvPr id="25" name="Text 21"/>
          <p:cNvSpPr/>
          <p:nvPr/>
        </p:nvSpPr>
        <p:spPr>
          <a:xfrm>
            <a:off x="2331720" y="6342507"/>
            <a:ext cx="9326880" cy="2560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The code grant pattern prevents tokens from appearing in browser history or server logs. The actual token exchange happens server-side via Lambda.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06 · TOKEN EXCHANGE &amp; JWT FLOW</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Token Exchange &amp; JWT Flow</a:t>
            </a:r>
            <a:endParaRPr lang="en-US" sz="3000" dirty="0"/>
          </a:p>
        </p:txBody>
      </p:sp>
      <p:sp>
        <p:nvSpPr>
          <p:cNvPr id="8" name="Shape 6"/>
          <p:cNvSpPr/>
          <p:nvPr/>
        </p:nvSpPr>
        <p:spPr>
          <a:xfrm>
            <a:off x="320040" y="1325880"/>
            <a:ext cx="2148840" cy="1417320"/>
          </a:xfrm>
          <a:prstGeom prst="rect">
            <a:avLst/>
          </a:prstGeom>
          <a:solidFill>
            <a:srgbClr val="162447"/>
          </a:solidFill>
          <a:ln w="12700">
            <a:solidFill>
              <a:srgbClr val="FF9900"/>
            </a:solidFill>
            <a:prstDash val="solid"/>
          </a:ln>
        </p:spPr>
      </p:sp>
      <p:pic>
        <p:nvPicPr>
          <p:cNvPr id="9" name="Image 0" descr="preencoded.png"/>
          <p:cNvPicPr>
            <a:picLocks noChangeAspect="1"/>
          </p:cNvPicPr>
          <p:nvPr/>
        </p:nvPicPr>
        <p:blipFill>
          <a:blip r:embed="rId1"/>
          <a:stretch>
            <a:fillRect/>
          </a:stretch>
        </p:blipFill>
        <p:spPr>
          <a:xfrm>
            <a:off x="1143000" y="1444752"/>
            <a:ext cx="411480" cy="411480"/>
          </a:xfrm>
          <a:prstGeom prst="rect">
            <a:avLst/>
          </a:prstGeom>
        </p:spPr>
      </p:pic>
      <p:sp>
        <p:nvSpPr>
          <p:cNvPr id="10" name="Text 7"/>
          <p:cNvSpPr/>
          <p:nvPr/>
        </p:nvSpPr>
        <p:spPr>
          <a:xfrm>
            <a:off x="411480" y="1920240"/>
            <a:ext cx="1965960" cy="457200"/>
          </a:xfrm>
          <a:prstGeom prst="rect">
            <a:avLst/>
          </a:prstGeom>
          <a:noFill/>
          <a:ln/>
        </p:spPr>
        <p:txBody>
          <a:bodyPr wrap="square" lIns="0" tIns="0" rIns="0" bIns="0"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Authorization Code</a:t>
            </a:r>
            <a:endParaRPr lang="en-US" sz="1000" dirty="0"/>
          </a:p>
        </p:txBody>
      </p:sp>
      <p:sp>
        <p:nvSpPr>
          <p:cNvPr id="11" name="Text 8"/>
          <p:cNvSpPr/>
          <p:nvPr/>
        </p:nvSpPr>
        <p:spPr>
          <a:xfrm>
            <a:off x="411480" y="2377440"/>
            <a:ext cx="1965960" cy="32004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from Cognito redirect URL</a:t>
            </a:r>
            <a:endParaRPr lang="en-US" sz="850" dirty="0"/>
          </a:p>
        </p:txBody>
      </p:sp>
      <p:pic>
        <p:nvPicPr>
          <p:cNvPr id="12" name="Image 1" descr="preencoded.png"/>
          <p:cNvPicPr>
            <a:picLocks noChangeAspect="1"/>
          </p:cNvPicPr>
          <p:nvPr/>
        </p:nvPicPr>
        <p:blipFill>
          <a:blip r:embed="rId2"/>
          <a:stretch>
            <a:fillRect/>
          </a:stretch>
        </p:blipFill>
        <p:spPr>
          <a:xfrm>
            <a:off x="2514600" y="1828800"/>
            <a:ext cx="228600" cy="228600"/>
          </a:xfrm>
          <a:prstGeom prst="rect">
            <a:avLst/>
          </a:prstGeom>
        </p:spPr>
      </p:pic>
      <p:sp>
        <p:nvSpPr>
          <p:cNvPr id="13" name="Shape 9"/>
          <p:cNvSpPr/>
          <p:nvPr/>
        </p:nvSpPr>
        <p:spPr>
          <a:xfrm>
            <a:off x="2697480" y="1325880"/>
            <a:ext cx="2148840" cy="1417320"/>
          </a:xfrm>
          <a:prstGeom prst="rect">
            <a:avLst/>
          </a:prstGeom>
          <a:solidFill>
            <a:srgbClr val="162447"/>
          </a:solidFill>
          <a:ln w="12700">
            <a:solidFill>
              <a:srgbClr val="00B4D8"/>
            </a:solidFill>
            <a:prstDash val="solid"/>
          </a:ln>
        </p:spPr>
      </p:sp>
      <p:pic>
        <p:nvPicPr>
          <p:cNvPr id="14" name="Image 2" descr="preencoded.png"/>
          <p:cNvPicPr>
            <a:picLocks noChangeAspect="1"/>
          </p:cNvPicPr>
          <p:nvPr/>
        </p:nvPicPr>
        <p:blipFill>
          <a:blip r:embed="rId3"/>
          <a:stretch>
            <a:fillRect/>
          </a:stretch>
        </p:blipFill>
        <p:spPr>
          <a:xfrm>
            <a:off x="3520440" y="1444752"/>
            <a:ext cx="411480" cy="411480"/>
          </a:xfrm>
          <a:prstGeom prst="rect">
            <a:avLst/>
          </a:prstGeom>
        </p:spPr>
      </p:pic>
      <p:sp>
        <p:nvSpPr>
          <p:cNvPr id="15" name="Text 10"/>
          <p:cNvSpPr/>
          <p:nvPr/>
        </p:nvSpPr>
        <p:spPr>
          <a:xfrm>
            <a:off x="2788920" y="1920240"/>
            <a:ext cx="1965960" cy="457200"/>
          </a:xfrm>
          <a:prstGeom prst="rect">
            <a:avLst/>
          </a:prstGeom>
          <a:noFill/>
          <a:ln/>
        </p:spPr>
        <p:txBody>
          <a:bodyPr wrap="square" lIns="0" tIns="0" rIns="0" bIns="0" rtlCol="0" anchor="ctr"/>
          <a:lstStyle/>
          <a:p>
            <a:pPr algn="ctr" indent="0" marL="0">
              <a:buNone/>
            </a:pPr>
            <a:r>
              <a:rPr lang="en-US" sz="1000" b="1" dirty="0">
                <a:solidFill>
                  <a:srgbClr val="00B4D8"/>
                </a:solidFill>
                <a:latin typeface="Calibri" pitchFamily="34" charset="0"/>
                <a:ea typeface="Calibri" pitchFamily="34" charset="-122"/>
                <a:cs typeface="Calibri" pitchFamily="34" charset="-120"/>
              </a:rPr>
              <a:t>POST /token API</a:t>
            </a:r>
            <a:endParaRPr lang="en-US" sz="1000" dirty="0"/>
          </a:p>
        </p:txBody>
      </p:sp>
      <p:sp>
        <p:nvSpPr>
          <p:cNvPr id="16" name="Text 11"/>
          <p:cNvSpPr/>
          <p:nvPr/>
        </p:nvSpPr>
        <p:spPr>
          <a:xfrm>
            <a:off x="2788920" y="2377440"/>
            <a:ext cx="1965960" cy="32004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sent to API Gateway endpoint</a:t>
            </a:r>
            <a:endParaRPr lang="en-US" sz="850" dirty="0"/>
          </a:p>
        </p:txBody>
      </p:sp>
      <p:pic>
        <p:nvPicPr>
          <p:cNvPr id="17" name="Image 3" descr="preencoded.png"/>
          <p:cNvPicPr>
            <a:picLocks noChangeAspect="1"/>
          </p:cNvPicPr>
          <p:nvPr/>
        </p:nvPicPr>
        <p:blipFill>
          <a:blip r:embed="rId4"/>
          <a:stretch>
            <a:fillRect/>
          </a:stretch>
        </p:blipFill>
        <p:spPr>
          <a:xfrm>
            <a:off x="4892040" y="1828800"/>
            <a:ext cx="228600" cy="228600"/>
          </a:xfrm>
          <a:prstGeom prst="rect">
            <a:avLst/>
          </a:prstGeom>
        </p:spPr>
      </p:pic>
      <p:sp>
        <p:nvSpPr>
          <p:cNvPr id="18" name="Shape 12"/>
          <p:cNvSpPr/>
          <p:nvPr/>
        </p:nvSpPr>
        <p:spPr>
          <a:xfrm>
            <a:off x="5074920" y="1325880"/>
            <a:ext cx="2148840" cy="1417320"/>
          </a:xfrm>
          <a:prstGeom prst="rect">
            <a:avLst/>
          </a:prstGeom>
          <a:solidFill>
            <a:srgbClr val="162447"/>
          </a:solidFill>
          <a:ln w="12700">
            <a:solidFill>
              <a:srgbClr val="1A73E8"/>
            </a:solidFill>
            <a:prstDash val="solid"/>
          </a:ln>
        </p:spPr>
      </p:sp>
      <p:pic>
        <p:nvPicPr>
          <p:cNvPr id="19" name="Image 4" descr="preencoded.png"/>
          <p:cNvPicPr>
            <a:picLocks noChangeAspect="1"/>
          </p:cNvPicPr>
          <p:nvPr/>
        </p:nvPicPr>
        <p:blipFill>
          <a:blip r:embed="rId5"/>
          <a:stretch>
            <a:fillRect/>
          </a:stretch>
        </p:blipFill>
        <p:spPr>
          <a:xfrm>
            <a:off x="5897880" y="1444752"/>
            <a:ext cx="411480" cy="411480"/>
          </a:xfrm>
          <a:prstGeom prst="rect">
            <a:avLst/>
          </a:prstGeom>
        </p:spPr>
      </p:pic>
      <p:sp>
        <p:nvSpPr>
          <p:cNvPr id="20" name="Text 13"/>
          <p:cNvSpPr/>
          <p:nvPr/>
        </p:nvSpPr>
        <p:spPr>
          <a:xfrm>
            <a:off x="5166360" y="1920240"/>
            <a:ext cx="1965960" cy="457200"/>
          </a:xfrm>
          <a:prstGeom prst="rect">
            <a:avLst/>
          </a:prstGeom>
          <a:noFill/>
          <a:ln/>
        </p:spPr>
        <p:txBody>
          <a:bodyPr wrap="square" lIns="0" tIns="0" rIns="0" bIns="0" rtlCol="0" anchor="ctr"/>
          <a:lstStyle/>
          <a:p>
            <a:pPr algn="ctr" indent="0" marL="0">
              <a:buNone/>
            </a:pPr>
            <a:r>
              <a:rPr lang="en-US" sz="1000" b="1" dirty="0">
                <a:solidFill>
                  <a:srgbClr val="1A73E8"/>
                </a:solidFill>
                <a:latin typeface="Calibri" pitchFamily="34" charset="0"/>
                <a:ea typeface="Calibri" pitchFamily="34" charset="-122"/>
                <a:cs typeface="Calibri" pitchFamily="34" charset="-120"/>
              </a:rPr>
              <a:t>Lambda Handler</a:t>
            </a:r>
            <a:endParaRPr lang="en-US" sz="1000" dirty="0"/>
          </a:p>
        </p:txBody>
      </p:sp>
      <p:sp>
        <p:nvSpPr>
          <p:cNvPr id="21" name="Text 14"/>
          <p:cNvSpPr/>
          <p:nvPr/>
        </p:nvSpPr>
        <p:spPr>
          <a:xfrm>
            <a:off x="5166360" y="2377440"/>
            <a:ext cx="1965960" cy="32004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receives the authorization code</a:t>
            </a:r>
            <a:endParaRPr lang="en-US" sz="850" dirty="0"/>
          </a:p>
        </p:txBody>
      </p:sp>
      <p:pic>
        <p:nvPicPr>
          <p:cNvPr id="22" name="Image 5" descr="preencoded.png"/>
          <p:cNvPicPr>
            <a:picLocks noChangeAspect="1"/>
          </p:cNvPicPr>
          <p:nvPr/>
        </p:nvPicPr>
        <p:blipFill>
          <a:blip r:embed="rId6"/>
          <a:stretch>
            <a:fillRect/>
          </a:stretch>
        </p:blipFill>
        <p:spPr>
          <a:xfrm>
            <a:off x="7269480" y="1828800"/>
            <a:ext cx="228600" cy="228600"/>
          </a:xfrm>
          <a:prstGeom prst="rect">
            <a:avLst/>
          </a:prstGeom>
        </p:spPr>
      </p:pic>
      <p:sp>
        <p:nvSpPr>
          <p:cNvPr id="23" name="Shape 15"/>
          <p:cNvSpPr/>
          <p:nvPr/>
        </p:nvSpPr>
        <p:spPr>
          <a:xfrm>
            <a:off x="7452360" y="1325880"/>
            <a:ext cx="2148840" cy="1417320"/>
          </a:xfrm>
          <a:prstGeom prst="rect">
            <a:avLst/>
          </a:prstGeom>
          <a:solidFill>
            <a:srgbClr val="162447"/>
          </a:solidFill>
          <a:ln w="12700">
            <a:solidFill>
              <a:srgbClr val="2ECC71"/>
            </a:solidFill>
            <a:prstDash val="solid"/>
          </a:ln>
        </p:spPr>
      </p:sp>
      <p:pic>
        <p:nvPicPr>
          <p:cNvPr id="24" name="Image 6" descr="preencoded.png"/>
          <p:cNvPicPr>
            <a:picLocks noChangeAspect="1"/>
          </p:cNvPicPr>
          <p:nvPr/>
        </p:nvPicPr>
        <p:blipFill>
          <a:blip r:embed="rId7"/>
          <a:stretch>
            <a:fillRect/>
          </a:stretch>
        </p:blipFill>
        <p:spPr>
          <a:xfrm>
            <a:off x="8275320" y="1444752"/>
            <a:ext cx="411480" cy="411480"/>
          </a:xfrm>
          <a:prstGeom prst="rect">
            <a:avLst/>
          </a:prstGeom>
        </p:spPr>
      </p:pic>
      <p:sp>
        <p:nvSpPr>
          <p:cNvPr id="25" name="Text 16"/>
          <p:cNvSpPr/>
          <p:nvPr/>
        </p:nvSpPr>
        <p:spPr>
          <a:xfrm>
            <a:off x="7543800" y="1920240"/>
            <a:ext cx="1965960" cy="457200"/>
          </a:xfrm>
          <a:prstGeom prst="rect">
            <a:avLst/>
          </a:prstGeom>
          <a:noFill/>
          <a:ln/>
        </p:spPr>
        <p:txBody>
          <a:bodyPr wrap="square" lIns="0" tIns="0" rIns="0" bIns="0" rtlCol="0" anchor="ctr"/>
          <a:lstStyle/>
          <a:p>
            <a:pPr algn="ctr" indent="0" marL="0">
              <a:buNone/>
            </a:pPr>
            <a:r>
              <a:rPr lang="en-US" sz="1000" b="1" dirty="0">
                <a:solidFill>
                  <a:srgbClr val="2ECC71"/>
                </a:solidFill>
                <a:latin typeface="Calibri" pitchFamily="34" charset="0"/>
                <a:ea typeface="Calibri" pitchFamily="34" charset="-122"/>
                <a:cs typeface="Calibri" pitchFamily="34" charset="-120"/>
              </a:rPr>
              <a:t>Cognito Token Endpoint</a:t>
            </a:r>
            <a:endParaRPr lang="en-US" sz="1000" dirty="0"/>
          </a:p>
        </p:txBody>
      </p:sp>
      <p:sp>
        <p:nvSpPr>
          <p:cNvPr id="26" name="Text 17"/>
          <p:cNvSpPr/>
          <p:nvPr/>
        </p:nvSpPr>
        <p:spPr>
          <a:xfrm>
            <a:off x="7543800" y="2377440"/>
            <a:ext cx="1965960" cy="32004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backend POSTs code + client secret</a:t>
            </a:r>
            <a:endParaRPr lang="en-US" sz="850" dirty="0"/>
          </a:p>
        </p:txBody>
      </p:sp>
      <p:pic>
        <p:nvPicPr>
          <p:cNvPr id="27" name="Image 7" descr="preencoded.png"/>
          <p:cNvPicPr>
            <a:picLocks noChangeAspect="1"/>
          </p:cNvPicPr>
          <p:nvPr/>
        </p:nvPicPr>
        <p:blipFill>
          <a:blip r:embed="rId8"/>
          <a:stretch>
            <a:fillRect/>
          </a:stretch>
        </p:blipFill>
        <p:spPr>
          <a:xfrm>
            <a:off x="9646920" y="1828800"/>
            <a:ext cx="228600" cy="228600"/>
          </a:xfrm>
          <a:prstGeom prst="rect">
            <a:avLst/>
          </a:prstGeom>
        </p:spPr>
      </p:pic>
      <p:sp>
        <p:nvSpPr>
          <p:cNvPr id="28" name="Shape 18"/>
          <p:cNvSpPr/>
          <p:nvPr/>
        </p:nvSpPr>
        <p:spPr>
          <a:xfrm>
            <a:off x="9829800" y="1325880"/>
            <a:ext cx="2148840" cy="1417320"/>
          </a:xfrm>
          <a:prstGeom prst="rect">
            <a:avLst/>
          </a:prstGeom>
          <a:solidFill>
            <a:srgbClr val="162447"/>
          </a:solidFill>
          <a:ln w="12700">
            <a:solidFill>
              <a:srgbClr val="FF9900"/>
            </a:solidFill>
            <a:prstDash val="solid"/>
          </a:ln>
        </p:spPr>
      </p:sp>
      <p:pic>
        <p:nvPicPr>
          <p:cNvPr id="29" name="Image 8" descr="preencoded.png"/>
          <p:cNvPicPr>
            <a:picLocks noChangeAspect="1"/>
          </p:cNvPicPr>
          <p:nvPr/>
        </p:nvPicPr>
        <p:blipFill>
          <a:blip r:embed="rId9"/>
          <a:stretch>
            <a:fillRect/>
          </a:stretch>
        </p:blipFill>
        <p:spPr>
          <a:xfrm>
            <a:off x="10652760" y="1444752"/>
            <a:ext cx="411480" cy="411480"/>
          </a:xfrm>
          <a:prstGeom prst="rect">
            <a:avLst/>
          </a:prstGeom>
        </p:spPr>
      </p:pic>
      <p:sp>
        <p:nvSpPr>
          <p:cNvPr id="30" name="Text 19"/>
          <p:cNvSpPr/>
          <p:nvPr/>
        </p:nvSpPr>
        <p:spPr>
          <a:xfrm>
            <a:off x="9921240" y="1920240"/>
            <a:ext cx="1965960" cy="457200"/>
          </a:xfrm>
          <a:prstGeom prst="rect">
            <a:avLst/>
          </a:prstGeom>
          <a:noFill/>
          <a:ln/>
        </p:spPr>
        <p:txBody>
          <a:bodyPr wrap="square" lIns="0" tIns="0" rIns="0" bIns="0" rtlCol="0" anchor="ctr"/>
          <a:lstStyle/>
          <a:p>
            <a:pPr algn="ctr" indent="0" marL="0">
              <a:buNone/>
            </a:pPr>
            <a:r>
              <a:rPr lang="en-US" sz="1000" b="1" dirty="0">
                <a:solidFill>
                  <a:srgbClr val="FF9900"/>
                </a:solidFill>
                <a:latin typeface="Calibri" pitchFamily="34" charset="0"/>
                <a:ea typeface="Calibri" pitchFamily="34" charset="-122"/>
                <a:cs typeface="Calibri" pitchFamily="34" charset="-120"/>
              </a:rPr>
              <a:t>JWT Tokens Returned</a:t>
            </a:r>
            <a:endParaRPr lang="en-US" sz="1000" dirty="0"/>
          </a:p>
        </p:txBody>
      </p:sp>
      <p:sp>
        <p:nvSpPr>
          <p:cNvPr id="31" name="Text 20"/>
          <p:cNvSpPr/>
          <p:nvPr/>
        </p:nvSpPr>
        <p:spPr>
          <a:xfrm>
            <a:off x="9921240" y="2377440"/>
            <a:ext cx="1965960" cy="32004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id_token, access_token, refresh_token</a:t>
            </a:r>
            <a:endParaRPr lang="en-US" sz="850" dirty="0"/>
          </a:p>
        </p:txBody>
      </p:sp>
      <p:sp>
        <p:nvSpPr>
          <p:cNvPr id="32" name="Shape 21"/>
          <p:cNvSpPr/>
          <p:nvPr/>
        </p:nvSpPr>
        <p:spPr>
          <a:xfrm>
            <a:off x="320040" y="2971800"/>
            <a:ext cx="11521440" cy="1051560"/>
          </a:xfrm>
          <a:prstGeom prst="rect">
            <a:avLst/>
          </a:prstGeom>
          <a:solidFill>
            <a:srgbClr val="1E3A6E"/>
          </a:solidFill>
          <a:ln w="12700">
            <a:solidFill>
              <a:srgbClr val="00B4D8"/>
            </a:solidFill>
            <a:prstDash val="solid"/>
          </a:ln>
        </p:spPr>
      </p:sp>
      <p:pic>
        <p:nvPicPr>
          <p:cNvPr id="33" name="Image 9" descr="preencoded.png"/>
          <p:cNvPicPr>
            <a:picLocks noChangeAspect="1"/>
          </p:cNvPicPr>
          <p:nvPr/>
        </p:nvPicPr>
        <p:blipFill>
          <a:blip r:embed="rId10"/>
          <a:stretch>
            <a:fillRect/>
          </a:stretch>
        </p:blipFill>
        <p:spPr>
          <a:xfrm>
            <a:off x="502920" y="3108960"/>
            <a:ext cx="411480" cy="411480"/>
          </a:xfrm>
          <a:prstGeom prst="rect">
            <a:avLst/>
          </a:prstGeom>
        </p:spPr>
      </p:pic>
      <p:sp>
        <p:nvSpPr>
          <p:cNvPr id="34" name="Text 22"/>
          <p:cNvSpPr/>
          <p:nvPr/>
        </p:nvSpPr>
        <p:spPr>
          <a:xfrm>
            <a:off x="1005840" y="3017520"/>
            <a:ext cx="10058400" cy="274320"/>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Why Backend Token Exchange?</a:t>
            </a:r>
            <a:endParaRPr lang="en-US" sz="1300" dirty="0"/>
          </a:p>
        </p:txBody>
      </p:sp>
      <p:sp>
        <p:nvSpPr>
          <p:cNvPr id="35" name="Text 23"/>
          <p:cNvSpPr/>
          <p:nvPr/>
        </p:nvSpPr>
        <p:spPr>
          <a:xfrm>
            <a:off x="1005840" y="3319272"/>
            <a:ext cx="10607040" cy="594360"/>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The client secret attached to the Cognito App Client must NEVER be exposed in frontend JavaScript. If the token exchange happened in the browser, the secret would be visible in the source code. By routing it through Lambda, the secret stays in the backend environment — inaccessible to users.</a:t>
            </a:r>
            <a:endParaRPr lang="en-US" sz="1050" dirty="0"/>
          </a:p>
        </p:txBody>
      </p:sp>
      <p:sp>
        <p:nvSpPr>
          <p:cNvPr id="36" name="Text 24"/>
          <p:cNvSpPr/>
          <p:nvPr/>
        </p:nvSpPr>
        <p:spPr>
          <a:xfrm>
            <a:off x="320040" y="4206240"/>
            <a:ext cx="115214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What's Inside the JWT?</a:t>
            </a:r>
            <a:endParaRPr lang="en-US" sz="1300" dirty="0"/>
          </a:p>
        </p:txBody>
      </p:sp>
      <p:sp>
        <p:nvSpPr>
          <p:cNvPr id="37" name="Shape 25"/>
          <p:cNvSpPr/>
          <p:nvPr/>
        </p:nvSpPr>
        <p:spPr>
          <a:xfrm>
            <a:off x="320040" y="4526280"/>
            <a:ext cx="2212848" cy="777240"/>
          </a:xfrm>
          <a:prstGeom prst="rect">
            <a:avLst/>
          </a:prstGeom>
          <a:solidFill>
            <a:srgbClr val="0D1B3E"/>
          </a:solidFill>
          <a:ln w="12700">
            <a:solidFill>
              <a:srgbClr val="1A73E8"/>
            </a:solidFill>
            <a:prstDash val="solid"/>
          </a:ln>
        </p:spPr>
      </p:sp>
      <p:sp>
        <p:nvSpPr>
          <p:cNvPr id="38" name="Text 26"/>
          <p:cNvSpPr/>
          <p:nvPr/>
        </p:nvSpPr>
        <p:spPr>
          <a:xfrm>
            <a:off x="411480" y="4590288"/>
            <a:ext cx="2029968" cy="256032"/>
          </a:xfrm>
          <a:prstGeom prst="rect">
            <a:avLst/>
          </a:prstGeom>
          <a:noFill/>
          <a:ln/>
        </p:spPr>
        <p:txBody>
          <a:bodyPr wrap="square" lIns="0" tIns="0" rIns="0" bIns="0" rtlCol="0" anchor="ctr"/>
          <a:lstStyle/>
          <a:p>
            <a:pPr algn="ctr" indent="0" marL="0">
              <a:buNone/>
            </a:pPr>
            <a:r>
              <a:rPr lang="en-US" sz="1300" b="1" dirty="0">
                <a:solidFill>
                  <a:srgbClr val="00B4D8"/>
                </a:solidFill>
                <a:latin typeface="Consolas" pitchFamily="34" charset="0"/>
                <a:ea typeface="Consolas" pitchFamily="34" charset="-122"/>
                <a:cs typeface="Consolas" pitchFamily="34" charset="-120"/>
              </a:rPr>
              <a:t>sub</a:t>
            </a:r>
            <a:endParaRPr lang="en-US" sz="1300" dirty="0"/>
          </a:p>
        </p:txBody>
      </p:sp>
      <p:sp>
        <p:nvSpPr>
          <p:cNvPr id="39" name="Text 27"/>
          <p:cNvSpPr/>
          <p:nvPr/>
        </p:nvSpPr>
        <p:spPr>
          <a:xfrm>
            <a:off x="393192" y="4864608"/>
            <a:ext cx="2066544" cy="36576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Unique user identifier from Cognito</a:t>
            </a:r>
            <a:endParaRPr lang="en-US" sz="850" dirty="0"/>
          </a:p>
        </p:txBody>
      </p:sp>
      <p:sp>
        <p:nvSpPr>
          <p:cNvPr id="40" name="Shape 28"/>
          <p:cNvSpPr/>
          <p:nvPr/>
        </p:nvSpPr>
        <p:spPr>
          <a:xfrm>
            <a:off x="2679192" y="4526280"/>
            <a:ext cx="2212848" cy="777240"/>
          </a:xfrm>
          <a:prstGeom prst="rect">
            <a:avLst/>
          </a:prstGeom>
          <a:solidFill>
            <a:srgbClr val="0D1B3E"/>
          </a:solidFill>
          <a:ln w="12700">
            <a:solidFill>
              <a:srgbClr val="1A73E8"/>
            </a:solidFill>
            <a:prstDash val="solid"/>
          </a:ln>
        </p:spPr>
      </p:sp>
      <p:sp>
        <p:nvSpPr>
          <p:cNvPr id="41" name="Text 29"/>
          <p:cNvSpPr/>
          <p:nvPr/>
        </p:nvSpPr>
        <p:spPr>
          <a:xfrm>
            <a:off x="2770632" y="4590288"/>
            <a:ext cx="2029968" cy="256032"/>
          </a:xfrm>
          <a:prstGeom prst="rect">
            <a:avLst/>
          </a:prstGeom>
          <a:noFill/>
          <a:ln/>
        </p:spPr>
        <p:txBody>
          <a:bodyPr wrap="square" lIns="0" tIns="0" rIns="0" bIns="0" rtlCol="0" anchor="ctr"/>
          <a:lstStyle/>
          <a:p>
            <a:pPr algn="ctr" indent="0" marL="0">
              <a:buNone/>
            </a:pPr>
            <a:r>
              <a:rPr lang="en-US" sz="1300" b="1" dirty="0">
                <a:solidFill>
                  <a:srgbClr val="00B4D8"/>
                </a:solidFill>
                <a:latin typeface="Consolas" pitchFamily="34" charset="0"/>
                <a:ea typeface="Consolas" pitchFamily="34" charset="-122"/>
                <a:cs typeface="Consolas" pitchFamily="34" charset="-120"/>
              </a:rPr>
              <a:t>email</a:t>
            </a:r>
            <a:endParaRPr lang="en-US" sz="1300" dirty="0"/>
          </a:p>
        </p:txBody>
      </p:sp>
      <p:sp>
        <p:nvSpPr>
          <p:cNvPr id="42" name="Text 30"/>
          <p:cNvSpPr/>
          <p:nvPr/>
        </p:nvSpPr>
        <p:spPr>
          <a:xfrm>
            <a:off x="2752344" y="4864608"/>
            <a:ext cx="2066544" cy="36576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User's verified email address</a:t>
            </a:r>
            <a:endParaRPr lang="en-US" sz="850" dirty="0"/>
          </a:p>
        </p:txBody>
      </p:sp>
      <p:sp>
        <p:nvSpPr>
          <p:cNvPr id="43" name="Shape 31"/>
          <p:cNvSpPr/>
          <p:nvPr/>
        </p:nvSpPr>
        <p:spPr>
          <a:xfrm>
            <a:off x="5038344" y="4526280"/>
            <a:ext cx="2212848" cy="777240"/>
          </a:xfrm>
          <a:prstGeom prst="rect">
            <a:avLst/>
          </a:prstGeom>
          <a:solidFill>
            <a:srgbClr val="0D1B3E"/>
          </a:solidFill>
          <a:ln w="12700">
            <a:solidFill>
              <a:srgbClr val="1A73E8"/>
            </a:solidFill>
            <a:prstDash val="solid"/>
          </a:ln>
        </p:spPr>
      </p:sp>
      <p:sp>
        <p:nvSpPr>
          <p:cNvPr id="44" name="Text 32"/>
          <p:cNvSpPr/>
          <p:nvPr/>
        </p:nvSpPr>
        <p:spPr>
          <a:xfrm>
            <a:off x="5129784" y="4590288"/>
            <a:ext cx="2029968" cy="256032"/>
          </a:xfrm>
          <a:prstGeom prst="rect">
            <a:avLst/>
          </a:prstGeom>
          <a:noFill/>
          <a:ln/>
        </p:spPr>
        <p:txBody>
          <a:bodyPr wrap="square" lIns="0" tIns="0" rIns="0" bIns="0" rtlCol="0" anchor="ctr"/>
          <a:lstStyle/>
          <a:p>
            <a:pPr algn="ctr" indent="0" marL="0">
              <a:buNone/>
            </a:pPr>
            <a:r>
              <a:rPr lang="en-US" sz="1300" b="1" dirty="0">
                <a:solidFill>
                  <a:srgbClr val="00B4D8"/>
                </a:solidFill>
                <a:latin typeface="Consolas" pitchFamily="34" charset="0"/>
                <a:ea typeface="Consolas" pitchFamily="34" charset="-122"/>
                <a:cs typeface="Consolas" pitchFamily="34" charset="-120"/>
              </a:rPr>
              <a:t>exp</a:t>
            </a:r>
            <a:endParaRPr lang="en-US" sz="1300" dirty="0"/>
          </a:p>
        </p:txBody>
      </p:sp>
      <p:sp>
        <p:nvSpPr>
          <p:cNvPr id="45" name="Text 33"/>
          <p:cNvSpPr/>
          <p:nvPr/>
        </p:nvSpPr>
        <p:spPr>
          <a:xfrm>
            <a:off x="5111496" y="4864608"/>
            <a:ext cx="2066544" cy="36576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Token expiration timestamp (Unix)</a:t>
            </a:r>
            <a:endParaRPr lang="en-US" sz="850" dirty="0"/>
          </a:p>
        </p:txBody>
      </p:sp>
      <p:sp>
        <p:nvSpPr>
          <p:cNvPr id="46" name="Shape 34"/>
          <p:cNvSpPr/>
          <p:nvPr/>
        </p:nvSpPr>
        <p:spPr>
          <a:xfrm>
            <a:off x="7397496" y="4526280"/>
            <a:ext cx="2212848" cy="777240"/>
          </a:xfrm>
          <a:prstGeom prst="rect">
            <a:avLst/>
          </a:prstGeom>
          <a:solidFill>
            <a:srgbClr val="0D1B3E"/>
          </a:solidFill>
          <a:ln w="12700">
            <a:solidFill>
              <a:srgbClr val="1A73E8"/>
            </a:solidFill>
            <a:prstDash val="solid"/>
          </a:ln>
        </p:spPr>
      </p:sp>
      <p:sp>
        <p:nvSpPr>
          <p:cNvPr id="47" name="Text 35"/>
          <p:cNvSpPr/>
          <p:nvPr/>
        </p:nvSpPr>
        <p:spPr>
          <a:xfrm>
            <a:off x="7488936" y="4590288"/>
            <a:ext cx="2029968" cy="256032"/>
          </a:xfrm>
          <a:prstGeom prst="rect">
            <a:avLst/>
          </a:prstGeom>
          <a:noFill/>
          <a:ln/>
        </p:spPr>
        <p:txBody>
          <a:bodyPr wrap="square" lIns="0" tIns="0" rIns="0" bIns="0" rtlCol="0" anchor="ctr"/>
          <a:lstStyle/>
          <a:p>
            <a:pPr algn="ctr" indent="0" marL="0">
              <a:buNone/>
            </a:pPr>
            <a:r>
              <a:rPr lang="en-US" sz="1300" b="1" dirty="0">
                <a:solidFill>
                  <a:srgbClr val="00B4D8"/>
                </a:solidFill>
                <a:latin typeface="Consolas" pitchFamily="34" charset="0"/>
                <a:ea typeface="Consolas" pitchFamily="34" charset="-122"/>
                <a:cs typeface="Consolas" pitchFamily="34" charset="-120"/>
              </a:rPr>
              <a:t>iss</a:t>
            </a:r>
            <a:endParaRPr lang="en-US" sz="1300" dirty="0"/>
          </a:p>
        </p:txBody>
      </p:sp>
      <p:sp>
        <p:nvSpPr>
          <p:cNvPr id="48" name="Text 36"/>
          <p:cNvSpPr/>
          <p:nvPr/>
        </p:nvSpPr>
        <p:spPr>
          <a:xfrm>
            <a:off x="7470648" y="4864608"/>
            <a:ext cx="2066544" cy="36576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Issuer — Cognito User Pool URL</a:t>
            </a:r>
            <a:endParaRPr lang="en-US" sz="850" dirty="0"/>
          </a:p>
        </p:txBody>
      </p:sp>
      <p:sp>
        <p:nvSpPr>
          <p:cNvPr id="49" name="Shape 37"/>
          <p:cNvSpPr/>
          <p:nvPr/>
        </p:nvSpPr>
        <p:spPr>
          <a:xfrm>
            <a:off x="9756648" y="4526280"/>
            <a:ext cx="2212848" cy="777240"/>
          </a:xfrm>
          <a:prstGeom prst="rect">
            <a:avLst/>
          </a:prstGeom>
          <a:solidFill>
            <a:srgbClr val="0D1B3E"/>
          </a:solidFill>
          <a:ln w="12700">
            <a:solidFill>
              <a:srgbClr val="1A73E8"/>
            </a:solidFill>
            <a:prstDash val="solid"/>
          </a:ln>
        </p:spPr>
      </p:sp>
      <p:sp>
        <p:nvSpPr>
          <p:cNvPr id="50" name="Text 38"/>
          <p:cNvSpPr/>
          <p:nvPr/>
        </p:nvSpPr>
        <p:spPr>
          <a:xfrm>
            <a:off x="9848088" y="4590288"/>
            <a:ext cx="2029968" cy="256032"/>
          </a:xfrm>
          <a:prstGeom prst="rect">
            <a:avLst/>
          </a:prstGeom>
          <a:noFill/>
          <a:ln/>
        </p:spPr>
        <p:txBody>
          <a:bodyPr wrap="square" lIns="0" tIns="0" rIns="0" bIns="0" rtlCol="0" anchor="ctr"/>
          <a:lstStyle/>
          <a:p>
            <a:pPr algn="ctr" indent="0" marL="0">
              <a:buNone/>
            </a:pPr>
            <a:r>
              <a:rPr lang="en-US" sz="1300" b="1" dirty="0">
                <a:solidFill>
                  <a:srgbClr val="00B4D8"/>
                </a:solidFill>
                <a:latin typeface="Consolas" pitchFamily="34" charset="0"/>
                <a:ea typeface="Consolas" pitchFamily="34" charset="-122"/>
                <a:cs typeface="Consolas" pitchFamily="34" charset="-120"/>
              </a:rPr>
              <a:t>token_use</a:t>
            </a:r>
            <a:endParaRPr lang="en-US" sz="1300" dirty="0"/>
          </a:p>
        </p:txBody>
      </p:sp>
      <p:sp>
        <p:nvSpPr>
          <p:cNvPr id="51" name="Text 39"/>
          <p:cNvSpPr/>
          <p:nvPr/>
        </p:nvSpPr>
        <p:spPr>
          <a:xfrm>
            <a:off x="9829800" y="4864608"/>
            <a:ext cx="2066544" cy="365760"/>
          </a:xfrm>
          <a:prstGeom prst="rect">
            <a:avLst/>
          </a:prstGeom>
          <a:noFill/>
          <a:ln/>
        </p:spPr>
        <p:txBody>
          <a:bodyPr wrap="square" lIns="0" tIns="0" rIns="0" bIns="0" rtlCol="0" anchor="ctr"/>
          <a:lstStyle/>
          <a:p>
            <a:pPr algn="ctr" indent="0" marL="0">
              <a:buNone/>
            </a:pPr>
            <a:r>
              <a:rPr lang="en-US" sz="850" dirty="0">
                <a:solidFill>
                  <a:srgbClr val="7A90B8"/>
                </a:solidFill>
                <a:latin typeface="Calibri" pitchFamily="34" charset="0"/>
                <a:ea typeface="Calibri" pitchFamily="34" charset="-122"/>
                <a:cs typeface="Calibri" pitchFamily="34" charset="-120"/>
              </a:rPr>
              <a:t>id or access — defines token purpose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07 · SECURE API PROTECTION</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Secure API Protection</a:t>
            </a:r>
            <a:endParaRPr lang="en-US" sz="3000" dirty="0"/>
          </a:p>
        </p:txBody>
      </p:sp>
      <p:sp>
        <p:nvSpPr>
          <p:cNvPr id="8" name="Shape 6"/>
          <p:cNvSpPr/>
          <p:nvPr/>
        </p:nvSpPr>
        <p:spPr>
          <a:xfrm>
            <a:off x="274320" y="1234440"/>
            <a:ext cx="6931152" cy="3930777"/>
          </a:xfrm>
          <a:prstGeom prst="rect">
            <a:avLst/>
          </a:prstGeom>
          <a:solidFill>
            <a:srgbClr val="253B6E"/>
          </a:solidFill>
          <a:ln w="12700">
            <a:solidFill>
              <a:srgbClr val="253B6E"/>
            </a:solidFill>
            <a:prstDash val="solid"/>
          </a:ln>
        </p:spPr>
      </p:sp>
      <p:pic>
        <p:nvPicPr>
          <p:cNvPr id="9" name="Image 0" descr="/mnt/user-data/uploads/8-Secure-API-Endpoint-Configuration.png"/>
          <p:cNvPicPr>
            <a:picLocks noChangeAspect="1"/>
          </p:cNvPicPr>
          <p:nvPr/>
        </p:nvPicPr>
        <p:blipFill>
          <a:blip r:embed="rId1"/>
          <a:stretch>
            <a:fillRect/>
          </a:stretch>
        </p:blipFill>
        <p:spPr>
          <a:xfrm>
            <a:off x="310896" y="1271016"/>
            <a:ext cx="6858000" cy="3857625"/>
          </a:xfrm>
          <a:prstGeom prst="rect">
            <a:avLst/>
          </a:prstGeom>
        </p:spPr>
      </p:pic>
      <p:sp>
        <p:nvSpPr>
          <p:cNvPr id="10" name="Text 7"/>
          <p:cNvSpPr/>
          <p:nvPr/>
        </p:nvSpPr>
        <p:spPr>
          <a:xfrm>
            <a:off x="310896" y="5201793"/>
            <a:ext cx="685800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5 — API Gateway route /hello with JWT Authorizer attached</a:t>
            </a:r>
            <a:endParaRPr lang="en-US" sz="900" dirty="0"/>
          </a:p>
        </p:txBody>
      </p:sp>
      <p:sp>
        <p:nvSpPr>
          <p:cNvPr id="11" name="Shape 8"/>
          <p:cNvSpPr/>
          <p:nvPr/>
        </p:nvSpPr>
        <p:spPr>
          <a:xfrm>
            <a:off x="7406640" y="1234440"/>
            <a:ext cx="4480560" cy="1371600"/>
          </a:xfrm>
          <a:prstGeom prst="rect">
            <a:avLst/>
          </a:prstGeom>
          <a:solidFill>
            <a:srgbClr val="162447"/>
          </a:solidFill>
          <a:ln w="12700">
            <a:solidFill>
              <a:srgbClr val="FF9900"/>
            </a:solidFill>
            <a:prstDash val="solid"/>
          </a:ln>
        </p:spPr>
      </p:sp>
      <p:sp>
        <p:nvSpPr>
          <p:cNvPr id="12" name="Shape 9"/>
          <p:cNvSpPr/>
          <p:nvPr/>
        </p:nvSpPr>
        <p:spPr>
          <a:xfrm>
            <a:off x="7406640" y="1234440"/>
            <a:ext cx="54864" cy="1371600"/>
          </a:xfrm>
          <a:prstGeom prst="rect">
            <a:avLst/>
          </a:prstGeom>
          <a:solidFill>
            <a:srgbClr val="FF9900"/>
          </a:solidFill>
          <a:ln w="12700">
            <a:solidFill>
              <a:srgbClr val="FF9900"/>
            </a:solidFill>
            <a:prstDash val="solid"/>
          </a:ln>
        </p:spPr>
      </p:sp>
      <p:sp>
        <p:nvSpPr>
          <p:cNvPr id="13" name="Text 10"/>
          <p:cNvSpPr/>
          <p:nvPr/>
        </p:nvSpPr>
        <p:spPr>
          <a:xfrm>
            <a:off x="7543800" y="1344168"/>
            <a:ext cx="4206240" cy="274320"/>
          </a:xfrm>
          <a:prstGeom prst="rect">
            <a:avLst/>
          </a:prstGeom>
          <a:noFill/>
          <a:ln/>
        </p:spPr>
        <p:txBody>
          <a:bodyPr wrap="square" lIns="0" tIns="0" rIns="0" bIns="0"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Route: GET /hello</a:t>
            </a:r>
            <a:endParaRPr lang="en-US" sz="1100" dirty="0"/>
          </a:p>
        </p:txBody>
      </p:sp>
      <p:sp>
        <p:nvSpPr>
          <p:cNvPr id="14" name="Text 11"/>
          <p:cNvSpPr/>
          <p:nvPr/>
        </p:nvSpPr>
        <p:spPr>
          <a:xfrm>
            <a:off x="7543800" y="1673352"/>
            <a:ext cx="4206240" cy="82296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The protected endpoint is configured in API Gateway. Without a JWT Authorizer attached, it is open to the world.</a:t>
            </a:r>
            <a:endParaRPr lang="en-US" sz="1000" dirty="0"/>
          </a:p>
        </p:txBody>
      </p:sp>
      <p:sp>
        <p:nvSpPr>
          <p:cNvPr id="15" name="Shape 12"/>
          <p:cNvSpPr/>
          <p:nvPr/>
        </p:nvSpPr>
        <p:spPr>
          <a:xfrm>
            <a:off x="7406640" y="2743200"/>
            <a:ext cx="4480560" cy="1371600"/>
          </a:xfrm>
          <a:prstGeom prst="rect">
            <a:avLst/>
          </a:prstGeom>
          <a:solidFill>
            <a:srgbClr val="162447"/>
          </a:solidFill>
          <a:ln w="12700">
            <a:solidFill>
              <a:srgbClr val="00B4D8"/>
            </a:solidFill>
            <a:prstDash val="solid"/>
          </a:ln>
        </p:spPr>
      </p:sp>
      <p:sp>
        <p:nvSpPr>
          <p:cNvPr id="16" name="Shape 13"/>
          <p:cNvSpPr/>
          <p:nvPr/>
        </p:nvSpPr>
        <p:spPr>
          <a:xfrm>
            <a:off x="7406640" y="2743200"/>
            <a:ext cx="54864" cy="1371600"/>
          </a:xfrm>
          <a:prstGeom prst="rect">
            <a:avLst/>
          </a:prstGeom>
          <a:solidFill>
            <a:srgbClr val="00B4D8"/>
          </a:solidFill>
          <a:ln w="12700">
            <a:solidFill>
              <a:srgbClr val="00B4D8"/>
            </a:solidFill>
            <a:prstDash val="solid"/>
          </a:ln>
        </p:spPr>
      </p:sp>
      <p:sp>
        <p:nvSpPr>
          <p:cNvPr id="17" name="Text 14"/>
          <p:cNvSpPr/>
          <p:nvPr/>
        </p:nvSpPr>
        <p:spPr>
          <a:xfrm>
            <a:off x="7543800" y="2852928"/>
            <a:ext cx="4206240" cy="27432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JWT Authorizer</a:t>
            </a:r>
            <a:endParaRPr lang="en-US" sz="1100" dirty="0"/>
          </a:p>
        </p:txBody>
      </p:sp>
      <p:sp>
        <p:nvSpPr>
          <p:cNvPr id="18" name="Text 15"/>
          <p:cNvSpPr/>
          <p:nvPr/>
        </p:nvSpPr>
        <p:spPr>
          <a:xfrm>
            <a:off x="7543800" y="3182112"/>
            <a:ext cx="4206240" cy="82296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The authorizer is configured with the Cognito User Pool's JWKS endpoint. It validates the token signature, issuer, and expiry on every request.</a:t>
            </a:r>
            <a:endParaRPr lang="en-US" sz="1000" dirty="0"/>
          </a:p>
        </p:txBody>
      </p:sp>
      <p:sp>
        <p:nvSpPr>
          <p:cNvPr id="19" name="Shape 16"/>
          <p:cNvSpPr/>
          <p:nvPr/>
        </p:nvSpPr>
        <p:spPr>
          <a:xfrm>
            <a:off x="7406640" y="4251960"/>
            <a:ext cx="4480560" cy="1371600"/>
          </a:xfrm>
          <a:prstGeom prst="rect">
            <a:avLst/>
          </a:prstGeom>
          <a:solidFill>
            <a:srgbClr val="162447"/>
          </a:solidFill>
          <a:ln w="12700">
            <a:solidFill>
              <a:srgbClr val="2ECC71"/>
            </a:solidFill>
            <a:prstDash val="solid"/>
          </a:ln>
        </p:spPr>
      </p:sp>
      <p:sp>
        <p:nvSpPr>
          <p:cNvPr id="20" name="Shape 17"/>
          <p:cNvSpPr/>
          <p:nvPr/>
        </p:nvSpPr>
        <p:spPr>
          <a:xfrm>
            <a:off x="7406640" y="4251960"/>
            <a:ext cx="54864" cy="1371600"/>
          </a:xfrm>
          <a:prstGeom prst="rect">
            <a:avLst/>
          </a:prstGeom>
          <a:solidFill>
            <a:srgbClr val="2ECC71"/>
          </a:solidFill>
          <a:ln w="12700">
            <a:solidFill>
              <a:srgbClr val="2ECC71"/>
            </a:solidFill>
            <a:prstDash val="solid"/>
          </a:ln>
        </p:spPr>
      </p:sp>
      <p:sp>
        <p:nvSpPr>
          <p:cNvPr id="21" name="Text 18"/>
          <p:cNvSpPr/>
          <p:nvPr/>
        </p:nvSpPr>
        <p:spPr>
          <a:xfrm>
            <a:off x="7543800" y="4361688"/>
            <a:ext cx="4206240" cy="274320"/>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Integration (Lambda)</a:t>
            </a:r>
            <a:endParaRPr lang="en-US" sz="1100" dirty="0"/>
          </a:p>
        </p:txBody>
      </p:sp>
      <p:sp>
        <p:nvSpPr>
          <p:cNvPr id="22" name="Text 19"/>
          <p:cNvSpPr/>
          <p:nvPr/>
        </p:nvSpPr>
        <p:spPr>
          <a:xfrm>
            <a:off x="7543800" y="4690872"/>
            <a:ext cx="4206240" cy="822960"/>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Only after successful JWT validation does API Gateway forward the request to the backend Lambda function.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12</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07 · SECURE API PROTECTION</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Unauthorized vs Authorized API Access</a:t>
            </a:r>
            <a:endParaRPr lang="en-US" sz="2800" dirty="0"/>
          </a:p>
        </p:txBody>
      </p:sp>
      <p:sp>
        <p:nvSpPr>
          <p:cNvPr id="8" name="Shape 6"/>
          <p:cNvSpPr/>
          <p:nvPr/>
        </p:nvSpPr>
        <p:spPr>
          <a:xfrm>
            <a:off x="320040" y="1234440"/>
            <a:ext cx="1463040" cy="292608"/>
          </a:xfrm>
          <a:prstGeom prst="rect">
            <a:avLst/>
          </a:prstGeom>
          <a:solidFill>
            <a:srgbClr val="E74C3C"/>
          </a:solidFill>
          <a:ln w="12700">
            <a:solidFill>
              <a:srgbClr val="E74C3C"/>
            </a:solidFill>
            <a:prstDash val="solid"/>
          </a:ln>
        </p:spPr>
      </p:sp>
      <p:sp>
        <p:nvSpPr>
          <p:cNvPr id="9" name="Text 7"/>
          <p:cNvSpPr/>
          <p:nvPr/>
        </p:nvSpPr>
        <p:spPr>
          <a:xfrm>
            <a:off x="320040" y="1234440"/>
            <a:ext cx="14630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401 UNAUTHORIZED</a:t>
            </a:r>
            <a:endParaRPr lang="en-US" sz="900" dirty="0"/>
          </a:p>
        </p:txBody>
      </p:sp>
      <p:sp>
        <p:nvSpPr>
          <p:cNvPr id="10" name="Shape 8"/>
          <p:cNvSpPr/>
          <p:nvPr/>
        </p:nvSpPr>
        <p:spPr>
          <a:xfrm>
            <a:off x="274320" y="1536192"/>
            <a:ext cx="5696712" cy="3236405"/>
          </a:xfrm>
          <a:prstGeom prst="rect">
            <a:avLst/>
          </a:prstGeom>
          <a:solidFill>
            <a:srgbClr val="253B6E"/>
          </a:solidFill>
          <a:ln w="12700">
            <a:solidFill>
              <a:srgbClr val="E74C3C"/>
            </a:solidFill>
            <a:prstDash val="solid"/>
          </a:ln>
        </p:spPr>
      </p:sp>
      <p:pic>
        <p:nvPicPr>
          <p:cNvPr id="11" name="Image 0" descr="/mnt/user-data/uploads/10-Unauthorized-API-Access-Without-Authentication.png"/>
          <p:cNvPicPr>
            <a:picLocks noChangeAspect="1"/>
          </p:cNvPicPr>
          <p:nvPr/>
        </p:nvPicPr>
        <p:blipFill>
          <a:blip r:embed="rId1"/>
          <a:stretch>
            <a:fillRect/>
          </a:stretch>
        </p:blipFill>
        <p:spPr>
          <a:xfrm>
            <a:off x="310896" y="1572768"/>
            <a:ext cx="5623560" cy="3163253"/>
          </a:xfrm>
          <a:prstGeom prst="rect">
            <a:avLst/>
          </a:prstGeom>
        </p:spPr>
      </p:pic>
      <p:sp>
        <p:nvSpPr>
          <p:cNvPr id="12" name="Text 9"/>
          <p:cNvSpPr/>
          <p:nvPr/>
        </p:nvSpPr>
        <p:spPr>
          <a:xfrm>
            <a:off x="310896" y="4827461"/>
            <a:ext cx="562356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Direct browser access to API endpoint — no JWT token provided</a:t>
            </a:r>
            <a:endParaRPr lang="en-US" sz="900" dirty="0"/>
          </a:p>
        </p:txBody>
      </p:sp>
      <p:sp>
        <p:nvSpPr>
          <p:cNvPr id="13" name="Shape 10"/>
          <p:cNvSpPr/>
          <p:nvPr/>
        </p:nvSpPr>
        <p:spPr>
          <a:xfrm>
            <a:off x="6245352" y="1234440"/>
            <a:ext cx="1463040" cy="292608"/>
          </a:xfrm>
          <a:prstGeom prst="rect">
            <a:avLst/>
          </a:prstGeom>
          <a:solidFill>
            <a:srgbClr val="2ECC71"/>
          </a:solidFill>
          <a:ln w="12700">
            <a:solidFill>
              <a:srgbClr val="2ECC71"/>
            </a:solidFill>
            <a:prstDash val="solid"/>
          </a:ln>
        </p:spPr>
      </p:sp>
      <p:sp>
        <p:nvSpPr>
          <p:cNvPr id="14" name="Text 11"/>
          <p:cNvSpPr/>
          <p:nvPr/>
        </p:nvSpPr>
        <p:spPr>
          <a:xfrm>
            <a:off x="6245352" y="1234440"/>
            <a:ext cx="14630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200 SUCCESS</a:t>
            </a:r>
            <a:endParaRPr lang="en-US" sz="900" dirty="0"/>
          </a:p>
        </p:txBody>
      </p:sp>
      <p:sp>
        <p:nvSpPr>
          <p:cNvPr id="15" name="Shape 12"/>
          <p:cNvSpPr/>
          <p:nvPr/>
        </p:nvSpPr>
        <p:spPr>
          <a:xfrm>
            <a:off x="6208776" y="1536192"/>
            <a:ext cx="5696712" cy="3236405"/>
          </a:xfrm>
          <a:prstGeom prst="rect">
            <a:avLst/>
          </a:prstGeom>
          <a:solidFill>
            <a:srgbClr val="253B6E"/>
          </a:solidFill>
          <a:ln w="12700">
            <a:solidFill>
              <a:srgbClr val="2ECC71"/>
            </a:solidFill>
            <a:prstDash val="solid"/>
          </a:ln>
        </p:spPr>
      </p:sp>
      <p:pic>
        <p:nvPicPr>
          <p:cNvPr id="16" name="Image 1" descr="/mnt/user-data/uploads/11-Successful-API-Access-After-Authentication.png"/>
          <p:cNvPicPr>
            <a:picLocks noChangeAspect="1"/>
          </p:cNvPicPr>
          <p:nvPr/>
        </p:nvPicPr>
        <p:blipFill>
          <a:blip r:embed="rId2"/>
          <a:stretch>
            <a:fillRect/>
          </a:stretch>
        </p:blipFill>
        <p:spPr>
          <a:xfrm>
            <a:off x="6245352" y="1572768"/>
            <a:ext cx="5623560" cy="3163253"/>
          </a:xfrm>
          <a:prstGeom prst="rect">
            <a:avLst/>
          </a:prstGeom>
        </p:spPr>
      </p:pic>
      <p:sp>
        <p:nvSpPr>
          <p:cNvPr id="17" name="Text 13"/>
          <p:cNvSpPr/>
          <p:nvPr/>
        </p:nvSpPr>
        <p:spPr>
          <a:xfrm>
            <a:off x="6245352" y="4827461"/>
            <a:ext cx="562356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Lambda responds with 200 after JWT is validated by API Gateway Authorizer</a:t>
            </a:r>
            <a:endParaRPr lang="en-US" sz="900" dirty="0"/>
          </a:p>
        </p:txBody>
      </p:sp>
      <p:sp>
        <p:nvSpPr>
          <p:cNvPr id="18" name="Shape 14"/>
          <p:cNvSpPr/>
          <p:nvPr/>
        </p:nvSpPr>
        <p:spPr>
          <a:xfrm>
            <a:off x="320040" y="5147501"/>
            <a:ext cx="11521440" cy="822960"/>
          </a:xfrm>
          <a:prstGeom prst="rect">
            <a:avLst/>
          </a:prstGeom>
          <a:solidFill>
            <a:srgbClr val="1E3A6E"/>
          </a:solidFill>
          <a:ln w="12700">
            <a:solidFill>
              <a:srgbClr val="00B4D8"/>
            </a:solidFill>
            <a:prstDash val="solid"/>
          </a:ln>
        </p:spPr>
      </p:sp>
      <p:pic>
        <p:nvPicPr>
          <p:cNvPr id="19" name="Image 2" descr="preencoded.png"/>
          <p:cNvPicPr>
            <a:picLocks noChangeAspect="1"/>
          </p:cNvPicPr>
          <p:nvPr/>
        </p:nvPicPr>
        <p:blipFill>
          <a:blip r:embed="rId3"/>
          <a:stretch>
            <a:fillRect/>
          </a:stretch>
        </p:blipFill>
        <p:spPr>
          <a:xfrm>
            <a:off x="502920" y="5312093"/>
            <a:ext cx="384048" cy="384048"/>
          </a:xfrm>
          <a:prstGeom prst="rect">
            <a:avLst/>
          </a:prstGeom>
        </p:spPr>
      </p:pic>
      <p:sp>
        <p:nvSpPr>
          <p:cNvPr id="20" name="Text 15"/>
          <p:cNvSpPr/>
          <p:nvPr/>
        </p:nvSpPr>
        <p:spPr>
          <a:xfrm>
            <a:off x="1005840" y="5257229"/>
            <a:ext cx="2286000" cy="256032"/>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Security in Action:</a:t>
            </a:r>
            <a:endParaRPr lang="en-US" sz="1100" dirty="0"/>
          </a:p>
        </p:txBody>
      </p:sp>
      <p:sp>
        <p:nvSpPr>
          <p:cNvPr id="21" name="Text 16"/>
          <p:cNvSpPr/>
          <p:nvPr/>
        </p:nvSpPr>
        <p:spPr>
          <a:xfrm>
            <a:off x="1005840" y="5540693"/>
            <a:ext cx="10789920" cy="347472"/>
          </a:xfrm>
          <a:prstGeom prst="rect">
            <a:avLst/>
          </a:prstGeom>
          <a:noFill/>
          <a:ln/>
        </p:spPr>
        <p:txBody>
          <a:bodyPr wrap="square" lIns="0" tIns="0" rIns="0" bIns="0" rtlCol="0" anchor="ctr"/>
          <a:lstStyle/>
          <a:p>
            <a:pPr indent="0" marL="0">
              <a:buNone/>
            </a:pPr>
            <a:r>
              <a:rPr lang="en-US" sz="1050" dirty="0">
                <a:solidFill>
                  <a:srgbClr val="B8C8E8"/>
                </a:solidFill>
                <a:latin typeface="Calibri" pitchFamily="34" charset="0"/>
                <a:ea typeface="Calibri" pitchFamily="34" charset="-122"/>
                <a:cs typeface="Calibri" pitchFamily="34" charset="-120"/>
              </a:rPr>
              <a:t>The JWT Authorizer acts as a gate before the Lambda function is ever reached. Expired, missing, or tampered tokens all result in a 401 response — Lambda is never invoked, reducing attack surface and compute costs simultaneously.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08 · SECURE S3 ACCESS</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Private S3 Bucket Configuration</a:t>
            </a:r>
            <a:endParaRPr lang="en-US" sz="3000" dirty="0"/>
          </a:p>
        </p:txBody>
      </p:sp>
      <p:sp>
        <p:nvSpPr>
          <p:cNvPr id="8" name="Shape 6"/>
          <p:cNvSpPr/>
          <p:nvPr/>
        </p:nvSpPr>
        <p:spPr>
          <a:xfrm>
            <a:off x="274320" y="1234440"/>
            <a:ext cx="5696712" cy="3236405"/>
          </a:xfrm>
          <a:prstGeom prst="rect">
            <a:avLst/>
          </a:prstGeom>
          <a:solidFill>
            <a:srgbClr val="253B6E"/>
          </a:solidFill>
          <a:ln w="12700">
            <a:solidFill>
              <a:srgbClr val="253B6E"/>
            </a:solidFill>
            <a:prstDash val="solid"/>
          </a:ln>
        </p:spPr>
      </p:sp>
      <p:pic>
        <p:nvPicPr>
          <p:cNvPr id="9" name="Image 0" descr="/mnt/user-data/uploads/12-Private-S3-Bucket-with-Block-Public-Access-Enabled.png"/>
          <p:cNvPicPr>
            <a:picLocks noChangeAspect="1"/>
          </p:cNvPicPr>
          <p:nvPr/>
        </p:nvPicPr>
        <p:blipFill>
          <a:blip r:embed="rId1"/>
          <a:stretch>
            <a:fillRect/>
          </a:stretch>
        </p:blipFill>
        <p:spPr>
          <a:xfrm>
            <a:off x="310896" y="1271016"/>
            <a:ext cx="5623560" cy="3163253"/>
          </a:xfrm>
          <a:prstGeom prst="rect">
            <a:avLst/>
          </a:prstGeom>
        </p:spPr>
      </p:pic>
      <p:sp>
        <p:nvSpPr>
          <p:cNvPr id="10" name="Text 7"/>
          <p:cNvSpPr/>
          <p:nvPr/>
        </p:nvSpPr>
        <p:spPr>
          <a:xfrm>
            <a:off x="310896" y="4507421"/>
            <a:ext cx="562356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6 — S3 Bucket (edvo-downloads-videos) with Block All Public Access: ON</a:t>
            </a:r>
            <a:endParaRPr lang="en-US" sz="900" dirty="0"/>
          </a:p>
        </p:txBody>
      </p:sp>
      <p:sp>
        <p:nvSpPr>
          <p:cNvPr id="11" name="Shape 8"/>
          <p:cNvSpPr/>
          <p:nvPr/>
        </p:nvSpPr>
        <p:spPr>
          <a:xfrm>
            <a:off x="6199632" y="1234440"/>
            <a:ext cx="5696712" cy="3236405"/>
          </a:xfrm>
          <a:prstGeom prst="rect">
            <a:avLst/>
          </a:prstGeom>
          <a:solidFill>
            <a:srgbClr val="253B6E"/>
          </a:solidFill>
          <a:ln w="12700">
            <a:solidFill>
              <a:srgbClr val="E74C3C"/>
            </a:solidFill>
            <a:prstDash val="solid"/>
          </a:ln>
        </p:spPr>
      </p:sp>
      <p:pic>
        <p:nvPicPr>
          <p:cNvPr id="12" name="Image 1" descr="/mnt/user-data/uploads/13-Direct-S3-Object-Access-Denied-_Security-Validation_.png"/>
          <p:cNvPicPr>
            <a:picLocks noChangeAspect="1"/>
          </p:cNvPicPr>
          <p:nvPr/>
        </p:nvPicPr>
        <p:blipFill>
          <a:blip r:embed="rId2"/>
          <a:stretch>
            <a:fillRect/>
          </a:stretch>
        </p:blipFill>
        <p:spPr>
          <a:xfrm>
            <a:off x="6236208" y="1271016"/>
            <a:ext cx="5623560" cy="3163253"/>
          </a:xfrm>
          <a:prstGeom prst="rect">
            <a:avLst/>
          </a:prstGeom>
        </p:spPr>
      </p:pic>
      <p:sp>
        <p:nvSpPr>
          <p:cNvPr id="13" name="Text 9"/>
          <p:cNvSpPr/>
          <p:nvPr/>
        </p:nvSpPr>
        <p:spPr>
          <a:xfrm>
            <a:off x="6236208" y="4507421"/>
            <a:ext cx="562356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7 — Direct S3 URL returns AccessDenied — security validation successful</a:t>
            </a:r>
            <a:endParaRPr lang="en-US" sz="900" dirty="0"/>
          </a:p>
        </p:txBody>
      </p:sp>
      <p:sp>
        <p:nvSpPr>
          <p:cNvPr id="14" name="Shape 10"/>
          <p:cNvSpPr/>
          <p:nvPr/>
        </p:nvSpPr>
        <p:spPr>
          <a:xfrm>
            <a:off x="320040" y="4818317"/>
            <a:ext cx="11521440" cy="475488"/>
          </a:xfrm>
          <a:prstGeom prst="rect">
            <a:avLst/>
          </a:prstGeom>
          <a:solidFill>
            <a:srgbClr val="162447"/>
          </a:solidFill>
          <a:ln w="12700">
            <a:solidFill>
              <a:srgbClr val="253B6E"/>
            </a:solidFill>
            <a:prstDash val="solid"/>
          </a:ln>
        </p:spPr>
      </p:sp>
      <p:sp>
        <p:nvSpPr>
          <p:cNvPr id="15" name="Shape 11"/>
          <p:cNvSpPr/>
          <p:nvPr/>
        </p:nvSpPr>
        <p:spPr>
          <a:xfrm>
            <a:off x="320040" y="4818317"/>
            <a:ext cx="54864" cy="475488"/>
          </a:xfrm>
          <a:prstGeom prst="rect">
            <a:avLst/>
          </a:prstGeom>
          <a:solidFill>
            <a:srgbClr val="FF9900"/>
          </a:solidFill>
          <a:ln w="12700">
            <a:solidFill>
              <a:srgbClr val="FF9900"/>
            </a:solidFill>
            <a:prstDash val="solid"/>
          </a:ln>
        </p:spPr>
      </p:sp>
      <p:sp>
        <p:nvSpPr>
          <p:cNvPr id="16" name="Text 12"/>
          <p:cNvSpPr/>
          <p:nvPr/>
        </p:nvSpPr>
        <p:spPr>
          <a:xfrm>
            <a:off x="475488" y="4937189"/>
            <a:ext cx="2560320" cy="237744"/>
          </a:xfrm>
          <a:prstGeom prst="rect">
            <a:avLst/>
          </a:prstGeom>
          <a:noFill/>
          <a:ln/>
        </p:spPr>
        <p:txBody>
          <a:bodyPr wrap="square" lIns="0" tIns="0" rIns="0" bIns="0" rtlCol="0" anchor="ctr"/>
          <a:lstStyle/>
          <a:p>
            <a:pPr indent="0" marL="0">
              <a:buNone/>
            </a:pPr>
            <a:r>
              <a:rPr lang="en-US" sz="1000" b="1" dirty="0">
                <a:solidFill>
                  <a:srgbClr val="FF9900"/>
                </a:solidFill>
                <a:latin typeface="Calibri" pitchFamily="34" charset="0"/>
                <a:ea typeface="Calibri" pitchFamily="34" charset="-122"/>
                <a:cs typeface="Calibri" pitchFamily="34" charset="-120"/>
              </a:rPr>
              <a:t>Block All Public Access: ON:</a:t>
            </a:r>
            <a:endParaRPr lang="en-US" sz="1000" dirty="0"/>
          </a:p>
        </p:txBody>
      </p:sp>
      <p:sp>
        <p:nvSpPr>
          <p:cNvPr id="17" name="Text 13"/>
          <p:cNvSpPr/>
          <p:nvPr/>
        </p:nvSpPr>
        <p:spPr>
          <a:xfrm>
            <a:off x="3063240" y="4937189"/>
            <a:ext cx="8641080" cy="237744"/>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This single setting prevents any S3 object from being reachable via a public URL, regardless of object-level ACLs.</a:t>
            </a:r>
            <a:endParaRPr lang="en-US" sz="1000" dirty="0"/>
          </a:p>
        </p:txBody>
      </p:sp>
      <p:sp>
        <p:nvSpPr>
          <p:cNvPr id="18" name="Shape 14"/>
          <p:cNvSpPr/>
          <p:nvPr/>
        </p:nvSpPr>
        <p:spPr>
          <a:xfrm>
            <a:off x="320040" y="5385245"/>
            <a:ext cx="11521440" cy="475488"/>
          </a:xfrm>
          <a:prstGeom prst="rect">
            <a:avLst/>
          </a:prstGeom>
          <a:solidFill>
            <a:srgbClr val="162447"/>
          </a:solidFill>
          <a:ln w="12700">
            <a:solidFill>
              <a:srgbClr val="253B6E"/>
            </a:solidFill>
            <a:prstDash val="solid"/>
          </a:ln>
        </p:spPr>
      </p:sp>
      <p:sp>
        <p:nvSpPr>
          <p:cNvPr id="19" name="Shape 15"/>
          <p:cNvSpPr/>
          <p:nvPr/>
        </p:nvSpPr>
        <p:spPr>
          <a:xfrm>
            <a:off x="320040" y="5385245"/>
            <a:ext cx="54864" cy="475488"/>
          </a:xfrm>
          <a:prstGeom prst="rect">
            <a:avLst/>
          </a:prstGeom>
          <a:solidFill>
            <a:srgbClr val="E74C3C"/>
          </a:solidFill>
          <a:ln w="12700">
            <a:solidFill>
              <a:srgbClr val="E74C3C"/>
            </a:solidFill>
            <a:prstDash val="solid"/>
          </a:ln>
        </p:spPr>
      </p:sp>
      <p:sp>
        <p:nvSpPr>
          <p:cNvPr id="20" name="Text 16"/>
          <p:cNvSpPr/>
          <p:nvPr/>
        </p:nvSpPr>
        <p:spPr>
          <a:xfrm>
            <a:off x="475488" y="5504117"/>
            <a:ext cx="2560320" cy="237744"/>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Direct URL: AccessDenied:</a:t>
            </a:r>
            <a:endParaRPr lang="en-US" sz="1000" dirty="0"/>
          </a:p>
        </p:txBody>
      </p:sp>
      <p:sp>
        <p:nvSpPr>
          <p:cNvPr id="21" name="Text 17"/>
          <p:cNvSpPr/>
          <p:nvPr/>
        </p:nvSpPr>
        <p:spPr>
          <a:xfrm>
            <a:off x="3063240" y="5504117"/>
            <a:ext cx="8641080" cy="237744"/>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Attempting to access the S3 object directly returns an XML AccessDenied error — confirming the bucket is truly private.</a:t>
            </a:r>
            <a:endParaRPr lang="en-US" sz="1000" dirty="0"/>
          </a:p>
        </p:txBody>
      </p:sp>
      <p:sp>
        <p:nvSpPr>
          <p:cNvPr id="22" name="Shape 18"/>
          <p:cNvSpPr/>
          <p:nvPr/>
        </p:nvSpPr>
        <p:spPr>
          <a:xfrm>
            <a:off x="320040" y="5952173"/>
            <a:ext cx="11521440" cy="475488"/>
          </a:xfrm>
          <a:prstGeom prst="rect">
            <a:avLst/>
          </a:prstGeom>
          <a:solidFill>
            <a:srgbClr val="162447"/>
          </a:solidFill>
          <a:ln w="12700">
            <a:solidFill>
              <a:srgbClr val="253B6E"/>
            </a:solidFill>
            <a:prstDash val="solid"/>
          </a:ln>
        </p:spPr>
      </p:sp>
      <p:sp>
        <p:nvSpPr>
          <p:cNvPr id="23" name="Shape 19"/>
          <p:cNvSpPr/>
          <p:nvPr/>
        </p:nvSpPr>
        <p:spPr>
          <a:xfrm>
            <a:off x="320040" y="5952173"/>
            <a:ext cx="54864" cy="475488"/>
          </a:xfrm>
          <a:prstGeom prst="rect">
            <a:avLst/>
          </a:prstGeom>
          <a:solidFill>
            <a:srgbClr val="00B4D8"/>
          </a:solidFill>
          <a:ln w="12700">
            <a:solidFill>
              <a:srgbClr val="00B4D8"/>
            </a:solidFill>
            <a:prstDash val="solid"/>
          </a:ln>
        </p:spPr>
      </p:sp>
      <p:sp>
        <p:nvSpPr>
          <p:cNvPr id="24" name="Text 20"/>
          <p:cNvSpPr/>
          <p:nvPr/>
        </p:nvSpPr>
        <p:spPr>
          <a:xfrm>
            <a:off x="475488" y="6071045"/>
            <a:ext cx="2560320" cy="237744"/>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Forced Pre-Signed Flow:</a:t>
            </a:r>
            <a:endParaRPr lang="en-US" sz="1000" dirty="0"/>
          </a:p>
        </p:txBody>
      </p:sp>
      <p:sp>
        <p:nvSpPr>
          <p:cNvPr id="25" name="Text 21"/>
          <p:cNvSpPr/>
          <p:nvPr/>
        </p:nvSpPr>
        <p:spPr>
          <a:xfrm>
            <a:off x="3063240" y="6071045"/>
            <a:ext cx="8641080" cy="237744"/>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The only valid access path is through Lambda, which holds the IAM role with s3:GetObject permission for this specific bucket.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08 · PRE-SIGNED URL FLOW</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Pre-Signed URL Generation &amp; Access</a:t>
            </a:r>
            <a:endParaRPr lang="en-US" sz="3000" dirty="0"/>
          </a:p>
        </p:txBody>
      </p:sp>
      <p:sp>
        <p:nvSpPr>
          <p:cNvPr id="8" name="Shape 6"/>
          <p:cNvSpPr/>
          <p:nvPr/>
        </p:nvSpPr>
        <p:spPr>
          <a:xfrm>
            <a:off x="274320" y="1234440"/>
            <a:ext cx="5696712" cy="3236405"/>
          </a:xfrm>
          <a:prstGeom prst="rect">
            <a:avLst/>
          </a:prstGeom>
          <a:solidFill>
            <a:srgbClr val="253B6E"/>
          </a:solidFill>
          <a:ln w="12700">
            <a:solidFill>
              <a:srgbClr val="253B6E"/>
            </a:solidFill>
            <a:prstDash val="solid"/>
          </a:ln>
        </p:spPr>
      </p:sp>
      <p:pic>
        <p:nvPicPr>
          <p:cNvPr id="9" name="Image 0" descr="/mnt/user-data/uploads/18-Pre-Signed-URL-Generated-via-Secure-API.png"/>
          <p:cNvPicPr>
            <a:picLocks noChangeAspect="1"/>
          </p:cNvPicPr>
          <p:nvPr/>
        </p:nvPicPr>
        <p:blipFill>
          <a:blip r:embed="rId1"/>
          <a:stretch>
            <a:fillRect/>
          </a:stretch>
        </p:blipFill>
        <p:spPr>
          <a:xfrm>
            <a:off x="310896" y="1271016"/>
            <a:ext cx="5623560" cy="3163253"/>
          </a:xfrm>
          <a:prstGeom prst="rect">
            <a:avLst/>
          </a:prstGeom>
        </p:spPr>
      </p:pic>
      <p:sp>
        <p:nvSpPr>
          <p:cNvPr id="10" name="Text 7"/>
          <p:cNvSpPr/>
          <p:nvPr/>
        </p:nvSpPr>
        <p:spPr>
          <a:xfrm>
            <a:off x="310896" y="4507421"/>
            <a:ext cx="562356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8 — Pre-signed S3 URL returned in API response (with S3 RESPONSE visible in console)</a:t>
            </a:r>
            <a:endParaRPr lang="en-US" sz="900" dirty="0"/>
          </a:p>
        </p:txBody>
      </p:sp>
      <p:sp>
        <p:nvSpPr>
          <p:cNvPr id="11" name="Shape 8"/>
          <p:cNvSpPr/>
          <p:nvPr/>
        </p:nvSpPr>
        <p:spPr>
          <a:xfrm>
            <a:off x="6199632" y="1234440"/>
            <a:ext cx="5696712" cy="3236405"/>
          </a:xfrm>
          <a:prstGeom prst="rect">
            <a:avLst/>
          </a:prstGeom>
          <a:solidFill>
            <a:srgbClr val="253B6E"/>
          </a:solidFill>
          <a:ln w="12700">
            <a:solidFill>
              <a:srgbClr val="2ECC71"/>
            </a:solidFill>
            <a:prstDash val="solid"/>
          </a:ln>
        </p:spPr>
      </p:sp>
      <p:pic>
        <p:nvPicPr>
          <p:cNvPr id="12" name="Image 1" descr="/mnt/user-data/uploads/19-Secure-Access-to-S3-Object-Using-Temporary-URL.png"/>
          <p:cNvPicPr>
            <a:picLocks noChangeAspect="1"/>
          </p:cNvPicPr>
          <p:nvPr/>
        </p:nvPicPr>
        <p:blipFill>
          <a:blip r:embed="rId2"/>
          <a:stretch>
            <a:fillRect/>
          </a:stretch>
        </p:blipFill>
        <p:spPr>
          <a:xfrm>
            <a:off x="6236208" y="1271016"/>
            <a:ext cx="5623560" cy="3163253"/>
          </a:xfrm>
          <a:prstGeom prst="rect">
            <a:avLst/>
          </a:prstGeom>
        </p:spPr>
      </p:pic>
      <p:sp>
        <p:nvSpPr>
          <p:cNvPr id="13" name="Text 9"/>
          <p:cNvSpPr/>
          <p:nvPr/>
        </p:nvSpPr>
        <p:spPr>
          <a:xfrm>
            <a:off x="6236208" y="4507421"/>
            <a:ext cx="562356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9 — Private video (solarsystem.mp4) accessible via pre-signed URL — time-limited access</a:t>
            </a:r>
            <a:endParaRPr lang="en-US" sz="900" dirty="0"/>
          </a:p>
        </p:txBody>
      </p:sp>
      <p:sp>
        <p:nvSpPr>
          <p:cNvPr id="14" name="Shape 10"/>
          <p:cNvSpPr/>
          <p:nvPr/>
        </p:nvSpPr>
        <p:spPr>
          <a:xfrm>
            <a:off x="320040" y="4818317"/>
            <a:ext cx="11521440" cy="475488"/>
          </a:xfrm>
          <a:prstGeom prst="rect">
            <a:avLst/>
          </a:prstGeom>
          <a:solidFill>
            <a:srgbClr val="162447"/>
          </a:solidFill>
          <a:ln w="12700">
            <a:solidFill>
              <a:srgbClr val="253B6E"/>
            </a:solidFill>
            <a:prstDash val="solid"/>
          </a:ln>
        </p:spPr>
      </p:sp>
      <p:sp>
        <p:nvSpPr>
          <p:cNvPr id="15" name="Shape 11"/>
          <p:cNvSpPr/>
          <p:nvPr/>
        </p:nvSpPr>
        <p:spPr>
          <a:xfrm>
            <a:off x="320040" y="4818317"/>
            <a:ext cx="54864" cy="475488"/>
          </a:xfrm>
          <a:prstGeom prst="rect">
            <a:avLst/>
          </a:prstGeom>
          <a:solidFill>
            <a:srgbClr val="00B4D8"/>
          </a:solidFill>
          <a:ln w="12700">
            <a:solidFill>
              <a:srgbClr val="00B4D8"/>
            </a:solidFill>
            <a:prstDash val="solid"/>
          </a:ln>
        </p:spPr>
      </p:sp>
      <p:sp>
        <p:nvSpPr>
          <p:cNvPr id="16" name="Text 12"/>
          <p:cNvSpPr/>
          <p:nvPr/>
        </p:nvSpPr>
        <p:spPr>
          <a:xfrm>
            <a:off x="475488" y="4937189"/>
            <a:ext cx="2560320" cy="237744"/>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How Pre-Signed URLs Work:</a:t>
            </a:r>
            <a:endParaRPr lang="en-US" sz="1000" dirty="0"/>
          </a:p>
        </p:txBody>
      </p:sp>
      <p:sp>
        <p:nvSpPr>
          <p:cNvPr id="17" name="Text 13"/>
          <p:cNvSpPr/>
          <p:nvPr/>
        </p:nvSpPr>
        <p:spPr>
          <a:xfrm>
            <a:off x="3063240" y="4937189"/>
            <a:ext cx="8641080" cy="237744"/>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Lambda calls boto3's generate_presigned_url() with the bucket name, object key, and expiry duration. AWS embeds the credentials cryptographically in the URL itself.</a:t>
            </a:r>
            <a:endParaRPr lang="en-US" sz="1000" dirty="0"/>
          </a:p>
        </p:txBody>
      </p:sp>
      <p:sp>
        <p:nvSpPr>
          <p:cNvPr id="18" name="Shape 14"/>
          <p:cNvSpPr/>
          <p:nvPr/>
        </p:nvSpPr>
        <p:spPr>
          <a:xfrm>
            <a:off x="320040" y="5385245"/>
            <a:ext cx="11521440" cy="475488"/>
          </a:xfrm>
          <a:prstGeom prst="rect">
            <a:avLst/>
          </a:prstGeom>
          <a:solidFill>
            <a:srgbClr val="162447"/>
          </a:solidFill>
          <a:ln w="12700">
            <a:solidFill>
              <a:srgbClr val="253B6E"/>
            </a:solidFill>
            <a:prstDash val="solid"/>
          </a:ln>
        </p:spPr>
      </p:sp>
      <p:sp>
        <p:nvSpPr>
          <p:cNvPr id="19" name="Shape 15"/>
          <p:cNvSpPr/>
          <p:nvPr/>
        </p:nvSpPr>
        <p:spPr>
          <a:xfrm>
            <a:off x="320040" y="5385245"/>
            <a:ext cx="54864" cy="475488"/>
          </a:xfrm>
          <a:prstGeom prst="rect">
            <a:avLst/>
          </a:prstGeom>
          <a:solidFill>
            <a:srgbClr val="000000"/>
          </a:solidFill>
          <a:ln w="12700">
            <a:solidFill>
              <a:srgbClr val="333333"/>
            </a:solidFill>
            <a:prstDash val="solid"/>
          </a:ln>
        </p:spPr>
      </p:sp>
      <p:sp>
        <p:nvSpPr>
          <p:cNvPr id="20" name="Text 16"/>
          <p:cNvSpPr/>
          <p:nvPr/>
        </p:nvSpPr>
        <p:spPr>
          <a:xfrm>
            <a:off x="475488" y="5504117"/>
            <a:ext cx="2560320" cy="237744"/>
          </a:xfrm>
          <a:prstGeom prst="rect">
            <a:avLst/>
          </a:prstGeom>
          <a:noFill/>
          <a:ln/>
        </p:spPr>
        <p:txBody>
          <a:bodyPr wrap="square" lIns="0" tIns="0" rIns="0" bIns="0"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Time-Limited Access:</a:t>
            </a:r>
            <a:endParaRPr lang="en-US" sz="1000" dirty="0"/>
          </a:p>
        </p:txBody>
      </p:sp>
      <p:sp>
        <p:nvSpPr>
          <p:cNvPr id="21" name="Text 17"/>
          <p:cNvSpPr/>
          <p:nvPr/>
        </p:nvSpPr>
        <p:spPr>
          <a:xfrm>
            <a:off x="3063240" y="5504117"/>
            <a:ext cx="8641080" cy="237744"/>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The URL includes X-Amz-Expires in the query string. After expiry (e.g. 900 seconds), S3 rejects the request — even with the exact same URL.</a:t>
            </a:r>
            <a:endParaRPr lang="en-US" sz="1000" dirty="0"/>
          </a:p>
        </p:txBody>
      </p:sp>
      <p:sp>
        <p:nvSpPr>
          <p:cNvPr id="22" name="Shape 18"/>
          <p:cNvSpPr/>
          <p:nvPr/>
        </p:nvSpPr>
        <p:spPr>
          <a:xfrm>
            <a:off x="320040" y="5952173"/>
            <a:ext cx="11521440" cy="475488"/>
          </a:xfrm>
          <a:prstGeom prst="rect">
            <a:avLst/>
          </a:prstGeom>
          <a:solidFill>
            <a:srgbClr val="162447"/>
          </a:solidFill>
          <a:ln w="12700">
            <a:solidFill>
              <a:srgbClr val="253B6E"/>
            </a:solidFill>
            <a:prstDash val="solid"/>
          </a:ln>
        </p:spPr>
      </p:sp>
      <p:sp>
        <p:nvSpPr>
          <p:cNvPr id="23" name="Shape 19"/>
          <p:cNvSpPr/>
          <p:nvPr/>
        </p:nvSpPr>
        <p:spPr>
          <a:xfrm>
            <a:off x="320040" y="5952173"/>
            <a:ext cx="54864" cy="475488"/>
          </a:xfrm>
          <a:prstGeom prst="rect">
            <a:avLst/>
          </a:prstGeom>
          <a:solidFill>
            <a:srgbClr val="2ECC71"/>
          </a:solidFill>
          <a:ln w="12700">
            <a:solidFill>
              <a:srgbClr val="2ECC71"/>
            </a:solidFill>
            <a:prstDash val="solid"/>
          </a:ln>
        </p:spPr>
      </p:sp>
      <p:sp>
        <p:nvSpPr>
          <p:cNvPr id="24" name="Text 20"/>
          <p:cNvSpPr/>
          <p:nvPr/>
        </p:nvSpPr>
        <p:spPr>
          <a:xfrm>
            <a:off x="475488" y="6071045"/>
            <a:ext cx="2560320" cy="237744"/>
          </a:xfrm>
          <a:prstGeom prst="rect">
            <a:avLst/>
          </a:prstGeom>
          <a:noFill/>
          <a:ln/>
        </p:spPr>
        <p:txBody>
          <a:bodyPr wrap="square" lIns="0" tIns="0" rIns="0" bIns="0" rtlCol="0" anchor="ctr"/>
          <a:lstStyle/>
          <a:p>
            <a:pPr indent="0" marL="0">
              <a:buNone/>
            </a:pPr>
            <a:r>
              <a:rPr lang="en-US" sz="1000" b="1" dirty="0">
                <a:solidFill>
                  <a:srgbClr val="2ECC71"/>
                </a:solidFill>
                <a:latin typeface="Calibri" pitchFamily="34" charset="0"/>
                <a:ea typeface="Calibri" pitchFamily="34" charset="-122"/>
                <a:cs typeface="Calibri" pitchFamily="34" charset="-120"/>
              </a:rPr>
              <a:t>No Bucket Policy Change:</a:t>
            </a:r>
            <a:endParaRPr lang="en-US" sz="1000" dirty="0"/>
          </a:p>
        </p:txBody>
      </p:sp>
      <p:sp>
        <p:nvSpPr>
          <p:cNvPr id="25" name="Text 21"/>
          <p:cNvSpPr/>
          <p:nvPr/>
        </p:nvSpPr>
        <p:spPr>
          <a:xfrm>
            <a:off x="3063240" y="6071045"/>
            <a:ext cx="8641080" cy="237744"/>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The bucket remains fully private. Pre-signed URLs work because Lambda's IAM role has s3:GetObject — the URL borrows that permission temporarily.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09 · IAM SECURITY</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IAM — Least Privilege Access</a:t>
            </a:r>
            <a:endParaRPr lang="en-US" sz="3000" dirty="0"/>
          </a:p>
        </p:txBody>
      </p:sp>
      <p:sp>
        <p:nvSpPr>
          <p:cNvPr id="8" name="Shape 6"/>
          <p:cNvSpPr/>
          <p:nvPr/>
        </p:nvSpPr>
        <p:spPr>
          <a:xfrm>
            <a:off x="283464" y="1234440"/>
            <a:ext cx="7205472" cy="4085082"/>
          </a:xfrm>
          <a:prstGeom prst="rect">
            <a:avLst/>
          </a:prstGeom>
          <a:solidFill>
            <a:srgbClr val="253B6E"/>
          </a:solidFill>
          <a:ln w="12700">
            <a:solidFill>
              <a:srgbClr val="253B6E"/>
            </a:solidFill>
            <a:prstDash val="solid"/>
          </a:ln>
        </p:spPr>
      </p:sp>
      <p:pic>
        <p:nvPicPr>
          <p:cNvPr id="9" name="Image 0" descr="/mnt/user-data/uploads/15-IAM-Policy-with-s3GetObject-Permission.png"/>
          <p:cNvPicPr>
            <a:picLocks noChangeAspect="1"/>
          </p:cNvPicPr>
          <p:nvPr/>
        </p:nvPicPr>
        <p:blipFill>
          <a:blip r:embed="rId1"/>
          <a:stretch>
            <a:fillRect/>
          </a:stretch>
        </p:blipFill>
        <p:spPr>
          <a:xfrm>
            <a:off x="320040" y="1271016"/>
            <a:ext cx="7132320" cy="4011930"/>
          </a:xfrm>
          <a:prstGeom prst="rect">
            <a:avLst/>
          </a:prstGeom>
        </p:spPr>
      </p:pic>
      <p:sp>
        <p:nvSpPr>
          <p:cNvPr id="10" name="Text 7"/>
          <p:cNvSpPr/>
          <p:nvPr/>
        </p:nvSpPr>
        <p:spPr>
          <a:xfrm>
            <a:off x="320040" y="5356098"/>
            <a:ext cx="7132320" cy="201168"/>
          </a:xfrm>
          <a:prstGeom prst="rect">
            <a:avLst/>
          </a:prstGeom>
          <a:noFill/>
          <a:ln/>
        </p:spPr>
        <p:txBody>
          <a:bodyPr wrap="square" rtlCol="0" anchor="ctr"/>
          <a:lstStyle/>
          <a:p>
            <a:pPr algn="ctr" indent="0" marL="0">
              <a:buNone/>
            </a:pPr>
            <a:r>
              <a:rPr lang="en-US" sz="900" i="1" dirty="0">
                <a:solidFill>
                  <a:srgbClr val="7A90B8"/>
                </a:solidFill>
                <a:latin typeface="Calibri" pitchFamily="34" charset="0"/>
                <a:ea typeface="Calibri" pitchFamily="34" charset="-122"/>
                <a:cs typeface="Calibri" pitchFamily="34" charset="-120"/>
              </a:rPr>
              <a:t>Figure 10 — IAM Policy granting only s3:GetObject on the edvo-downloads-videos bucket</a:t>
            </a:r>
            <a:endParaRPr lang="en-US" sz="900" dirty="0"/>
          </a:p>
        </p:txBody>
      </p:sp>
      <p:sp>
        <p:nvSpPr>
          <p:cNvPr id="11" name="Shape 8"/>
          <p:cNvSpPr/>
          <p:nvPr/>
        </p:nvSpPr>
        <p:spPr>
          <a:xfrm>
            <a:off x="7726680" y="1261872"/>
            <a:ext cx="4142232" cy="1143000"/>
          </a:xfrm>
          <a:prstGeom prst="rect">
            <a:avLst/>
          </a:prstGeom>
          <a:solidFill>
            <a:srgbClr val="162447"/>
          </a:solidFill>
          <a:ln w="12700">
            <a:solidFill>
              <a:srgbClr val="FF9900"/>
            </a:solidFill>
            <a:prstDash val="solid"/>
          </a:ln>
        </p:spPr>
      </p:sp>
      <p:sp>
        <p:nvSpPr>
          <p:cNvPr id="12" name="Shape 9"/>
          <p:cNvSpPr/>
          <p:nvPr/>
        </p:nvSpPr>
        <p:spPr>
          <a:xfrm>
            <a:off x="7726680" y="1261872"/>
            <a:ext cx="54864" cy="1143000"/>
          </a:xfrm>
          <a:prstGeom prst="rect">
            <a:avLst/>
          </a:prstGeom>
          <a:solidFill>
            <a:srgbClr val="FF9900"/>
          </a:solidFill>
          <a:ln w="12700">
            <a:solidFill>
              <a:srgbClr val="FF9900"/>
            </a:solidFill>
            <a:prstDash val="solid"/>
          </a:ln>
        </p:spPr>
      </p:sp>
      <p:sp>
        <p:nvSpPr>
          <p:cNvPr id="13" name="Text 10"/>
          <p:cNvSpPr/>
          <p:nvPr/>
        </p:nvSpPr>
        <p:spPr>
          <a:xfrm>
            <a:off x="7882128" y="1353312"/>
            <a:ext cx="3840480" cy="256032"/>
          </a:xfrm>
          <a:prstGeom prst="rect">
            <a:avLst/>
          </a:prstGeom>
          <a:noFill/>
          <a:ln/>
        </p:spPr>
        <p:txBody>
          <a:bodyPr wrap="square" lIns="0" tIns="0" rIns="0" bIns="0"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Exact Action</a:t>
            </a:r>
            <a:endParaRPr lang="en-US" sz="1100" dirty="0"/>
          </a:p>
        </p:txBody>
      </p:sp>
      <p:sp>
        <p:nvSpPr>
          <p:cNvPr id="14" name="Text 11"/>
          <p:cNvSpPr/>
          <p:nvPr/>
        </p:nvSpPr>
        <p:spPr>
          <a:xfrm>
            <a:off x="7882128" y="1645920"/>
            <a:ext cx="3840480" cy="658368"/>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Effect: Allow, Action: s3:GetObject. No s3:PutObject, s3:DeleteObject, or s3:ListBucket — Lambda can read only.</a:t>
            </a:r>
            <a:endParaRPr lang="en-US" sz="1000" dirty="0"/>
          </a:p>
        </p:txBody>
      </p:sp>
      <p:sp>
        <p:nvSpPr>
          <p:cNvPr id="15" name="Shape 12"/>
          <p:cNvSpPr/>
          <p:nvPr/>
        </p:nvSpPr>
        <p:spPr>
          <a:xfrm>
            <a:off x="7726680" y="2542032"/>
            <a:ext cx="4142232" cy="1143000"/>
          </a:xfrm>
          <a:prstGeom prst="rect">
            <a:avLst/>
          </a:prstGeom>
          <a:solidFill>
            <a:srgbClr val="162447"/>
          </a:solidFill>
          <a:ln w="12700">
            <a:solidFill>
              <a:srgbClr val="00B4D8"/>
            </a:solidFill>
            <a:prstDash val="solid"/>
          </a:ln>
        </p:spPr>
      </p:sp>
      <p:sp>
        <p:nvSpPr>
          <p:cNvPr id="16" name="Shape 13"/>
          <p:cNvSpPr/>
          <p:nvPr/>
        </p:nvSpPr>
        <p:spPr>
          <a:xfrm>
            <a:off x="7726680" y="2542032"/>
            <a:ext cx="54864" cy="1143000"/>
          </a:xfrm>
          <a:prstGeom prst="rect">
            <a:avLst/>
          </a:prstGeom>
          <a:solidFill>
            <a:srgbClr val="00B4D8"/>
          </a:solidFill>
          <a:ln w="12700">
            <a:solidFill>
              <a:srgbClr val="00B4D8"/>
            </a:solidFill>
            <a:prstDash val="solid"/>
          </a:ln>
        </p:spPr>
      </p:sp>
      <p:sp>
        <p:nvSpPr>
          <p:cNvPr id="17" name="Text 14"/>
          <p:cNvSpPr/>
          <p:nvPr/>
        </p:nvSpPr>
        <p:spPr>
          <a:xfrm>
            <a:off x="7882128" y="2633472"/>
            <a:ext cx="3840480" cy="256032"/>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Specific Resource</a:t>
            </a:r>
            <a:endParaRPr lang="en-US" sz="1100" dirty="0"/>
          </a:p>
        </p:txBody>
      </p:sp>
      <p:sp>
        <p:nvSpPr>
          <p:cNvPr id="18" name="Text 15"/>
          <p:cNvSpPr/>
          <p:nvPr/>
        </p:nvSpPr>
        <p:spPr>
          <a:xfrm>
            <a:off x="7882128" y="2926080"/>
            <a:ext cx="3840480" cy="658368"/>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Resource: arn:aws:s3:::edvo-downloads-videos/* — scoped to this bucket only. Not *.</a:t>
            </a:r>
            <a:endParaRPr lang="en-US" sz="1000" dirty="0"/>
          </a:p>
        </p:txBody>
      </p:sp>
      <p:sp>
        <p:nvSpPr>
          <p:cNvPr id="19" name="Shape 16"/>
          <p:cNvSpPr/>
          <p:nvPr/>
        </p:nvSpPr>
        <p:spPr>
          <a:xfrm>
            <a:off x="7726680" y="3822192"/>
            <a:ext cx="4142232" cy="1143000"/>
          </a:xfrm>
          <a:prstGeom prst="rect">
            <a:avLst/>
          </a:prstGeom>
          <a:solidFill>
            <a:srgbClr val="162447"/>
          </a:solidFill>
          <a:ln w="12700">
            <a:solidFill>
              <a:srgbClr val="2ECC71"/>
            </a:solidFill>
            <a:prstDash val="solid"/>
          </a:ln>
        </p:spPr>
      </p:sp>
      <p:sp>
        <p:nvSpPr>
          <p:cNvPr id="20" name="Shape 17"/>
          <p:cNvSpPr/>
          <p:nvPr/>
        </p:nvSpPr>
        <p:spPr>
          <a:xfrm>
            <a:off x="7726680" y="3822192"/>
            <a:ext cx="54864" cy="1143000"/>
          </a:xfrm>
          <a:prstGeom prst="rect">
            <a:avLst/>
          </a:prstGeom>
          <a:solidFill>
            <a:srgbClr val="2ECC71"/>
          </a:solidFill>
          <a:ln w="12700">
            <a:solidFill>
              <a:srgbClr val="2ECC71"/>
            </a:solidFill>
            <a:prstDash val="solid"/>
          </a:ln>
        </p:spPr>
      </p:sp>
      <p:sp>
        <p:nvSpPr>
          <p:cNvPr id="21" name="Text 18"/>
          <p:cNvSpPr/>
          <p:nvPr/>
        </p:nvSpPr>
        <p:spPr>
          <a:xfrm>
            <a:off x="7882128" y="3913632"/>
            <a:ext cx="3840480" cy="256032"/>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Role, Not Keys</a:t>
            </a:r>
            <a:endParaRPr lang="en-US" sz="1100" dirty="0"/>
          </a:p>
        </p:txBody>
      </p:sp>
      <p:sp>
        <p:nvSpPr>
          <p:cNvPr id="22" name="Text 19"/>
          <p:cNvSpPr/>
          <p:nvPr/>
        </p:nvSpPr>
        <p:spPr>
          <a:xfrm>
            <a:off x="7882128" y="4206240"/>
            <a:ext cx="3840480" cy="658368"/>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Lambda assumes an IAM Role at runtime. No access keys stored in code or environment variables.</a:t>
            </a:r>
            <a:endParaRPr lang="en-US" sz="1000" dirty="0"/>
          </a:p>
        </p:txBody>
      </p:sp>
      <p:sp>
        <p:nvSpPr>
          <p:cNvPr id="23" name="Shape 20"/>
          <p:cNvSpPr/>
          <p:nvPr/>
        </p:nvSpPr>
        <p:spPr>
          <a:xfrm>
            <a:off x="7726680" y="5102352"/>
            <a:ext cx="4142232" cy="1143000"/>
          </a:xfrm>
          <a:prstGeom prst="rect">
            <a:avLst/>
          </a:prstGeom>
          <a:solidFill>
            <a:srgbClr val="162447"/>
          </a:solidFill>
          <a:ln w="12700">
            <a:solidFill>
              <a:srgbClr val="1A73E8"/>
            </a:solidFill>
            <a:prstDash val="solid"/>
          </a:ln>
        </p:spPr>
      </p:sp>
      <p:sp>
        <p:nvSpPr>
          <p:cNvPr id="24" name="Shape 21"/>
          <p:cNvSpPr/>
          <p:nvPr/>
        </p:nvSpPr>
        <p:spPr>
          <a:xfrm>
            <a:off x="7726680" y="5102352"/>
            <a:ext cx="54864" cy="1143000"/>
          </a:xfrm>
          <a:prstGeom prst="rect">
            <a:avLst/>
          </a:prstGeom>
          <a:solidFill>
            <a:srgbClr val="1A73E8"/>
          </a:solidFill>
          <a:ln w="12700">
            <a:solidFill>
              <a:srgbClr val="1A73E8"/>
            </a:solidFill>
            <a:prstDash val="solid"/>
          </a:ln>
        </p:spPr>
      </p:sp>
      <p:sp>
        <p:nvSpPr>
          <p:cNvPr id="25" name="Text 22"/>
          <p:cNvSpPr/>
          <p:nvPr/>
        </p:nvSpPr>
        <p:spPr>
          <a:xfrm>
            <a:off x="7882128" y="5193792"/>
            <a:ext cx="3840480" cy="256032"/>
          </a:xfrm>
          <a:prstGeom prst="rect">
            <a:avLst/>
          </a:prstGeom>
          <a:noFill/>
          <a:ln/>
        </p:spPr>
        <p:txBody>
          <a:bodyPr wrap="square" lIns="0" tIns="0" rIns="0" bIns="0" rtlCol="0" anchor="ctr"/>
          <a:lstStyle/>
          <a:p>
            <a:pPr indent="0" marL="0">
              <a:buNone/>
            </a:pPr>
            <a:r>
              <a:rPr lang="en-US" sz="1100" b="1" dirty="0">
                <a:solidFill>
                  <a:srgbClr val="1A73E8"/>
                </a:solidFill>
                <a:latin typeface="Calibri" pitchFamily="34" charset="0"/>
                <a:ea typeface="Calibri" pitchFamily="34" charset="-122"/>
                <a:cs typeface="Calibri" pitchFamily="34" charset="-120"/>
              </a:rPr>
              <a:t>Audit Trail</a:t>
            </a:r>
            <a:endParaRPr lang="en-US" sz="1100" dirty="0"/>
          </a:p>
        </p:txBody>
      </p:sp>
      <p:sp>
        <p:nvSpPr>
          <p:cNvPr id="26" name="Text 23"/>
          <p:cNvSpPr/>
          <p:nvPr/>
        </p:nvSpPr>
        <p:spPr>
          <a:xfrm>
            <a:off x="7882128" y="5486400"/>
            <a:ext cx="3840480" cy="658368"/>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Every IAM role assumption and S3:GetObject call is logged in CloudTrail automatically.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16</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10 · CHALLENGES FACED</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Challenges &amp; How I Fixed Them</a:t>
            </a:r>
            <a:endParaRPr lang="en-US" sz="3000" dirty="0"/>
          </a:p>
        </p:txBody>
      </p:sp>
      <p:sp>
        <p:nvSpPr>
          <p:cNvPr id="8" name="Shape 6"/>
          <p:cNvSpPr/>
          <p:nvPr/>
        </p:nvSpPr>
        <p:spPr>
          <a:xfrm>
            <a:off x="320040" y="1280160"/>
            <a:ext cx="5623560" cy="2377440"/>
          </a:xfrm>
          <a:prstGeom prst="rect">
            <a:avLst/>
          </a:prstGeom>
          <a:solidFill>
            <a:srgbClr val="162447"/>
          </a:solidFill>
          <a:ln w="12700">
            <a:solidFill>
              <a:srgbClr val="E74C3C"/>
            </a:solidFill>
            <a:prstDash val="solid"/>
          </a:ln>
        </p:spPr>
      </p:sp>
      <p:sp>
        <p:nvSpPr>
          <p:cNvPr id="9" name="Shape 7"/>
          <p:cNvSpPr/>
          <p:nvPr/>
        </p:nvSpPr>
        <p:spPr>
          <a:xfrm>
            <a:off x="320040" y="1280160"/>
            <a:ext cx="54864" cy="2377440"/>
          </a:xfrm>
          <a:prstGeom prst="rect">
            <a:avLst/>
          </a:prstGeom>
          <a:solidFill>
            <a:srgbClr val="E74C3C"/>
          </a:solidFill>
          <a:ln w="12700">
            <a:solidFill>
              <a:srgbClr val="E74C3C"/>
            </a:solidFill>
            <a:prstDash val="solid"/>
          </a:ln>
        </p:spPr>
      </p:sp>
      <p:sp>
        <p:nvSpPr>
          <p:cNvPr id="10" name="Shape 8"/>
          <p:cNvSpPr/>
          <p:nvPr/>
        </p:nvSpPr>
        <p:spPr>
          <a:xfrm>
            <a:off x="457200" y="1389888"/>
            <a:ext cx="411480" cy="292608"/>
          </a:xfrm>
          <a:prstGeom prst="rect">
            <a:avLst/>
          </a:prstGeom>
          <a:solidFill>
            <a:srgbClr val="E74C3C"/>
          </a:solidFill>
          <a:ln w="12700">
            <a:solidFill>
              <a:srgbClr val="E74C3C"/>
            </a:solidFill>
            <a:prstDash val="solid"/>
          </a:ln>
        </p:spPr>
      </p:sp>
      <p:sp>
        <p:nvSpPr>
          <p:cNvPr id="11" name="Text 9"/>
          <p:cNvSpPr/>
          <p:nvPr/>
        </p:nvSpPr>
        <p:spPr>
          <a:xfrm>
            <a:off x="457200" y="1389888"/>
            <a:ext cx="411480" cy="292608"/>
          </a:xfrm>
          <a:prstGeom prst="rect">
            <a:avLst/>
          </a:prstGeom>
          <a:noFill/>
          <a:ln/>
        </p:spPr>
        <p:txBody>
          <a:bodyPr wrap="square" lIns="0" tIns="0" rIns="0" bIns="0" rtlCol="0" anchor="ctr"/>
          <a:lstStyle/>
          <a:p>
            <a:pPr algn="ctr" indent="0" marL="0">
              <a:buNone/>
            </a:pPr>
            <a:r>
              <a:rPr lang="en-US" sz="1100" b="1" dirty="0">
                <a:solidFill>
                  <a:srgbClr val="0F1B35"/>
                </a:solidFill>
                <a:latin typeface="Calibri" pitchFamily="34" charset="0"/>
                <a:ea typeface="Calibri" pitchFamily="34" charset="-122"/>
                <a:cs typeface="Calibri" pitchFamily="34" charset="-120"/>
              </a:rPr>
              <a:t>01</a:t>
            </a:r>
            <a:endParaRPr lang="en-US" sz="1100" dirty="0"/>
          </a:p>
        </p:txBody>
      </p:sp>
      <p:sp>
        <p:nvSpPr>
          <p:cNvPr id="12" name="Text 10"/>
          <p:cNvSpPr/>
          <p:nvPr/>
        </p:nvSpPr>
        <p:spPr>
          <a:xfrm>
            <a:off x="960120" y="1389888"/>
            <a:ext cx="4846320" cy="320040"/>
          </a:xfrm>
          <a:prstGeom prst="rect">
            <a:avLst/>
          </a:prstGeom>
          <a:noFill/>
          <a:ln/>
        </p:spPr>
        <p:txBody>
          <a:bodyPr wrap="square" lIns="0" tIns="0" rIns="0" bIns="0" rtlCol="0" anchor="ctr"/>
          <a:lstStyle/>
          <a:p>
            <a:pPr indent="0" marL="0">
              <a:buNone/>
            </a:pPr>
            <a:r>
              <a:rPr lang="en-US" sz="1100" b="1" dirty="0">
                <a:solidFill>
                  <a:srgbClr val="E74C3C"/>
                </a:solidFill>
                <a:latin typeface="Calibri" pitchFamily="34" charset="0"/>
                <a:ea typeface="Calibri" pitchFamily="34" charset="-122"/>
                <a:cs typeface="Calibri" pitchFamily="34" charset="-120"/>
              </a:rPr>
              <a:t>Unauthorized Access Despite Valid Token</a:t>
            </a:r>
            <a:endParaRPr lang="en-US" sz="1100" dirty="0"/>
          </a:p>
        </p:txBody>
      </p:sp>
      <p:sp>
        <p:nvSpPr>
          <p:cNvPr id="13" name="Shape 11"/>
          <p:cNvSpPr/>
          <p:nvPr/>
        </p:nvSpPr>
        <p:spPr>
          <a:xfrm>
            <a:off x="457200" y="1783080"/>
            <a:ext cx="5349240" cy="18288"/>
          </a:xfrm>
          <a:prstGeom prst="rect">
            <a:avLst/>
          </a:prstGeom>
          <a:solidFill>
            <a:srgbClr val="253B6E"/>
          </a:solidFill>
          <a:ln w="12700">
            <a:solidFill>
              <a:srgbClr val="253B6E"/>
            </a:solidFill>
            <a:prstDash val="solid"/>
          </a:ln>
        </p:spPr>
      </p:sp>
      <p:pic>
        <p:nvPicPr>
          <p:cNvPr id="14" name="Image 0" descr="preencoded.png"/>
          <p:cNvPicPr>
            <a:picLocks noChangeAspect="1"/>
          </p:cNvPicPr>
          <p:nvPr/>
        </p:nvPicPr>
        <p:blipFill>
          <a:blip r:embed="rId1"/>
          <a:stretch>
            <a:fillRect/>
          </a:stretch>
        </p:blipFill>
        <p:spPr>
          <a:xfrm>
            <a:off x="457200" y="1901952"/>
            <a:ext cx="256032" cy="256032"/>
          </a:xfrm>
          <a:prstGeom prst="rect">
            <a:avLst/>
          </a:prstGeom>
        </p:spPr>
      </p:pic>
      <p:sp>
        <p:nvSpPr>
          <p:cNvPr id="15" name="Text 12"/>
          <p:cNvSpPr/>
          <p:nvPr/>
        </p:nvSpPr>
        <p:spPr>
          <a:xfrm>
            <a:off x="777240" y="1901952"/>
            <a:ext cx="1097280" cy="237744"/>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Problem:</a:t>
            </a:r>
            <a:endParaRPr lang="en-US" sz="950" dirty="0"/>
          </a:p>
        </p:txBody>
      </p:sp>
      <p:sp>
        <p:nvSpPr>
          <p:cNvPr id="16" name="Text 13"/>
          <p:cNvSpPr/>
          <p:nvPr/>
        </p:nvSpPr>
        <p:spPr>
          <a:xfrm>
            <a:off x="457200" y="2176272"/>
            <a:ext cx="5349240" cy="38404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API kept returning 401 even after the token exchange succeeded.</a:t>
            </a:r>
            <a:endParaRPr lang="en-US" sz="950" dirty="0"/>
          </a:p>
        </p:txBody>
      </p:sp>
      <p:pic>
        <p:nvPicPr>
          <p:cNvPr id="17" name="Image 1" descr="preencoded.png"/>
          <p:cNvPicPr>
            <a:picLocks noChangeAspect="1"/>
          </p:cNvPicPr>
          <p:nvPr/>
        </p:nvPicPr>
        <p:blipFill>
          <a:blip r:embed="rId2"/>
          <a:stretch>
            <a:fillRect/>
          </a:stretch>
        </p:blipFill>
        <p:spPr>
          <a:xfrm>
            <a:off x="457200" y="2651760"/>
            <a:ext cx="256032" cy="256032"/>
          </a:xfrm>
          <a:prstGeom prst="rect">
            <a:avLst/>
          </a:prstGeom>
        </p:spPr>
      </p:pic>
      <p:sp>
        <p:nvSpPr>
          <p:cNvPr id="18" name="Text 14"/>
          <p:cNvSpPr/>
          <p:nvPr/>
        </p:nvSpPr>
        <p:spPr>
          <a:xfrm>
            <a:off x="777240" y="2651760"/>
            <a:ext cx="1097280" cy="237744"/>
          </a:xfrm>
          <a:prstGeom prst="rect">
            <a:avLst/>
          </a:prstGeom>
          <a:noFill/>
          <a:ln/>
        </p:spPr>
        <p:txBody>
          <a:bodyPr wrap="square" lIns="0" tIns="0" rIns="0" bIns="0" rtlCol="0" anchor="ctr"/>
          <a:lstStyle/>
          <a:p>
            <a:pPr indent="0" marL="0">
              <a:buNone/>
            </a:pPr>
            <a:r>
              <a:rPr lang="en-US" sz="950" b="1" dirty="0">
                <a:solidFill>
                  <a:srgbClr val="2ECC71"/>
                </a:solidFill>
                <a:latin typeface="Calibri" pitchFamily="34" charset="0"/>
                <a:ea typeface="Calibri" pitchFamily="34" charset="-122"/>
                <a:cs typeface="Calibri" pitchFamily="34" charset="-120"/>
              </a:rPr>
              <a:t>Fix:</a:t>
            </a:r>
            <a:endParaRPr lang="en-US" sz="950" dirty="0"/>
          </a:p>
        </p:txBody>
      </p:sp>
      <p:sp>
        <p:nvSpPr>
          <p:cNvPr id="19" name="Text 15"/>
          <p:cNvSpPr/>
          <p:nvPr/>
        </p:nvSpPr>
        <p:spPr>
          <a:xfrm>
            <a:off x="457200" y="2944368"/>
            <a:ext cx="5349240" cy="621792"/>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Resolved by configuring the correct Cognito issuer URL and validating JWT settings.</a:t>
            </a:r>
            <a:endParaRPr lang="en-US" sz="950" dirty="0"/>
          </a:p>
        </p:txBody>
      </p:sp>
      <p:sp>
        <p:nvSpPr>
          <p:cNvPr id="20" name="Shape 16"/>
          <p:cNvSpPr/>
          <p:nvPr/>
        </p:nvSpPr>
        <p:spPr>
          <a:xfrm>
            <a:off x="320040" y="3840480"/>
            <a:ext cx="5623560" cy="2377440"/>
          </a:xfrm>
          <a:prstGeom prst="rect">
            <a:avLst/>
          </a:prstGeom>
          <a:solidFill>
            <a:srgbClr val="162447"/>
          </a:solidFill>
          <a:ln w="12700">
            <a:solidFill>
              <a:srgbClr val="FF9900"/>
            </a:solidFill>
            <a:prstDash val="solid"/>
          </a:ln>
        </p:spPr>
      </p:sp>
      <p:sp>
        <p:nvSpPr>
          <p:cNvPr id="21" name="Shape 17"/>
          <p:cNvSpPr/>
          <p:nvPr/>
        </p:nvSpPr>
        <p:spPr>
          <a:xfrm>
            <a:off x="320040" y="3840480"/>
            <a:ext cx="54864" cy="2377440"/>
          </a:xfrm>
          <a:prstGeom prst="rect">
            <a:avLst/>
          </a:prstGeom>
          <a:solidFill>
            <a:srgbClr val="FF9900"/>
          </a:solidFill>
          <a:ln w="12700">
            <a:solidFill>
              <a:srgbClr val="FF9900"/>
            </a:solidFill>
            <a:prstDash val="solid"/>
          </a:ln>
        </p:spPr>
      </p:sp>
      <p:sp>
        <p:nvSpPr>
          <p:cNvPr id="22" name="Shape 18"/>
          <p:cNvSpPr/>
          <p:nvPr/>
        </p:nvSpPr>
        <p:spPr>
          <a:xfrm>
            <a:off x="457200" y="3950208"/>
            <a:ext cx="411480" cy="292608"/>
          </a:xfrm>
          <a:prstGeom prst="rect">
            <a:avLst/>
          </a:prstGeom>
          <a:solidFill>
            <a:srgbClr val="FF9900"/>
          </a:solidFill>
          <a:ln w="12700">
            <a:solidFill>
              <a:srgbClr val="FF9900"/>
            </a:solidFill>
            <a:prstDash val="solid"/>
          </a:ln>
        </p:spPr>
      </p:sp>
      <p:sp>
        <p:nvSpPr>
          <p:cNvPr id="23" name="Text 19"/>
          <p:cNvSpPr/>
          <p:nvPr/>
        </p:nvSpPr>
        <p:spPr>
          <a:xfrm>
            <a:off x="457200" y="3950208"/>
            <a:ext cx="411480" cy="292608"/>
          </a:xfrm>
          <a:prstGeom prst="rect">
            <a:avLst/>
          </a:prstGeom>
          <a:noFill/>
          <a:ln/>
        </p:spPr>
        <p:txBody>
          <a:bodyPr wrap="square" lIns="0" tIns="0" rIns="0" bIns="0" rtlCol="0" anchor="ctr"/>
          <a:lstStyle/>
          <a:p>
            <a:pPr algn="ctr" indent="0" marL="0">
              <a:buNone/>
            </a:pPr>
            <a:r>
              <a:rPr lang="en-US" sz="1100" b="1" dirty="0">
                <a:solidFill>
                  <a:srgbClr val="0F1B35"/>
                </a:solidFill>
                <a:latin typeface="Calibri" pitchFamily="34" charset="0"/>
                <a:ea typeface="Calibri" pitchFamily="34" charset="-122"/>
                <a:cs typeface="Calibri" pitchFamily="34" charset="-120"/>
              </a:rPr>
              <a:t>02</a:t>
            </a:r>
            <a:endParaRPr lang="en-US" sz="1100" dirty="0"/>
          </a:p>
        </p:txBody>
      </p:sp>
      <p:sp>
        <p:nvSpPr>
          <p:cNvPr id="24" name="Text 20"/>
          <p:cNvSpPr/>
          <p:nvPr/>
        </p:nvSpPr>
        <p:spPr>
          <a:xfrm>
            <a:off x="960120" y="3950208"/>
            <a:ext cx="4846320" cy="320040"/>
          </a:xfrm>
          <a:prstGeom prst="rect">
            <a:avLst/>
          </a:prstGeom>
          <a:noFill/>
          <a:ln/>
        </p:spPr>
        <p:txBody>
          <a:bodyPr wrap="square" lIns="0" tIns="0" rIns="0" bIns="0"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CORS Errors on Token Exchange</a:t>
            </a:r>
            <a:endParaRPr lang="en-US" sz="1100" dirty="0"/>
          </a:p>
        </p:txBody>
      </p:sp>
      <p:sp>
        <p:nvSpPr>
          <p:cNvPr id="25" name="Shape 21"/>
          <p:cNvSpPr/>
          <p:nvPr/>
        </p:nvSpPr>
        <p:spPr>
          <a:xfrm>
            <a:off x="457200" y="4343400"/>
            <a:ext cx="5349240" cy="18288"/>
          </a:xfrm>
          <a:prstGeom prst="rect">
            <a:avLst/>
          </a:prstGeom>
          <a:solidFill>
            <a:srgbClr val="253B6E"/>
          </a:solidFill>
          <a:ln w="12700">
            <a:solidFill>
              <a:srgbClr val="253B6E"/>
            </a:solidFill>
            <a:prstDash val="solid"/>
          </a:ln>
        </p:spPr>
      </p:sp>
      <p:pic>
        <p:nvPicPr>
          <p:cNvPr id="26" name="Image 2" descr="preencoded.png"/>
          <p:cNvPicPr>
            <a:picLocks noChangeAspect="1"/>
          </p:cNvPicPr>
          <p:nvPr/>
        </p:nvPicPr>
        <p:blipFill>
          <a:blip r:embed="rId3"/>
          <a:stretch>
            <a:fillRect/>
          </a:stretch>
        </p:blipFill>
        <p:spPr>
          <a:xfrm>
            <a:off x="457200" y="4462272"/>
            <a:ext cx="256032" cy="256032"/>
          </a:xfrm>
          <a:prstGeom prst="rect">
            <a:avLst/>
          </a:prstGeom>
        </p:spPr>
      </p:pic>
      <p:sp>
        <p:nvSpPr>
          <p:cNvPr id="27" name="Text 22"/>
          <p:cNvSpPr/>
          <p:nvPr/>
        </p:nvSpPr>
        <p:spPr>
          <a:xfrm>
            <a:off x="777240" y="4462272"/>
            <a:ext cx="1097280" cy="237744"/>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Problem:</a:t>
            </a:r>
            <a:endParaRPr lang="en-US" sz="950" dirty="0"/>
          </a:p>
        </p:txBody>
      </p:sp>
      <p:sp>
        <p:nvSpPr>
          <p:cNvPr id="28" name="Text 23"/>
          <p:cNvSpPr/>
          <p:nvPr/>
        </p:nvSpPr>
        <p:spPr>
          <a:xfrm>
            <a:off x="457200" y="4736592"/>
            <a:ext cx="5349240" cy="38404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Browser blocked the POST /token request due to missing CORS headers.</a:t>
            </a:r>
            <a:endParaRPr lang="en-US" sz="950" dirty="0"/>
          </a:p>
        </p:txBody>
      </p:sp>
      <p:pic>
        <p:nvPicPr>
          <p:cNvPr id="29" name="Image 3" descr="preencoded.png"/>
          <p:cNvPicPr>
            <a:picLocks noChangeAspect="1"/>
          </p:cNvPicPr>
          <p:nvPr/>
        </p:nvPicPr>
        <p:blipFill>
          <a:blip r:embed="rId4"/>
          <a:stretch>
            <a:fillRect/>
          </a:stretch>
        </p:blipFill>
        <p:spPr>
          <a:xfrm>
            <a:off x="457200" y="5212080"/>
            <a:ext cx="256032" cy="256032"/>
          </a:xfrm>
          <a:prstGeom prst="rect">
            <a:avLst/>
          </a:prstGeom>
        </p:spPr>
      </p:pic>
      <p:sp>
        <p:nvSpPr>
          <p:cNvPr id="30" name="Text 24"/>
          <p:cNvSpPr/>
          <p:nvPr/>
        </p:nvSpPr>
        <p:spPr>
          <a:xfrm>
            <a:off x="777240" y="5212080"/>
            <a:ext cx="1097280" cy="237744"/>
          </a:xfrm>
          <a:prstGeom prst="rect">
            <a:avLst/>
          </a:prstGeom>
          <a:noFill/>
          <a:ln/>
        </p:spPr>
        <p:txBody>
          <a:bodyPr wrap="square" lIns="0" tIns="0" rIns="0" bIns="0" rtlCol="0" anchor="ctr"/>
          <a:lstStyle/>
          <a:p>
            <a:pPr indent="0" marL="0">
              <a:buNone/>
            </a:pPr>
            <a:r>
              <a:rPr lang="en-US" sz="950" b="1" dirty="0">
                <a:solidFill>
                  <a:srgbClr val="2ECC71"/>
                </a:solidFill>
                <a:latin typeface="Calibri" pitchFamily="34" charset="0"/>
                <a:ea typeface="Calibri" pitchFamily="34" charset="-122"/>
                <a:cs typeface="Calibri" pitchFamily="34" charset="-120"/>
              </a:rPr>
              <a:t>Fix:</a:t>
            </a:r>
            <a:endParaRPr lang="en-US" sz="950" dirty="0"/>
          </a:p>
        </p:txBody>
      </p:sp>
      <p:sp>
        <p:nvSpPr>
          <p:cNvPr id="31" name="Text 25"/>
          <p:cNvSpPr/>
          <p:nvPr/>
        </p:nvSpPr>
        <p:spPr>
          <a:xfrm>
            <a:off x="457200" y="5504688"/>
            <a:ext cx="5349240" cy="621792"/>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Added explicit CORS configuration in API Gateway for the /token route — allowed origins, methods (POST), and headers (Content-Type, Authorization).</a:t>
            </a:r>
            <a:endParaRPr lang="en-US" sz="950" dirty="0"/>
          </a:p>
        </p:txBody>
      </p:sp>
      <p:sp>
        <p:nvSpPr>
          <p:cNvPr id="32" name="Shape 26"/>
          <p:cNvSpPr/>
          <p:nvPr/>
        </p:nvSpPr>
        <p:spPr>
          <a:xfrm>
            <a:off x="6236208" y="1280160"/>
            <a:ext cx="5623560" cy="2377440"/>
          </a:xfrm>
          <a:prstGeom prst="rect">
            <a:avLst/>
          </a:prstGeom>
          <a:solidFill>
            <a:srgbClr val="162447"/>
          </a:solidFill>
          <a:ln w="12700">
            <a:solidFill>
              <a:srgbClr val="00B4D8"/>
            </a:solidFill>
            <a:prstDash val="solid"/>
          </a:ln>
        </p:spPr>
      </p:sp>
      <p:sp>
        <p:nvSpPr>
          <p:cNvPr id="33" name="Shape 27"/>
          <p:cNvSpPr/>
          <p:nvPr/>
        </p:nvSpPr>
        <p:spPr>
          <a:xfrm>
            <a:off x="6236208" y="1280160"/>
            <a:ext cx="54864" cy="2377440"/>
          </a:xfrm>
          <a:prstGeom prst="rect">
            <a:avLst/>
          </a:prstGeom>
          <a:solidFill>
            <a:srgbClr val="00B4D8"/>
          </a:solidFill>
          <a:ln w="12700">
            <a:solidFill>
              <a:srgbClr val="00B4D8"/>
            </a:solidFill>
            <a:prstDash val="solid"/>
          </a:ln>
        </p:spPr>
      </p:sp>
      <p:sp>
        <p:nvSpPr>
          <p:cNvPr id="34" name="Shape 28"/>
          <p:cNvSpPr/>
          <p:nvPr/>
        </p:nvSpPr>
        <p:spPr>
          <a:xfrm>
            <a:off x="6373368" y="1389888"/>
            <a:ext cx="411480" cy="292608"/>
          </a:xfrm>
          <a:prstGeom prst="rect">
            <a:avLst/>
          </a:prstGeom>
          <a:solidFill>
            <a:srgbClr val="00B4D8"/>
          </a:solidFill>
          <a:ln w="12700">
            <a:solidFill>
              <a:srgbClr val="00B4D8"/>
            </a:solidFill>
            <a:prstDash val="solid"/>
          </a:ln>
        </p:spPr>
      </p:sp>
      <p:sp>
        <p:nvSpPr>
          <p:cNvPr id="35" name="Text 29"/>
          <p:cNvSpPr/>
          <p:nvPr/>
        </p:nvSpPr>
        <p:spPr>
          <a:xfrm>
            <a:off x="6373368" y="1389888"/>
            <a:ext cx="411480" cy="292608"/>
          </a:xfrm>
          <a:prstGeom prst="rect">
            <a:avLst/>
          </a:prstGeom>
          <a:noFill/>
          <a:ln/>
        </p:spPr>
        <p:txBody>
          <a:bodyPr wrap="square" lIns="0" tIns="0" rIns="0" bIns="0" rtlCol="0" anchor="ctr"/>
          <a:lstStyle/>
          <a:p>
            <a:pPr algn="ctr" indent="0" marL="0">
              <a:buNone/>
            </a:pPr>
            <a:r>
              <a:rPr lang="en-US" sz="1100" b="1" dirty="0">
                <a:solidFill>
                  <a:srgbClr val="0F1B35"/>
                </a:solidFill>
                <a:latin typeface="Calibri" pitchFamily="34" charset="0"/>
                <a:ea typeface="Calibri" pitchFamily="34" charset="-122"/>
                <a:cs typeface="Calibri" pitchFamily="34" charset="-120"/>
              </a:rPr>
              <a:t>03</a:t>
            </a:r>
            <a:endParaRPr lang="en-US" sz="1100" dirty="0"/>
          </a:p>
        </p:txBody>
      </p:sp>
      <p:sp>
        <p:nvSpPr>
          <p:cNvPr id="36" name="Text 30"/>
          <p:cNvSpPr/>
          <p:nvPr/>
        </p:nvSpPr>
        <p:spPr>
          <a:xfrm>
            <a:off x="6876288" y="1389888"/>
            <a:ext cx="4846320" cy="32004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Wrong Callback URL Configuration</a:t>
            </a:r>
            <a:endParaRPr lang="en-US" sz="1100" dirty="0"/>
          </a:p>
        </p:txBody>
      </p:sp>
      <p:sp>
        <p:nvSpPr>
          <p:cNvPr id="37" name="Shape 31"/>
          <p:cNvSpPr/>
          <p:nvPr/>
        </p:nvSpPr>
        <p:spPr>
          <a:xfrm>
            <a:off x="6373368" y="1783080"/>
            <a:ext cx="5349240" cy="18288"/>
          </a:xfrm>
          <a:prstGeom prst="rect">
            <a:avLst/>
          </a:prstGeom>
          <a:solidFill>
            <a:srgbClr val="253B6E"/>
          </a:solidFill>
          <a:ln w="12700">
            <a:solidFill>
              <a:srgbClr val="253B6E"/>
            </a:solidFill>
            <a:prstDash val="solid"/>
          </a:ln>
        </p:spPr>
      </p:sp>
      <p:pic>
        <p:nvPicPr>
          <p:cNvPr id="38" name="Image 4" descr="preencoded.png"/>
          <p:cNvPicPr>
            <a:picLocks noChangeAspect="1"/>
          </p:cNvPicPr>
          <p:nvPr/>
        </p:nvPicPr>
        <p:blipFill>
          <a:blip r:embed="rId5"/>
          <a:stretch>
            <a:fillRect/>
          </a:stretch>
        </p:blipFill>
        <p:spPr>
          <a:xfrm>
            <a:off x="6373368" y="1901952"/>
            <a:ext cx="256032" cy="256032"/>
          </a:xfrm>
          <a:prstGeom prst="rect">
            <a:avLst/>
          </a:prstGeom>
        </p:spPr>
      </p:pic>
      <p:sp>
        <p:nvSpPr>
          <p:cNvPr id="39" name="Text 32"/>
          <p:cNvSpPr/>
          <p:nvPr/>
        </p:nvSpPr>
        <p:spPr>
          <a:xfrm>
            <a:off x="6693408" y="1901952"/>
            <a:ext cx="1097280" cy="237744"/>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Problem:</a:t>
            </a:r>
            <a:endParaRPr lang="en-US" sz="950" dirty="0"/>
          </a:p>
        </p:txBody>
      </p:sp>
      <p:sp>
        <p:nvSpPr>
          <p:cNvPr id="40" name="Text 33"/>
          <p:cNvSpPr/>
          <p:nvPr/>
        </p:nvSpPr>
        <p:spPr>
          <a:xfrm>
            <a:off x="6373368" y="2176272"/>
            <a:ext cx="5349240" cy="38404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Cognito rejected the redirect after login with an OAuth error.</a:t>
            </a:r>
            <a:endParaRPr lang="en-US" sz="950" dirty="0"/>
          </a:p>
        </p:txBody>
      </p:sp>
      <p:pic>
        <p:nvPicPr>
          <p:cNvPr id="41" name="Image 5" descr="preencoded.png"/>
          <p:cNvPicPr>
            <a:picLocks noChangeAspect="1"/>
          </p:cNvPicPr>
          <p:nvPr/>
        </p:nvPicPr>
        <p:blipFill>
          <a:blip r:embed="rId6"/>
          <a:stretch>
            <a:fillRect/>
          </a:stretch>
        </p:blipFill>
        <p:spPr>
          <a:xfrm>
            <a:off x="6373368" y="2651760"/>
            <a:ext cx="256032" cy="256032"/>
          </a:xfrm>
          <a:prstGeom prst="rect">
            <a:avLst/>
          </a:prstGeom>
        </p:spPr>
      </p:pic>
      <p:sp>
        <p:nvSpPr>
          <p:cNvPr id="42" name="Text 34"/>
          <p:cNvSpPr/>
          <p:nvPr/>
        </p:nvSpPr>
        <p:spPr>
          <a:xfrm>
            <a:off x="6693408" y="2651760"/>
            <a:ext cx="1097280" cy="237744"/>
          </a:xfrm>
          <a:prstGeom prst="rect">
            <a:avLst/>
          </a:prstGeom>
          <a:noFill/>
          <a:ln/>
        </p:spPr>
        <p:txBody>
          <a:bodyPr wrap="square" lIns="0" tIns="0" rIns="0" bIns="0" rtlCol="0" anchor="ctr"/>
          <a:lstStyle/>
          <a:p>
            <a:pPr indent="0" marL="0">
              <a:buNone/>
            </a:pPr>
            <a:r>
              <a:rPr lang="en-US" sz="950" b="1" dirty="0">
                <a:solidFill>
                  <a:srgbClr val="2ECC71"/>
                </a:solidFill>
                <a:latin typeface="Calibri" pitchFamily="34" charset="0"/>
                <a:ea typeface="Calibri" pitchFamily="34" charset="-122"/>
                <a:cs typeface="Calibri" pitchFamily="34" charset="-120"/>
              </a:rPr>
              <a:t>Fix:</a:t>
            </a:r>
            <a:endParaRPr lang="en-US" sz="950" dirty="0"/>
          </a:p>
        </p:txBody>
      </p:sp>
      <p:sp>
        <p:nvSpPr>
          <p:cNvPr id="43" name="Text 35"/>
          <p:cNvSpPr/>
          <p:nvPr/>
        </p:nvSpPr>
        <p:spPr>
          <a:xfrm>
            <a:off x="6373368" y="2944368"/>
            <a:ext cx="5349240" cy="621792"/>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The callback URL in the Cognito App Client must exactly match the redirect_uri in the frontend request — including protocol, host, and port. Development callback URL configured for local testing environment.</a:t>
            </a:r>
            <a:endParaRPr lang="en-US" sz="950" dirty="0"/>
          </a:p>
        </p:txBody>
      </p:sp>
      <p:sp>
        <p:nvSpPr>
          <p:cNvPr id="44" name="Shape 36"/>
          <p:cNvSpPr/>
          <p:nvPr/>
        </p:nvSpPr>
        <p:spPr>
          <a:xfrm>
            <a:off x="6236208" y="3840480"/>
            <a:ext cx="5623560" cy="2377440"/>
          </a:xfrm>
          <a:prstGeom prst="rect">
            <a:avLst/>
          </a:prstGeom>
          <a:solidFill>
            <a:srgbClr val="162447"/>
          </a:solidFill>
          <a:ln w="12700">
            <a:solidFill>
              <a:srgbClr val="1A73E8"/>
            </a:solidFill>
            <a:prstDash val="solid"/>
          </a:ln>
        </p:spPr>
      </p:sp>
      <p:sp>
        <p:nvSpPr>
          <p:cNvPr id="45" name="Shape 37"/>
          <p:cNvSpPr/>
          <p:nvPr/>
        </p:nvSpPr>
        <p:spPr>
          <a:xfrm>
            <a:off x="6236208" y="3840480"/>
            <a:ext cx="54864" cy="2377440"/>
          </a:xfrm>
          <a:prstGeom prst="rect">
            <a:avLst/>
          </a:prstGeom>
          <a:solidFill>
            <a:srgbClr val="1A73E8"/>
          </a:solidFill>
          <a:ln w="12700">
            <a:solidFill>
              <a:srgbClr val="1A73E8"/>
            </a:solidFill>
            <a:prstDash val="solid"/>
          </a:ln>
        </p:spPr>
      </p:sp>
      <p:sp>
        <p:nvSpPr>
          <p:cNvPr id="46" name="Shape 38"/>
          <p:cNvSpPr/>
          <p:nvPr/>
        </p:nvSpPr>
        <p:spPr>
          <a:xfrm>
            <a:off x="6373368" y="3950208"/>
            <a:ext cx="411480" cy="292608"/>
          </a:xfrm>
          <a:prstGeom prst="rect">
            <a:avLst/>
          </a:prstGeom>
          <a:solidFill>
            <a:srgbClr val="1A73E8"/>
          </a:solidFill>
          <a:ln w="12700">
            <a:solidFill>
              <a:srgbClr val="1A73E8"/>
            </a:solidFill>
            <a:prstDash val="solid"/>
          </a:ln>
        </p:spPr>
      </p:sp>
      <p:sp>
        <p:nvSpPr>
          <p:cNvPr id="47" name="Text 39"/>
          <p:cNvSpPr/>
          <p:nvPr/>
        </p:nvSpPr>
        <p:spPr>
          <a:xfrm>
            <a:off x="6373368" y="3950208"/>
            <a:ext cx="411480" cy="292608"/>
          </a:xfrm>
          <a:prstGeom prst="rect">
            <a:avLst/>
          </a:prstGeom>
          <a:noFill/>
          <a:ln/>
        </p:spPr>
        <p:txBody>
          <a:bodyPr wrap="square" lIns="0" tIns="0" rIns="0" bIns="0" rtlCol="0" anchor="ctr"/>
          <a:lstStyle/>
          <a:p>
            <a:pPr algn="ctr" indent="0" marL="0">
              <a:buNone/>
            </a:pPr>
            <a:r>
              <a:rPr lang="en-US" sz="1100" b="1" dirty="0">
                <a:solidFill>
                  <a:srgbClr val="0F1B35"/>
                </a:solidFill>
                <a:latin typeface="Calibri" pitchFamily="34" charset="0"/>
                <a:ea typeface="Calibri" pitchFamily="34" charset="-122"/>
                <a:cs typeface="Calibri" pitchFamily="34" charset="-120"/>
              </a:rPr>
              <a:t>04</a:t>
            </a:r>
            <a:endParaRPr lang="en-US" sz="1100" dirty="0"/>
          </a:p>
        </p:txBody>
      </p:sp>
      <p:sp>
        <p:nvSpPr>
          <p:cNvPr id="48" name="Text 40"/>
          <p:cNvSpPr/>
          <p:nvPr/>
        </p:nvSpPr>
        <p:spPr>
          <a:xfrm>
            <a:off x="6876288" y="3950208"/>
            <a:ext cx="4846320" cy="320040"/>
          </a:xfrm>
          <a:prstGeom prst="rect">
            <a:avLst/>
          </a:prstGeom>
          <a:noFill/>
          <a:ln/>
        </p:spPr>
        <p:txBody>
          <a:bodyPr wrap="square" lIns="0" tIns="0" rIns="0" bIns="0" rtlCol="0" anchor="ctr"/>
          <a:lstStyle/>
          <a:p>
            <a:pPr indent="0" marL="0">
              <a:buNone/>
            </a:pPr>
            <a:r>
              <a:rPr lang="en-US" sz="1100" b="1" dirty="0">
                <a:solidFill>
                  <a:srgbClr val="1A73E8"/>
                </a:solidFill>
                <a:latin typeface="Calibri" pitchFamily="34" charset="0"/>
                <a:ea typeface="Calibri" pitchFamily="34" charset="-122"/>
                <a:cs typeface="Calibri" pitchFamily="34" charset="-120"/>
              </a:rPr>
              <a:t>Pre-Signed URL Expired Too Quickly</a:t>
            </a:r>
            <a:endParaRPr lang="en-US" sz="1100" dirty="0"/>
          </a:p>
        </p:txBody>
      </p:sp>
      <p:sp>
        <p:nvSpPr>
          <p:cNvPr id="49" name="Shape 41"/>
          <p:cNvSpPr/>
          <p:nvPr/>
        </p:nvSpPr>
        <p:spPr>
          <a:xfrm>
            <a:off x="6373368" y="4343400"/>
            <a:ext cx="5349240" cy="18288"/>
          </a:xfrm>
          <a:prstGeom prst="rect">
            <a:avLst/>
          </a:prstGeom>
          <a:solidFill>
            <a:srgbClr val="253B6E"/>
          </a:solidFill>
          <a:ln w="12700">
            <a:solidFill>
              <a:srgbClr val="253B6E"/>
            </a:solidFill>
            <a:prstDash val="solid"/>
          </a:ln>
        </p:spPr>
      </p:sp>
      <p:pic>
        <p:nvPicPr>
          <p:cNvPr id="50" name="Image 6" descr="preencoded.png"/>
          <p:cNvPicPr>
            <a:picLocks noChangeAspect="1"/>
          </p:cNvPicPr>
          <p:nvPr/>
        </p:nvPicPr>
        <p:blipFill>
          <a:blip r:embed="rId7"/>
          <a:stretch>
            <a:fillRect/>
          </a:stretch>
        </p:blipFill>
        <p:spPr>
          <a:xfrm>
            <a:off x="6373368" y="4462272"/>
            <a:ext cx="256032" cy="256032"/>
          </a:xfrm>
          <a:prstGeom prst="rect">
            <a:avLst/>
          </a:prstGeom>
        </p:spPr>
      </p:pic>
      <p:sp>
        <p:nvSpPr>
          <p:cNvPr id="51" name="Text 42"/>
          <p:cNvSpPr/>
          <p:nvPr/>
        </p:nvSpPr>
        <p:spPr>
          <a:xfrm>
            <a:off x="6693408" y="4462272"/>
            <a:ext cx="1097280" cy="237744"/>
          </a:xfrm>
          <a:prstGeom prst="rect">
            <a:avLst/>
          </a:prstGeom>
          <a:noFill/>
          <a:ln/>
        </p:spPr>
        <p:txBody>
          <a:bodyPr wrap="square" lIns="0" tIns="0" rIns="0" bIns="0" rtlCol="0" anchor="ctr"/>
          <a:lstStyle/>
          <a:p>
            <a:pPr indent="0" marL="0">
              <a:buNone/>
            </a:pPr>
            <a:r>
              <a:rPr lang="en-US" sz="950" b="1" dirty="0">
                <a:solidFill>
                  <a:srgbClr val="E74C3C"/>
                </a:solidFill>
                <a:latin typeface="Calibri" pitchFamily="34" charset="0"/>
                <a:ea typeface="Calibri" pitchFamily="34" charset="-122"/>
                <a:cs typeface="Calibri" pitchFamily="34" charset="-120"/>
              </a:rPr>
              <a:t>Problem:</a:t>
            </a:r>
            <a:endParaRPr lang="en-US" sz="950" dirty="0"/>
          </a:p>
        </p:txBody>
      </p:sp>
      <p:sp>
        <p:nvSpPr>
          <p:cNvPr id="52" name="Text 43"/>
          <p:cNvSpPr/>
          <p:nvPr/>
        </p:nvSpPr>
        <p:spPr>
          <a:xfrm>
            <a:off x="6373368" y="4736592"/>
            <a:ext cx="5349240" cy="38404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URL expired before the video could fully load in the browser.</a:t>
            </a:r>
            <a:endParaRPr lang="en-US" sz="950" dirty="0"/>
          </a:p>
        </p:txBody>
      </p:sp>
      <p:pic>
        <p:nvPicPr>
          <p:cNvPr id="53" name="Image 7" descr="preencoded.png"/>
          <p:cNvPicPr>
            <a:picLocks noChangeAspect="1"/>
          </p:cNvPicPr>
          <p:nvPr/>
        </p:nvPicPr>
        <p:blipFill>
          <a:blip r:embed="rId8"/>
          <a:stretch>
            <a:fillRect/>
          </a:stretch>
        </p:blipFill>
        <p:spPr>
          <a:xfrm>
            <a:off x="6373368" y="5212080"/>
            <a:ext cx="256032" cy="256032"/>
          </a:xfrm>
          <a:prstGeom prst="rect">
            <a:avLst/>
          </a:prstGeom>
        </p:spPr>
      </p:pic>
      <p:sp>
        <p:nvSpPr>
          <p:cNvPr id="54" name="Text 44"/>
          <p:cNvSpPr/>
          <p:nvPr/>
        </p:nvSpPr>
        <p:spPr>
          <a:xfrm>
            <a:off x="6693408" y="5212080"/>
            <a:ext cx="1097280" cy="237744"/>
          </a:xfrm>
          <a:prstGeom prst="rect">
            <a:avLst/>
          </a:prstGeom>
          <a:noFill/>
          <a:ln/>
        </p:spPr>
        <p:txBody>
          <a:bodyPr wrap="square" lIns="0" tIns="0" rIns="0" bIns="0" rtlCol="0" anchor="ctr"/>
          <a:lstStyle/>
          <a:p>
            <a:pPr indent="0" marL="0">
              <a:buNone/>
            </a:pPr>
            <a:r>
              <a:rPr lang="en-US" sz="950" b="1" dirty="0">
                <a:solidFill>
                  <a:srgbClr val="2ECC71"/>
                </a:solidFill>
                <a:latin typeface="Calibri" pitchFamily="34" charset="0"/>
                <a:ea typeface="Calibri" pitchFamily="34" charset="-122"/>
                <a:cs typeface="Calibri" pitchFamily="34" charset="-120"/>
              </a:rPr>
              <a:t>Fix:</a:t>
            </a:r>
            <a:endParaRPr lang="en-US" sz="950" dirty="0"/>
          </a:p>
        </p:txBody>
      </p:sp>
      <p:sp>
        <p:nvSpPr>
          <p:cNvPr id="55" name="Text 45"/>
          <p:cNvSpPr/>
          <p:nvPr/>
        </p:nvSpPr>
        <p:spPr>
          <a:xfrm>
            <a:off x="6373368" y="5504688"/>
            <a:ext cx="5349240" cy="621792"/>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Increased the ExpiresIn parameter in generate_presigned_url() from 60 to 900 seconds. For production, the right value depends on expected file size and connection speed.</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11 · SECURITY PRINCIPLES LEARNED</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Security Principles Learned</a:t>
            </a:r>
            <a:endParaRPr lang="en-US" sz="3000" dirty="0"/>
          </a:p>
        </p:txBody>
      </p:sp>
      <p:sp>
        <p:nvSpPr>
          <p:cNvPr id="8" name="Shape 6"/>
          <p:cNvSpPr/>
          <p:nvPr/>
        </p:nvSpPr>
        <p:spPr>
          <a:xfrm>
            <a:off x="320040" y="1298448"/>
            <a:ext cx="5623560" cy="1417320"/>
          </a:xfrm>
          <a:prstGeom prst="rect">
            <a:avLst/>
          </a:prstGeom>
          <a:solidFill>
            <a:srgbClr val="162447"/>
          </a:solidFill>
          <a:ln w="12700">
            <a:solidFill>
              <a:srgbClr val="FF9900"/>
            </a:solidFill>
            <a:prstDash val="solid"/>
          </a:ln>
        </p:spPr>
      </p:sp>
      <p:pic>
        <p:nvPicPr>
          <p:cNvPr id="9" name="Image 0" descr="preencoded.png"/>
          <p:cNvPicPr>
            <a:picLocks noChangeAspect="1"/>
          </p:cNvPicPr>
          <p:nvPr/>
        </p:nvPicPr>
        <p:blipFill>
          <a:blip r:embed="rId1"/>
          <a:stretch>
            <a:fillRect/>
          </a:stretch>
        </p:blipFill>
        <p:spPr>
          <a:xfrm>
            <a:off x="484632" y="1435608"/>
            <a:ext cx="384048" cy="384048"/>
          </a:xfrm>
          <a:prstGeom prst="rect">
            <a:avLst/>
          </a:prstGeom>
        </p:spPr>
      </p:pic>
      <p:sp>
        <p:nvSpPr>
          <p:cNvPr id="10" name="Text 7"/>
          <p:cNvSpPr/>
          <p:nvPr/>
        </p:nvSpPr>
        <p:spPr>
          <a:xfrm>
            <a:off x="978408" y="1435608"/>
            <a:ext cx="4800600" cy="347472"/>
          </a:xfrm>
          <a:prstGeom prst="rect">
            <a:avLst/>
          </a:prstGeom>
          <a:noFill/>
          <a:ln/>
        </p:spPr>
        <p:txBody>
          <a:bodyPr wrap="square" lIns="0" tIns="0" rIns="0" bIns="0" rtlCol="0" anchor="ctr"/>
          <a:lstStyle/>
          <a:p>
            <a:pPr indent="0" marL="0">
              <a:buNone/>
            </a:pPr>
            <a:r>
              <a:rPr lang="en-US" sz="1150" b="1" dirty="0">
                <a:solidFill>
                  <a:srgbClr val="FF9900"/>
                </a:solidFill>
                <a:latin typeface="Calibri" pitchFamily="34" charset="0"/>
                <a:ea typeface="Calibri" pitchFamily="34" charset="-122"/>
                <a:cs typeface="Calibri" pitchFamily="34" charset="-120"/>
              </a:rPr>
              <a:t>Authentication vs Authorization</a:t>
            </a:r>
            <a:endParaRPr lang="en-US" sz="1150" dirty="0"/>
          </a:p>
        </p:txBody>
      </p:sp>
      <p:sp>
        <p:nvSpPr>
          <p:cNvPr id="11" name="Text 8"/>
          <p:cNvSpPr/>
          <p:nvPr/>
        </p:nvSpPr>
        <p:spPr>
          <a:xfrm>
            <a:off x="484632" y="1892808"/>
            <a:ext cx="5303520" cy="7132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Authentication asks 'who are you?' (Cognito answers this). Authorization asks 'what are you allowed to do?' (JWT Authorizer + IAM answers this). Both are required.</a:t>
            </a:r>
            <a:endParaRPr lang="en-US" sz="1000" dirty="0"/>
          </a:p>
        </p:txBody>
      </p:sp>
      <p:sp>
        <p:nvSpPr>
          <p:cNvPr id="12" name="Shape 9"/>
          <p:cNvSpPr/>
          <p:nvPr/>
        </p:nvSpPr>
        <p:spPr>
          <a:xfrm>
            <a:off x="6236208" y="1298448"/>
            <a:ext cx="5623560" cy="1417320"/>
          </a:xfrm>
          <a:prstGeom prst="rect">
            <a:avLst/>
          </a:prstGeom>
          <a:solidFill>
            <a:srgbClr val="162447"/>
          </a:solidFill>
          <a:ln w="12700">
            <a:solidFill>
              <a:srgbClr val="00B4D8"/>
            </a:solidFill>
            <a:prstDash val="solid"/>
          </a:ln>
        </p:spPr>
      </p:sp>
      <p:pic>
        <p:nvPicPr>
          <p:cNvPr id="13" name="Image 1" descr="preencoded.png"/>
          <p:cNvPicPr>
            <a:picLocks noChangeAspect="1"/>
          </p:cNvPicPr>
          <p:nvPr/>
        </p:nvPicPr>
        <p:blipFill>
          <a:blip r:embed="rId2"/>
          <a:stretch>
            <a:fillRect/>
          </a:stretch>
        </p:blipFill>
        <p:spPr>
          <a:xfrm>
            <a:off x="6400800" y="1435608"/>
            <a:ext cx="384048" cy="384048"/>
          </a:xfrm>
          <a:prstGeom prst="rect">
            <a:avLst/>
          </a:prstGeom>
        </p:spPr>
      </p:pic>
      <p:sp>
        <p:nvSpPr>
          <p:cNvPr id="14" name="Text 10"/>
          <p:cNvSpPr/>
          <p:nvPr/>
        </p:nvSpPr>
        <p:spPr>
          <a:xfrm>
            <a:off x="6894576" y="1435608"/>
            <a:ext cx="4800600" cy="347472"/>
          </a:xfrm>
          <a:prstGeom prst="rect">
            <a:avLst/>
          </a:prstGeom>
          <a:noFill/>
          <a:ln/>
        </p:spPr>
        <p:txBody>
          <a:bodyPr wrap="square" lIns="0" tIns="0" rIns="0" bIns="0" rtlCol="0" anchor="ctr"/>
          <a:lstStyle/>
          <a:p>
            <a:pPr indent="0" marL="0">
              <a:buNone/>
            </a:pPr>
            <a:r>
              <a:rPr lang="en-US" sz="1150" b="1" dirty="0">
                <a:solidFill>
                  <a:srgbClr val="00B4D8"/>
                </a:solidFill>
                <a:latin typeface="Calibri" pitchFamily="34" charset="0"/>
                <a:ea typeface="Calibri" pitchFamily="34" charset="-122"/>
                <a:cs typeface="Calibri" pitchFamily="34" charset="-120"/>
              </a:rPr>
              <a:t>Never Expose Private Resources</a:t>
            </a:r>
            <a:endParaRPr lang="en-US" sz="1150" dirty="0"/>
          </a:p>
        </p:txBody>
      </p:sp>
      <p:sp>
        <p:nvSpPr>
          <p:cNvPr id="15" name="Text 11"/>
          <p:cNvSpPr/>
          <p:nvPr/>
        </p:nvSpPr>
        <p:spPr>
          <a:xfrm>
            <a:off x="6400800" y="1892808"/>
            <a:ext cx="5303520" cy="7132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Private S3 objects must never be directly linked. All access must route through an authenticated API that validates identity before granting temporary access.</a:t>
            </a:r>
            <a:endParaRPr lang="en-US" sz="1000" dirty="0"/>
          </a:p>
        </p:txBody>
      </p:sp>
      <p:sp>
        <p:nvSpPr>
          <p:cNvPr id="16" name="Shape 12"/>
          <p:cNvSpPr/>
          <p:nvPr/>
        </p:nvSpPr>
        <p:spPr>
          <a:xfrm>
            <a:off x="320040" y="2871216"/>
            <a:ext cx="5623560" cy="1417320"/>
          </a:xfrm>
          <a:prstGeom prst="rect">
            <a:avLst/>
          </a:prstGeom>
          <a:solidFill>
            <a:srgbClr val="162447"/>
          </a:solidFill>
          <a:ln w="12700">
            <a:solidFill>
              <a:srgbClr val="2ECC71"/>
            </a:solidFill>
            <a:prstDash val="solid"/>
          </a:ln>
        </p:spPr>
      </p:sp>
      <p:pic>
        <p:nvPicPr>
          <p:cNvPr id="17" name="Image 2" descr="preencoded.png"/>
          <p:cNvPicPr>
            <a:picLocks noChangeAspect="1"/>
          </p:cNvPicPr>
          <p:nvPr/>
        </p:nvPicPr>
        <p:blipFill>
          <a:blip r:embed="rId3"/>
          <a:stretch>
            <a:fillRect/>
          </a:stretch>
        </p:blipFill>
        <p:spPr>
          <a:xfrm>
            <a:off x="484632" y="3008376"/>
            <a:ext cx="384048" cy="384048"/>
          </a:xfrm>
          <a:prstGeom prst="rect">
            <a:avLst/>
          </a:prstGeom>
        </p:spPr>
      </p:pic>
      <p:sp>
        <p:nvSpPr>
          <p:cNvPr id="18" name="Text 13"/>
          <p:cNvSpPr/>
          <p:nvPr/>
        </p:nvSpPr>
        <p:spPr>
          <a:xfrm>
            <a:off x="978408" y="3008376"/>
            <a:ext cx="4800600" cy="347472"/>
          </a:xfrm>
          <a:prstGeom prst="rect">
            <a:avLst/>
          </a:prstGeom>
          <a:noFill/>
          <a:ln/>
        </p:spPr>
        <p:txBody>
          <a:bodyPr wrap="square" lIns="0" tIns="0" rIns="0" bIns="0" rtlCol="0" anchor="ctr"/>
          <a:lstStyle/>
          <a:p>
            <a:pPr indent="0" marL="0">
              <a:buNone/>
            </a:pPr>
            <a:r>
              <a:rPr lang="en-US" sz="1150" b="1" dirty="0">
                <a:solidFill>
                  <a:srgbClr val="2ECC71"/>
                </a:solidFill>
                <a:latin typeface="Calibri" pitchFamily="34" charset="0"/>
                <a:ea typeface="Calibri" pitchFamily="34" charset="-122"/>
                <a:cs typeface="Calibri" pitchFamily="34" charset="-120"/>
              </a:rPr>
              <a:t>Temporary Access Pattern</a:t>
            </a:r>
            <a:endParaRPr lang="en-US" sz="1150" dirty="0"/>
          </a:p>
        </p:txBody>
      </p:sp>
      <p:sp>
        <p:nvSpPr>
          <p:cNvPr id="19" name="Text 14"/>
          <p:cNvSpPr/>
          <p:nvPr/>
        </p:nvSpPr>
        <p:spPr>
          <a:xfrm>
            <a:off x="484632" y="3465576"/>
            <a:ext cx="5303520" cy="7132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Pre-signed URLs embody the principle of time-limited access — credentials that expire by design reduce the blast radius of a leaked URL significantly.</a:t>
            </a:r>
            <a:endParaRPr lang="en-US" sz="1000" dirty="0"/>
          </a:p>
        </p:txBody>
      </p:sp>
      <p:sp>
        <p:nvSpPr>
          <p:cNvPr id="20" name="Shape 15"/>
          <p:cNvSpPr/>
          <p:nvPr/>
        </p:nvSpPr>
        <p:spPr>
          <a:xfrm>
            <a:off x="6236208" y="2871216"/>
            <a:ext cx="5623560" cy="1417320"/>
          </a:xfrm>
          <a:prstGeom prst="rect">
            <a:avLst/>
          </a:prstGeom>
          <a:solidFill>
            <a:srgbClr val="162447"/>
          </a:solidFill>
          <a:ln w="12700">
            <a:solidFill>
              <a:srgbClr val="1A73E8"/>
            </a:solidFill>
            <a:prstDash val="solid"/>
          </a:ln>
        </p:spPr>
      </p:sp>
      <p:pic>
        <p:nvPicPr>
          <p:cNvPr id="21" name="Image 3" descr="preencoded.png"/>
          <p:cNvPicPr>
            <a:picLocks noChangeAspect="1"/>
          </p:cNvPicPr>
          <p:nvPr/>
        </p:nvPicPr>
        <p:blipFill>
          <a:blip r:embed="rId4"/>
          <a:stretch>
            <a:fillRect/>
          </a:stretch>
        </p:blipFill>
        <p:spPr>
          <a:xfrm>
            <a:off x="6400800" y="3008376"/>
            <a:ext cx="384048" cy="384048"/>
          </a:xfrm>
          <a:prstGeom prst="rect">
            <a:avLst/>
          </a:prstGeom>
        </p:spPr>
      </p:pic>
      <p:sp>
        <p:nvSpPr>
          <p:cNvPr id="22" name="Text 16"/>
          <p:cNvSpPr/>
          <p:nvPr/>
        </p:nvSpPr>
        <p:spPr>
          <a:xfrm>
            <a:off x="6894576" y="3008376"/>
            <a:ext cx="4800600" cy="347472"/>
          </a:xfrm>
          <a:prstGeom prst="rect">
            <a:avLst/>
          </a:prstGeom>
          <a:noFill/>
          <a:ln/>
        </p:spPr>
        <p:txBody>
          <a:bodyPr wrap="square" lIns="0" tIns="0" rIns="0" bIns="0" rtlCol="0" anchor="ctr"/>
          <a:lstStyle/>
          <a:p>
            <a:pPr indent="0" marL="0">
              <a:buNone/>
            </a:pPr>
            <a:r>
              <a:rPr lang="en-US" sz="1150" b="1" dirty="0">
                <a:solidFill>
                  <a:srgbClr val="1A73E8"/>
                </a:solidFill>
                <a:latin typeface="Calibri" pitchFamily="34" charset="0"/>
                <a:ea typeface="Calibri" pitchFamily="34" charset="-122"/>
                <a:cs typeface="Calibri" pitchFamily="34" charset="-120"/>
              </a:rPr>
              <a:t>Least Privilege by Default</a:t>
            </a:r>
            <a:endParaRPr lang="en-US" sz="1150" dirty="0"/>
          </a:p>
        </p:txBody>
      </p:sp>
      <p:sp>
        <p:nvSpPr>
          <p:cNvPr id="23" name="Text 17"/>
          <p:cNvSpPr/>
          <p:nvPr/>
        </p:nvSpPr>
        <p:spPr>
          <a:xfrm>
            <a:off x="6400800" y="3465576"/>
            <a:ext cx="5303520" cy="7132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IAM roles should grant only the exact actions needed. A Lambda that reads S3 objects does not need s3:PutObject, s3:DeleteObject, or s3:ListBucket.</a:t>
            </a:r>
            <a:endParaRPr lang="en-US" sz="1000" dirty="0"/>
          </a:p>
        </p:txBody>
      </p:sp>
      <p:sp>
        <p:nvSpPr>
          <p:cNvPr id="24" name="Shape 18"/>
          <p:cNvSpPr/>
          <p:nvPr/>
        </p:nvSpPr>
        <p:spPr>
          <a:xfrm>
            <a:off x="320040" y="4443984"/>
            <a:ext cx="5623560" cy="1417320"/>
          </a:xfrm>
          <a:prstGeom prst="rect">
            <a:avLst/>
          </a:prstGeom>
          <a:solidFill>
            <a:srgbClr val="162447"/>
          </a:solidFill>
          <a:ln w="12700">
            <a:solidFill>
              <a:srgbClr val="FF9900"/>
            </a:solidFill>
            <a:prstDash val="solid"/>
          </a:ln>
        </p:spPr>
      </p:sp>
      <p:pic>
        <p:nvPicPr>
          <p:cNvPr id="25" name="Image 4" descr="preencoded.png"/>
          <p:cNvPicPr>
            <a:picLocks noChangeAspect="1"/>
          </p:cNvPicPr>
          <p:nvPr/>
        </p:nvPicPr>
        <p:blipFill>
          <a:blip r:embed="rId5"/>
          <a:stretch>
            <a:fillRect/>
          </a:stretch>
        </p:blipFill>
        <p:spPr>
          <a:xfrm>
            <a:off x="484632" y="4581144"/>
            <a:ext cx="384048" cy="384048"/>
          </a:xfrm>
          <a:prstGeom prst="rect">
            <a:avLst/>
          </a:prstGeom>
        </p:spPr>
      </p:pic>
      <p:sp>
        <p:nvSpPr>
          <p:cNvPr id="26" name="Text 19"/>
          <p:cNvSpPr/>
          <p:nvPr/>
        </p:nvSpPr>
        <p:spPr>
          <a:xfrm>
            <a:off x="978408" y="4581144"/>
            <a:ext cx="4800600" cy="347472"/>
          </a:xfrm>
          <a:prstGeom prst="rect">
            <a:avLst/>
          </a:prstGeom>
          <a:noFill/>
          <a:ln/>
        </p:spPr>
        <p:txBody>
          <a:bodyPr wrap="square" lIns="0" tIns="0" rIns="0" bIns="0" rtlCol="0" anchor="ctr"/>
          <a:lstStyle/>
          <a:p>
            <a:pPr indent="0" marL="0">
              <a:buNone/>
            </a:pPr>
            <a:r>
              <a:rPr lang="en-US" sz="1150" b="1" dirty="0">
                <a:solidFill>
                  <a:srgbClr val="FF9900"/>
                </a:solidFill>
                <a:latin typeface="Calibri" pitchFamily="34" charset="0"/>
                <a:ea typeface="Calibri" pitchFamily="34" charset="-122"/>
                <a:cs typeface="Calibri" pitchFamily="34" charset="-120"/>
              </a:rPr>
              <a:t>Backend Token Exchange</a:t>
            </a:r>
            <a:endParaRPr lang="en-US" sz="1150" dirty="0"/>
          </a:p>
        </p:txBody>
      </p:sp>
      <p:sp>
        <p:nvSpPr>
          <p:cNvPr id="27" name="Text 20"/>
          <p:cNvSpPr/>
          <p:nvPr/>
        </p:nvSpPr>
        <p:spPr>
          <a:xfrm>
            <a:off x="484632" y="5038344"/>
            <a:ext cx="5303520" cy="7132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Client secrets must never leave the server. The OAuth Authorization Code flow with backend exchange ensures the Cognito App Client secret stays hidden from browser clients.</a:t>
            </a:r>
            <a:endParaRPr lang="en-US" sz="1000" dirty="0"/>
          </a:p>
        </p:txBody>
      </p:sp>
      <p:sp>
        <p:nvSpPr>
          <p:cNvPr id="28" name="Shape 21"/>
          <p:cNvSpPr/>
          <p:nvPr/>
        </p:nvSpPr>
        <p:spPr>
          <a:xfrm>
            <a:off x="6236208" y="4443984"/>
            <a:ext cx="5623560" cy="1417320"/>
          </a:xfrm>
          <a:prstGeom prst="rect">
            <a:avLst/>
          </a:prstGeom>
          <a:solidFill>
            <a:srgbClr val="162447"/>
          </a:solidFill>
          <a:ln w="12700">
            <a:solidFill>
              <a:srgbClr val="2ECC71"/>
            </a:solidFill>
            <a:prstDash val="solid"/>
          </a:ln>
        </p:spPr>
      </p:sp>
      <p:pic>
        <p:nvPicPr>
          <p:cNvPr id="29" name="Image 5" descr="preencoded.png"/>
          <p:cNvPicPr>
            <a:picLocks noChangeAspect="1"/>
          </p:cNvPicPr>
          <p:nvPr/>
        </p:nvPicPr>
        <p:blipFill>
          <a:blip r:embed="rId6"/>
          <a:stretch>
            <a:fillRect/>
          </a:stretch>
        </p:blipFill>
        <p:spPr>
          <a:xfrm>
            <a:off x="6400800" y="4581144"/>
            <a:ext cx="384048" cy="384048"/>
          </a:xfrm>
          <a:prstGeom prst="rect">
            <a:avLst/>
          </a:prstGeom>
        </p:spPr>
      </p:pic>
      <p:sp>
        <p:nvSpPr>
          <p:cNvPr id="30" name="Text 22"/>
          <p:cNvSpPr/>
          <p:nvPr/>
        </p:nvSpPr>
        <p:spPr>
          <a:xfrm>
            <a:off x="6894576" y="4581144"/>
            <a:ext cx="4800600" cy="347472"/>
          </a:xfrm>
          <a:prstGeom prst="rect">
            <a:avLst/>
          </a:prstGeom>
          <a:noFill/>
          <a:ln/>
        </p:spPr>
        <p:txBody>
          <a:bodyPr wrap="square" lIns="0" tIns="0" rIns="0" bIns="0" rtlCol="0" anchor="ctr"/>
          <a:lstStyle/>
          <a:p>
            <a:pPr indent="0" marL="0">
              <a:buNone/>
            </a:pPr>
            <a:r>
              <a:rPr lang="en-US" sz="1150" b="1" dirty="0">
                <a:solidFill>
                  <a:srgbClr val="2ECC71"/>
                </a:solidFill>
                <a:latin typeface="Calibri" pitchFamily="34" charset="0"/>
                <a:ea typeface="Calibri" pitchFamily="34" charset="-122"/>
                <a:cs typeface="Calibri" pitchFamily="34" charset="-120"/>
              </a:rPr>
              <a:t>Validate on Every Request</a:t>
            </a:r>
            <a:endParaRPr lang="en-US" sz="1150" dirty="0"/>
          </a:p>
        </p:txBody>
      </p:sp>
      <p:sp>
        <p:nvSpPr>
          <p:cNvPr id="31" name="Text 23"/>
          <p:cNvSpPr/>
          <p:nvPr/>
        </p:nvSpPr>
        <p:spPr>
          <a:xfrm>
            <a:off x="6400800" y="5038344"/>
            <a:ext cx="5303520" cy="7132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JWTs are stateless — there is no session. The JWT Authorizer re-validates the signature and expiry on every single API request, providing continuous verification.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12 · FUTURE ENHANCEMENTS</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Future Enhancements</a:t>
            </a:r>
            <a:endParaRPr lang="en-US" sz="3000" dirty="0"/>
          </a:p>
        </p:txBody>
      </p:sp>
      <p:sp>
        <p:nvSpPr>
          <p:cNvPr id="8" name="Shape 6"/>
          <p:cNvSpPr/>
          <p:nvPr/>
        </p:nvSpPr>
        <p:spPr>
          <a:xfrm>
            <a:off x="320040" y="1298448"/>
            <a:ext cx="3703320" cy="2148840"/>
          </a:xfrm>
          <a:prstGeom prst="rect">
            <a:avLst/>
          </a:prstGeom>
          <a:solidFill>
            <a:srgbClr val="162447"/>
          </a:solidFill>
          <a:ln w="12700">
            <a:solidFill>
              <a:srgbClr val="FF9900"/>
            </a:solidFill>
            <a:prstDash val="solid"/>
          </a:ln>
          <a:effectLst>
            <a:outerShdw sx="100000" sy="100000" kx="0" ky="0" algn="bl" rotWithShape="0" blurRad="101600" dist="38100" dir="8100000">
              <a:srgbClr val="000000">
                <a:alpha val="25000"/>
              </a:srgbClr>
            </a:outerShdw>
          </a:effectLst>
        </p:spPr>
      </p:sp>
      <p:pic>
        <p:nvPicPr>
          <p:cNvPr id="9" name="Image 0" descr="preencoded.png"/>
          <p:cNvPicPr>
            <a:picLocks noChangeAspect="1"/>
          </p:cNvPicPr>
          <p:nvPr/>
        </p:nvPicPr>
        <p:blipFill>
          <a:blip r:embed="rId1"/>
          <a:stretch>
            <a:fillRect/>
          </a:stretch>
        </p:blipFill>
        <p:spPr>
          <a:xfrm>
            <a:off x="502920" y="1463040"/>
            <a:ext cx="438912" cy="438912"/>
          </a:xfrm>
          <a:prstGeom prst="rect">
            <a:avLst/>
          </a:prstGeom>
        </p:spPr>
      </p:pic>
      <p:sp>
        <p:nvSpPr>
          <p:cNvPr id="10" name="Text 7"/>
          <p:cNvSpPr/>
          <p:nvPr/>
        </p:nvSpPr>
        <p:spPr>
          <a:xfrm>
            <a:off x="1033272" y="1463040"/>
            <a:ext cx="2834640" cy="256032"/>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AWS WAF</a:t>
            </a:r>
            <a:endParaRPr lang="en-US" sz="1300" dirty="0"/>
          </a:p>
        </p:txBody>
      </p:sp>
      <p:sp>
        <p:nvSpPr>
          <p:cNvPr id="11" name="Text 8"/>
          <p:cNvSpPr/>
          <p:nvPr/>
        </p:nvSpPr>
        <p:spPr>
          <a:xfrm>
            <a:off x="1033272" y="1719072"/>
            <a:ext cx="2834640" cy="201168"/>
          </a:xfrm>
          <a:prstGeom prst="rect">
            <a:avLst/>
          </a:prstGeom>
          <a:noFill/>
          <a:ln/>
        </p:spPr>
        <p:txBody>
          <a:bodyPr wrap="square" lIns="0" tIns="0" rIns="0" bIns="0" rtlCol="0" anchor="ctr"/>
          <a:lstStyle/>
          <a:p>
            <a:pPr indent="0" marL="0">
              <a:buNone/>
            </a:pPr>
            <a:r>
              <a:rPr lang="en-US" sz="900" i="1" dirty="0">
                <a:solidFill>
                  <a:srgbClr val="7A90B8"/>
                </a:solidFill>
                <a:latin typeface="Calibri" pitchFamily="34" charset="0"/>
                <a:ea typeface="Calibri" pitchFamily="34" charset="-122"/>
                <a:cs typeface="Calibri" pitchFamily="34" charset="-120"/>
              </a:rPr>
              <a:t>Web Application Firewall</a:t>
            </a:r>
            <a:endParaRPr lang="en-US" sz="900" dirty="0"/>
          </a:p>
        </p:txBody>
      </p:sp>
      <p:sp>
        <p:nvSpPr>
          <p:cNvPr id="12" name="Shape 9"/>
          <p:cNvSpPr/>
          <p:nvPr/>
        </p:nvSpPr>
        <p:spPr>
          <a:xfrm>
            <a:off x="484632" y="2048256"/>
            <a:ext cx="3383280" cy="18288"/>
          </a:xfrm>
          <a:prstGeom prst="rect">
            <a:avLst/>
          </a:prstGeom>
          <a:solidFill>
            <a:srgbClr val="253B6E"/>
          </a:solidFill>
          <a:ln w="12700">
            <a:solidFill>
              <a:srgbClr val="253B6E"/>
            </a:solidFill>
            <a:prstDash val="solid"/>
          </a:ln>
        </p:spPr>
      </p:sp>
      <p:sp>
        <p:nvSpPr>
          <p:cNvPr id="13" name="Text 10"/>
          <p:cNvSpPr/>
          <p:nvPr/>
        </p:nvSpPr>
        <p:spPr>
          <a:xfrm>
            <a:off x="484632" y="2167128"/>
            <a:ext cx="3383280" cy="11704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Attach WAF to API Gateway to block SQL injection, XSS, and rate-limit by IP. Essential for production APIs exposed to the public internet.</a:t>
            </a:r>
            <a:endParaRPr lang="en-US" sz="1000" dirty="0"/>
          </a:p>
        </p:txBody>
      </p:sp>
      <p:sp>
        <p:nvSpPr>
          <p:cNvPr id="14" name="Shape 11"/>
          <p:cNvSpPr/>
          <p:nvPr/>
        </p:nvSpPr>
        <p:spPr>
          <a:xfrm>
            <a:off x="4306824" y="1298448"/>
            <a:ext cx="3703320" cy="2148840"/>
          </a:xfrm>
          <a:prstGeom prst="rect">
            <a:avLst/>
          </a:prstGeom>
          <a:solidFill>
            <a:srgbClr val="162447"/>
          </a:solidFill>
          <a:ln w="12700">
            <a:solidFill>
              <a:srgbClr val="00B4D8"/>
            </a:solidFill>
            <a:prstDash val="solid"/>
          </a:ln>
          <a:effectLst>
            <a:outerShdw sx="100000" sy="100000" kx="0" ky="0" algn="bl" rotWithShape="0" blurRad="101600" dist="38100" dir="8100000">
              <a:srgbClr val="000000">
                <a:alpha val="25000"/>
              </a:srgbClr>
            </a:outerShdw>
          </a:effectLst>
        </p:spPr>
      </p:sp>
      <p:pic>
        <p:nvPicPr>
          <p:cNvPr id="15" name="Image 1" descr="preencoded.png"/>
          <p:cNvPicPr>
            <a:picLocks noChangeAspect="1"/>
          </p:cNvPicPr>
          <p:nvPr/>
        </p:nvPicPr>
        <p:blipFill>
          <a:blip r:embed="rId2"/>
          <a:stretch>
            <a:fillRect/>
          </a:stretch>
        </p:blipFill>
        <p:spPr>
          <a:xfrm>
            <a:off x="4489704" y="1463040"/>
            <a:ext cx="438912" cy="438912"/>
          </a:xfrm>
          <a:prstGeom prst="rect">
            <a:avLst/>
          </a:prstGeom>
        </p:spPr>
      </p:pic>
      <p:sp>
        <p:nvSpPr>
          <p:cNvPr id="16" name="Text 12"/>
          <p:cNvSpPr/>
          <p:nvPr/>
        </p:nvSpPr>
        <p:spPr>
          <a:xfrm>
            <a:off x="5020056" y="1463040"/>
            <a:ext cx="2834640" cy="256032"/>
          </a:xfrm>
          <a:prstGeom prst="rect">
            <a:avLst/>
          </a:prstGeom>
          <a:noFill/>
          <a:ln/>
        </p:spPr>
        <p:txBody>
          <a:bodyPr wrap="square" lIns="0" tIns="0" rIns="0" bIns="0"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AWS Secrets Manager</a:t>
            </a:r>
            <a:endParaRPr lang="en-US" sz="1300" dirty="0"/>
          </a:p>
        </p:txBody>
      </p:sp>
      <p:sp>
        <p:nvSpPr>
          <p:cNvPr id="17" name="Text 13"/>
          <p:cNvSpPr/>
          <p:nvPr/>
        </p:nvSpPr>
        <p:spPr>
          <a:xfrm>
            <a:off x="5020056" y="1719072"/>
            <a:ext cx="2834640" cy="201168"/>
          </a:xfrm>
          <a:prstGeom prst="rect">
            <a:avLst/>
          </a:prstGeom>
          <a:noFill/>
          <a:ln/>
        </p:spPr>
        <p:txBody>
          <a:bodyPr wrap="square" lIns="0" tIns="0" rIns="0" bIns="0" rtlCol="0" anchor="ctr"/>
          <a:lstStyle/>
          <a:p>
            <a:pPr indent="0" marL="0">
              <a:buNone/>
            </a:pPr>
            <a:r>
              <a:rPr lang="en-US" sz="900" i="1" dirty="0">
                <a:solidFill>
                  <a:srgbClr val="7A90B8"/>
                </a:solidFill>
                <a:latin typeface="Calibri" pitchFamily="34" charset="0"/>
                <a:ea typeface="Calibri" pitchFamily="34" charset="-122"/>
                <a:cs typeface="Calibri" pitchFamily="34" charset="-120"/>
              </a:rPr>
              <a:t>Secure credential rotation</a:t>
            </a:r>
            <a:endParaRPr lang="en-US" sz="900" dirty="0"/>
          </a:p>
        </p:txBody>
      </p:sp>
      <p:sp>
        <p:nvSpPr>
          <p:cNvPr id="18" name="Shape 14"/>
          <p:cNvSpPr/>
          <p:nvPr/>
        </p:nvSpPr>
        <p:spPr>
          <a:xfrm>
            <a:off x="4471416" y="2048256"/>
            <a:ext cx="3383280" cy="18288"/>
          </a:xfrm>
          <a:prstGeom prst="rect">
            <a:avLst/>
          </a:prstGeom>
          <a:solidFill>
            <a:srgbClr val="253B6E"/>
          </a:solidFill>
          <a:ln w="12700">
            <a:solidFill>
              <a:srgbClr val="253B6E"/>
            </a:solidFill>
            <a:prstDash val="solid"/>
          </a:ln>
        </p:spPr>
      </p:sp>
      <p:sp>
        <p:nvSpPr>
          <p:cNvPr id="19" name="Text 15"/>
          <p:cNvSpPr/>
          <p:nvPr/>
        </p:nvSpPr>
        <p:spPr>
          <a:xfrm>
            <a:off x="4471416" y="2167128"/>
            <a:ext cx="3383280" cy="11704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Move the Cognito client secret out of Lambda environment variables and into Secrets Manager with automatic rotation on a schedule.</a:t>
            </a:r>
            <a:endParaRPr lang="en-US" sz="1000" dirty="0"/>
          </a:p>
        </p:txBody>
      </p:sp>
      <p:sp>
        <p:nvSpPr>
          <p:cNvPr id="20" name="Shape 16"/>
          <p:cNvSpPr/>
          <p:nvPr/>
        </p:nvSpPr>
        <p:spPr>
          <a:xfrm>
            <a:off x="8293608" y="1298448"/>
            <a:ext cx="3703320" cy="2148840"/>
          </a:xfrm>
          <a:prstGeom prst="rect">
            <a:avLst/>
          </a:prstGeom>
          <a:solidFill>
            <a:srgbClr val="162447"/>
          </a:solidFill>
          <a:ln w="12700">
            <a:solidFill>
              <a:srgbClr val="2ECC71"/>
            </a:solidFill>
            <a:prstDash val="solid"/>
          </a:ln>
          <a:effectLst>
            <a:outerShdw sx="100000" sy="100000" kx="0" ky="0" algn="bl" rotWithShape="0" blurRad="101600" dist="38100" dir="8100000">
              <a:srgbClr val="000000">
                <a:alpha val="25000"/>
              </a:srgbClr>
            </a:outerShdw>
          </a:effectLst>
        </p:spPr>
      </p:sp>
      <p:pic>
        <p:nvPicPr>
          <p:cNvPr id="21" name="Image 2" descr="preencoded.png"/>
          <p:cNvPicPr>
            <a:picLocks noChangeAspect="1"/>
          </p:cNvPicPr>
          <p:nvPr/>
        </p:nvPicPr>
        <p:blipFill>
          <a:blip r:embed="rId3"/>
          <a:stretch>
            <a:fillRect/>
          </a:stretch>
        </p:blipFill>
        <p:spPr>
          <a:xfrm>
            <a:off x="8476488" y="1463040"/>
            <a:ext cx="438912" cy="438912"/>
          </a:xfrm>
          <a:prstGeom prst="rect">
            <a:avLst/>
          </a:prstGeom>
        </p:spPr>
      </p:pic>
      <p:sp>
        <p:nvSpPr>
          <p:cNvPr id="22" name="Text 17"/>
          <p:cNvSpPr/>
          <p:nvPr/>
        </p:nvSpPr>
        <p:spPr>
          <a:xfrm>
            <a:off x="9006840" y="1463040"/>
            <a:ext cx="2834640" cy="256032"/>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CloudWatch Monitoring</a:t>
            </a:r>
            <a:endParaRPr lang="en-US" sz="1300" dirty="0"/>
          </a:p>
        </p:txBody>
      </p:sp>
      <p:sp>
        <p:nvSpPr>
          <p:cNvPr id="23" name="Text 18"/>
          <p:cNvSpPr/>
          <p:nvPr/>
        </p:nvSpPr>
        <p:spPr>
          <a:xfrm>
            <a:off x="9006840" y="1719072"/>
            <a:ext cx="2834640" cy="201168"/>
          </a:xfrm>
          <a:prstGeom prst="rect">
            <a:avLst/>
          </a:prstGeom>
          <a:noFill/>
          <a:ln/>
        </p:spPr>
        <p:txBody>
          <a:bodyPr wrap="square" lIns="0" tIns="0" rIns="0" bIns="0" rtlCol="0" anchor="ctr"/>
          <a:lstStyle/>
          <a:p>
            <a:pPr indent="0" marL="0">
              <a:buNone/>
            </a:pPr>
            <a:r>
              <a:rPr lang="en-US" sz="900" i="1" dirty="0">
                <a:solidFill>
                  <a:srgbClr val="7A90B8"/>
                </a:solidFill>
                <a:latin typeface="Calibri" pitchFamily="34" charset="0"/>
                <a:ea typeface="Calibri" pitchFamily="34" charset="-122"/>
                <a:cs typeface="Calibri" pitchFamily="34" charset="-120"/>
              </a:rPr>
              <a:t>Observability &amp; alerting</a:t>
            </a:r>
            <a:endParaRPr lang="en-US" sz="900" dirty="0"/>
          </a:p>
        </p:txBody>
      </p:sp>
      <p:sp>
        <p:nvSpPr>
          <p:cNvPr id="24" name="Shape 19"/>
          <p:cNvSpPr/>
          <p:nvPr/>
        </p:nvSpPr>
        <p:spPr>
          <a:xfrm>
            <a:off x="8458200" y="2048256"/>
            <a:ext cx="3383280" cy="18288"/>
          </a:xfrm>
          <a:prstGeom prst="rect">
            <a:avLst/>
          </a:prstGeom>
          <a:solidFill>
            <a:srgbClr val="253B6E"/>
          </a:solidFill>
          <a:ln w="12700">
            <a:solidFill>
              <a:srgbClr val="253B6E"/>
            </a:solidFill>
            <a:prstDash val="solid"/>
          </a:ln>
        </p:spPr>
      </p:sp>
      <p:sp>
        <p:nvSpPr>
          <p:cNvPr id="25" name="Text 20"/>
          <p:cNvSpPr/>
          <p:nvPr/>
        </p:nvSpPr>
        <p:spPr>
          <a:xfrm>
            <a:off x="8458200" y="2167128"/>
            <a:ext cx="3383280" cy="11704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Add Lambda error rate alarms, API Gateway 4xx/5xx dashboards, and S3 access anomaly detection to catch security events in real time.</a:t>
            </a:r>
            <a:endParaRPr lang="en-US" sz="1000" dirty="0"/>
          </a:p>
        </p:txBody>
      </p:sp>
      <p:sp>
        <p:nvSpPr>
          <p:cNvPr id="26" name="Shape 21"/>
          <p:cNvSpPr/>
          <p:nvPr/>
        </p:nvSpPr>
        <p:spPr>
          <a:xfrm>
            <a:off x="320040" y="3675888"/>
            <a:ext cx="3703320" cy="2148840"/>
          </a:xfrm>
          <a:prstGeom prst="rect">
            <a:avLst/>
          </a:prstGeom>
          <a:solidFill>
            <a:srgbClr val="162447"/>
          </a:solidFill>
          <a:ln w="12700">
            <a:solidFill>
              <a:srgbClr val="1A73E8"/>
            </a:solidFill>
            <a:prstDash val="solid"/>
          </a:ln>
          <a:effectLst>
            <a:outerShdw sx="100000" sy="100000" kx="0" ky="0" algn="bl" rotWithShape="0" blurRad="101600" dist="38100" dir="8100000">
              <a:srgbClr val="000000">
                <a:alpha val="25000"/>
              </a:srgbClr>
            </a:outerShdw>
          </a:effectLst>
        </p:spPr>
      </p:sp>
      <p:pic>
        <p:nvPicPr>
          <p:cNvPr id="27" name="Image 3" descr="preencoded.png"/>
          <p:cNvPicPr>
            <a:picLocks noChangeAspect="1"/>
          </p:cNvPicPr>
          <p:nvPr/>
        </p:nvPicPr>
        <p:blipFill>
          <a:blip r:embed="rId4"/>
          <a:stretch>
            <a:fillRect/>
          </a:stretch>
        </p:blipFill>
        <p:spPr>
          <a:xfrm>
            <a:off x="502920" y="3840480"/>
            <a:ext cx="438912" cy="438912"/>
          </a:xfrm>
          <a:prstGeom prst="rect">
            <a:avLst/>
          </a:prstGeom>
        </p:spPr>
      </p:pic>
      <p:sp>
        <p:nvSpPr>
          <p:cNvPr id="28" name="Text 22"/>
          <p:cNvSpPr/>
          <p:nvPr/>
        </p:nvSpPr>
        <p:spPr>
          <a:xfrm>
            <a:off x="1033272" y="3840480"/>
            <a:ext cx="2834640" cy="256032"/>
          </a:xfrm>
          <a:prstGeom prst="rect">
            <a:avLst/>
          </a:prstGeom>
          <a:noFill/>
          <a:ln/>
        </p:spPr>
        <p:txBody>
          <a:bodyPr wrap="square" lIns="0" tIns="0" rIns="0" bIns="0" rtlCol="0" anchor="ctr"/>
          <a:lstStyle/>
          <a:p>
            <a:pPr indent="0" marL="0">
              <a:buNone/>
            </a:pPr>
            <a:r>
              <a:rPr lang="en-US" sz="1300" b="1" dirty="0">
                <a:solidFill>
                  <a:srgbClr val="1A73E8"/>
                </a:solidFill>
                <a:latin typeface="Calibri" pitchFamily="34" charset="0"/>
                <a:ea typeface="Calibri" pitchFamily="34" charset="-122"/>
                <a:cs typeface="Calibri" pitchFamily="34" charset="-120"/>
              </a:rPr>
              <a:t>CloudFront Distribution</a:t>
            </a:r>
            <a:endParaRPr lang="en-US" sz="1300" dirty="0"/>
          </a:p>
        </p:txBody>
      </p:sp>
      <p:sp>
        <p:nvSpPr>
          <p:cNvPr id="29" name="Text 23"/>
          <p:cNvSpPr/>
          <p:nvPr/>
        </p:nvSpPr>
        <p:spPr>
          <a:xfrm>
            <a:off x="1033272" y="4096512"/>
            <a:ext cx="2834640" cy="201168"/>
          </a:xfrm>
          <a:prstGeom prst="rect">
            <a:avLst/>
          </a:prstGeom>
          <a:noFill/>
          <a:ln/>
        </p:spPr>
        <p:txBody>
          <a:bodyPr wrap="square" lIns="0" tIns="0" rIns="0" bIns="0" rtlCol="0" anchor="ctr"/>
          <a:lstStyle/>
          <a:p>
            <a:pPr indent="0" marL="0">
              <a:buNone/>
            </a:pPr>
            <a:r>
              <a:rPr lang="en-US" sz="900" i="1" dirty="0">
                <a:solidFill>
                  <a:srgbClr val="7A90B8"/>
                </a:solidFill>
                <a:latin typeface="Calibri" pitchFamily="34" charset="0"/>
                <a:ea typeface="Calibri" pitchFamily="34" charset="-122"/>
                <a:cs typeface="Calibri" pitchFamily="34" charset="-120"/>
              </a:rPr>
              <a:t>Global CDN + signed cookies</a:t>
            </a:r>
            <a:endParaRPr lang="en-US" sz="900" dirty="0"/>
          </a:p>
        </p:txBody>
      </p:sp>
      <p:sp>
        <p:nvSpPr>
          <p:cNvPr id="30" name="Shape 24"/>
          <p:cNvSpPr/>
          <p:nvPr/>
        </p:nvSpPr>
        <p:spPr>
          <a:xfrm>
            <a:off x="484632" y="4425696"/>
            <a:ext cx="3383280" cy="18288"/>
          </a:xfrm>
          <a:prstGeom prst="rect">
            <a:avLst/>
          </a:prstGeom>
          <a:solidFill>
            <a:srgbClr val="253B6E"/>
          </a:solidFill>
          <a:ln w="12700">
            <a:solidFill>
              <a:srgbClr val="253B6E"/>
            </a:solidFill>
            <a:prstDash val="solid"/>
          </a:ln>
        </p:spPr>
      </p:sp>
      <p:sp>
        <p:nvSpPr>
          <p:cNvPr id="31" name="Text 25"/>
          <p:cNvSpPr/>
          <p:nvPr/>
        </p:nvSpPr>
        <p:spPr>
          <a:xfrm>
            <a:off x="484632" y="4544568"/>
            <a:ext cx="3383280" cy="11704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Place CloudFront in front of S3 with signed cookies or signed URLs issued by CloudFront — enabling geo-restriction and edge caching of content.</a:t>
            </a:r>
            <a:endParaRPr lang="en-US" sz="1000" dirty="0"/>
          </a:p>
        </p:txBody>
      </p:sp>
      <p:sp>
        <p:nvSpPr>
          <p:cNvPr id="32" name="Shape 26"/>
          <p:cNvSpPr/>
          <p:nvPr/>
        </p:nvSpPr>
        <p:spPr>
          <a:xfrm>
            <a:off x="4306824" y="3675888"/>
            <a:ext cx="3703320" cy="2148840"/>
          </a:xfrm>
          <a:prstGeom prst="rect">
            <a:avLst/>
          </a:prstGeom>
          <a:solidFill>
            <a:srgbClr val="162447"/>
          </a:solidFill>
          <a:ln w="12700">
            <a:solidFill>
              <a:srgbClr val="FF9900"/>
            </a:solidFill>
            <a:prstDash val="solid"/>
          </a:ln>
          <a:effectLst>
            <a:outerShdw sx="100000" sy="100000" kx="0" ky="0" algn="bl" rotWithShape="0" blurRad="101600" dist="38100" dir="8100000">
              <a:srgbClr val="000000">
                <a:alpha val="25000"/>
              </a:srgbClr>
            </a:outerShdw>
          </a:effectLst>
        </p:spPr>
      </p:sp>
      <p:pic>
        <p:nvPicPr>
          <p:cNvPr id="33" name="Image 4" descr="preencoded.png"/>
          <p:cNvPicPr>
            <a:picLocks noChangeAspect="1"/>
          </p:cNvPicPr>
          <p:nvPr/>
        </p:nvPicPr>
        <p:blipFill>
          <a:blip r:embed="rId5"/>
          <a:stretch>
            <a:fillRect/>
          </a:stretch>
        </p:blipFill>
        <p:spPr>
          <a:xfrm>
            <a:off x="4489704" y="3840480"/>
            <a:ext cx="438912" cy="438912"/>
          </a:xfrm>
          <a:prstGeom prst="rect">
            <a:avLst/>
          </a:prstGeom>
        </p:spPr>
      </p:pic>
      <p:sp>
        <p:nvSpPr>
          <p:cNvPr id="34" name="Text 27"/>
          <p:cNvSpPr/>
          <p:nvPr/>
        </p:nvSpPr>
        <p:spPr>
          <a:xfrm>
            <a:off x="5020056" y="3840480"/>
            <a:ext cx="2834640" cy="256032"/>
          </a:xfrm>
          <a:prstGeom prst="rect">
            <a:avLst/>
          </a:prstGeom>
          <a:noFill/>
          <a:ln/>
        </p:spPr>
        <p:txBody>
          <a:bodyPr wrap="square" lIns="0" tIns="0" rIns="0" bIns="0" rtlCol="0" anchor="ctr"/>
          <a:lstStyle/>
          <a:p>
            <a:pPr indent="0" marL="0">
              <a:buNone/>
            </a:pPr>
            <a:r>
              <a:rPr lang="en-US" sz="1300" b="1" dirty="0">
                <a:solidFill>
                  <a:srgbClr val="FF9900"/>
                </a:solidFill>
                <a:latin typeface="Calibri" pitchFamily="34" charset="0"/>
                <a:ea typeface="Calibri" pitchFamily="34" charset="-122"/>
                <a:cs typeface="Calibri" pitchFamily="34" charset="-120"/>
              </a:rPr>
              <a:t>Auto URL Regeneration</a:t>
            </a:r>
            <a:endParaRPr lang="en-US" sz="1300" dirty="0"/>
          </a:p>
        </p:txBody>
      </p:sp>
      <p:sp>
        <p:nvSpPr>
          <p:cNvPr id="35" name="Text 28"/>
          <p:cNvSpPr/>
          <p:nvPr/>
        </p:nvSpPr>
        <p:spPr>
          <a:xfrm>
            <a:off x="5020056" y="4096512"/>
            <a:ext cx="2834640" cy="201168"/>
          </a:xfrm>
          <a:prstGeom prst="rect">
            <a:avLst/>
          </a:prstGeom>
          <a:noFill/>
          <a:ln/>
        </p:spPr>
        <p:txBody>
          <a:bodyPr wrap="square" lIns="0" tIns="0" rIns="0" bIns="0" rtlCol="0" anchor="ctr"/>
          <a:lstStyle/>
          <a:p>
            <a:pPr indent="0" marL="0">
              <a:buNone/>
            </a:pPr>
            <a:r>
              <a:rPr lang="en-US" sz="900" i="1" dirty="0">
                <a:solidFill>
                  <a:srgbClr val="7A90B8"/>
                </a:solidFill>
                <a:latin typeface="Calibri" pitchFamily="34" charset="0"/>
                <a:ea typeface="Calibri" pitchFamily="34" charset="-122"/>
                <a:cs typeface="Calibri" pitchFamily="34" charset="-120"/>
              </a:rPr>
              <a:t>Frontend refresh logic</a:t>
            </a:r>
            <a:endParaRPr lang="en-US" sz="900" dirty="0"/>
          </a:p>
        </p:txBody>
      </p:sp>
      <p:sp>
        <p:nvSpPr>
          <p:cNvPr id="36" name="Shape 29"/>
          <p:cNvSpPr/>
          <p:nvPr/>
        </p:nvSpPr>
        <p:spPr>
          <a:xfrm>
            <a:off x="4471416" y="4425696"/>
            <a:ext cx="3383280" cy="18288"/>
          </a:xfrm>
          <a:prstGeom prst="rect">
            <a:avLst/>
          </a:prstGeom>
          <a:solidFill>
            <a:srgbClr val="253B6E"/>
          </a:solidFill>
          <a:ln w="12700">
            <a:solidFill>
              <a:srgbClr val="253B6E"/>
            </a:solidFill>
            <a:prstDash val="solid"/>
          </a:ln>
        </p:spPr>
      </p:sp>
      <p:sp>
        <p:nvSpPr>
          <p:cNvPr id="37" name="Text 30"/>
          <p:cNvSpPr/>
          <p:nvPr/>
        </p:nvSpPr>
        <p:spPr>
          <a:xfrm>
            <a:off x="4471416" y="4544568"/>
            <a:ext cx="3383280" cy="11704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Implement a frontend timer that automatically requests a new pre-signed URL before expiry — providing seamless access without re-authentication.</a:t>
            </a:r>
            <a:endParaRPr lang="en-US" sz="1000" dirty="0"/>
          </a:p>
        </p:txBody>
      </p:sp>
      <p:sp>
        <p:nvSpPr>
          <p:cNvPr id="38" name="Shape 31"/>
          <p:cNvSpPr/>
          <p:nvPr/>
        </p:nvSpPr>
        <p:spPr>
          <a:xfrm>
            <a:off x="8293608" y="3675888"/>
            <a:ext cx="3703320" cy="2148840"/>
          </a:xfrm>
          <a:prstGeom prst="rect">
            <a:avLst/>
          </a:prstGeom>
          <a:solidFill>
            <a:srgbClr val="162447"/>
          </a:solidFill>
          <a:ln w="12700">
            <a:solidFill>
              <a:srgbClr val="00B4D8"/>
            </a:solidFill>
            <a:prstDash val="solid"/>
          </a:ln>
          <a:effectLst>
            <a:outerShdw sx="100000" sy="100000" kx="0" ky="0" algn="bl" rotWithShape="0" blurRad="101600" dist="38100" dir="8100000">
              <a:srgbClr val="000000">
                <a:alpha val="25000"/>
              </a:srgbClr>
            </a:outerShdw>
          </a:effectLst>
        </p:spPr>
      </p:sp>
      <p:pic>
        <p:nvPicPr>
          <p:cNvPr id="39" name="Image 5" descr="preencoded.png"/>
          <p:cNvPicPr>
            <a:picLocks noChangeAspect="1"/>
          </p:cNvPicPr>
          <p:nvPr/>
        </p:nvPicPr>
        <p:blipFill>
          <a:blip r:embed="rId6"/>
          <a:stretch>
            <a:fillRect/>
          </a:stretch>
        </p:blipFill>
        <p:spPr>
          <a:xfrm>
            <a:off x="8476488" y="3840480"/>
            <a:ext cx="438912" cy="438912"/>
          </a:xfrm>
          <a:prstGeom prst="rect">
            <a:avLst/>
          </a:prstGeom>
        </p:spPr>
      </p:pic>
      <p:sp>
        <p:nvSpPr>
          <p:cNvPr id="40" name="Text 32"/>
          <p:cNvSpPr/>
          <p:nvPr/>
        </p:nvSpPr>
        <p:spPr>
          <a:xfrm>
            <a:off x="9006840" y="3840480"/>
            <a:ext cx="2834640" cy="256032"/>
          </a:xfrm>
          <a:prstGeom prst="rect">
            <a:avLst/>
          </a:prstGeom>
          <a:noFill/>
          <a:ln/>
        </p:spPr>
        <p:txBody>
          <a:bodyPr wrap="square" lIns="0" tIns="0" rIns="0" bIns="0"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User Groups &amp; Roles</a:t>
            </a:r>
            <a:endParaRPr lang="en-US" sz="1300" dirty="0"/>
          </a:p>
        </p:txBody>
      </p:sp>
      <p:sp>
        <p:nvSpPr>
          <p:cNvPr id="41" name="Text 33"/>
          <p:cNvSpPr/>
          <p:nvPr/>
        </p:nvSpPr>
        <p:spPr>
          <a:xfrm>
            <a:off x="9006840" y="4096512"/>
            <a:ext cx="2834640" cy="201168"/>
          </a:xfrm>
          <a:prstGeom prst="rect">
            <a:avLst/>
          </a:prstGeom>
          <a:noFill/>
          <a:ln/>
        </p:spPr>
        <p:txBody>
          <a:bodyPr wrap="square" lIns="0" tIns="0" rIns="0" bIns="0" rtlCol="0" anchor="ctr"/>
          <a:lstStyle/>
          <a:p>
            <a:pPr indent="0" marL="0">
              <a:buNone/>
            </a:pPr>
            <a:r>
              <a:rPr lang="en-US" sz="900" i="1" dirty="0">
                <a:solidFill>
                  <a:srgbClr val="7A90B8"/>
                </a:solidFill>
                <a:latin typeface="Calibri" pitchFamily="34" charset="0"/>
                <a:ea typeface="Calibri" pitchFamily="34" charset="-122"/>
                <a:cs typeface="Calibri" pitchFamily="34" charset="-120"/>
              </a:rPr>
              <a:t>Fine-grained authorization</a:t>
            </a:r>
            <a:endParaRPr lang="en-US" sz="900" dirty="0"/>
          </a:p>
        </p:txBody>
      </p:sp>
      <p:sp>
        <p:nvSpPr>
          <p:cNvPr id="42" name="Shape 34"/>
          <p:cNvSpPr/>
          <p:nvPr/>
        </p:nvSpPr>
        <p:spPr>
          <a:xfrm>
            <a:off x="8458200" y="4425696"/>
            <a:ext cx="3383280" cy="18288"/>
          </a:xfrm>
          <a:prstGeom prst="rect">
            <a:avLst/>
          </a:prstGeom>
          <a:solidFill>
            <a:srgbClr val="253B6E"/>
          </a:solidFill>
          <a:ln w="12700">
            <a:solidFill>
              <a:srgbClr val="253B6E"/>
            </a:solidFill>
            <a:prstDash val="solid"/>
          </a:ln>
        </p:spPr>
      </p:sp>
      <p:sp>
        <p:nvSpPr>
          <p:cNvPr id="43" name="Text 35"/>
          <p:cNvSpPr/>
          <p:nvPr/>
        </p:nvSpPr>
        <p:spPr>
          <a:xfrm>
            <a:off x="8458200" y="4544568"/>
            <a:ext cx="3383280" cy="1170432"/>
          </a:xfrm>
          <a:prstGeom prst="rect">
            <a:avLst/>
          </a:prstGeom>
          <a:noFill/>
          <a:ln/>
        </p:spPr>
        <p:txBody>
          <a:bodyPr wrap="square" lIns="0" tIns="0" rIns="0" bIns="0" rtlCol="0" anchor="ctr"/>
          <a:lstStyle/>
          <a:p>
            <a:pPr indent="0" marL="0">
              <a:buNone/>
            </a:pPr>
            <a:r>
              <a:rPr lang="en-US" sz="1000" dirty="0">
                <a:solidFill>
                  <a:srgbClr val="B8C8E8"/>
                </a:solidFill>
                <a:latin typeface="Calibri" pitchFamily="34" charset="0"/>
                <a:ea typeface="Calibri" pitchFamily="34" charset="-122"/>
                <a:cs typeface="Calibri" pitchFamily="34" charset="-120"/>
              </a:rPr>
              <a:t>Use Cognito User Groups to define roles (admin, premium, free). Lambda reads group claims from the JWT and returns different content tiers accordingly.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13 · INTERVIEW Q&amp;A</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Interview Questions &amp; Answers</a:t>
            </a:r>
            <a:endParaRPr lang="en-US" sz="3000" dirty="0"/>
          </a:p>
        </p:txBody>
      </p:sp>
      <p:sp>
        <p:nvSpPr>
          <p:cNvPr id="8" name="Shape 6"/>
          <p:cNvSpPr/>
          <p:nvPr/>
        </p:nvSpPr>
        <p:spPr>
          <a:xfrm>
            <a:off x="320040" y="1280160"/>
            <a:ext cx="11521440" cy="987552"/>
          </a:xfrm>
          <a:prstGeom prst="rect">
            <a:avLst/>
          </a:prstGeom>
          <a:solidFill>
            <a:srgbClr val="162447"/>
          </a:solidFill>
          <a:ln w="12700">
            <a:solidFill>
              <a:srgbClr val="253B6E"/>
            </a:solidFill>
            <a:prstDash val="solid"/>
          </a:ln>
        </p:spPr>
      </p:sp>
      <p:sp>
        <p:nvSpPr>
          <p:cNvPr id="9" name="Shape 7"/>
          <p:cNvSpPr/>
          <p:nvPr/>
        </p:nvSpPr>
        <p:spPr>
          <a:xfrm>
            <a:off x="320040" y="1280160"/>
            <a:ext cx="54864" cy="987552"/>
          </a:xfrm>
          <a:prstGeom prst="rect">
            <a:avLst/>
          </a:prstGeom>
          <a:solidFill>
            <a:srgbClr val="FF9900"/>
          </a:solidFill>
          <a:ln w="12700">
            <a:solidFill>
              <a:srgbClr val="FF9900"/>
            </a:solidFill>
            <a:prstDash val="solid"/>
          </a:ln>
        </p:spPr>
      </p:sp>
      <p:sp>
        <p:nvSpPr>
          <p:cNvPr id="10" name="Shape 8"/>
          <p:cNvSpPr/>
          <p:nvPr/>
        </p:nvSpPr>
        <p:spPr>
          <a:xfrm>
            <a:off x="475488" y="1371600"/>
            <a:ext cx="256032" cy="256032"/>
          </a:xfrm>
          <a:prstGeom prst="rect">
            <a:avLst/>
          </a:prstGeom>
          <a:solidFill>
            <a:srgbClr val="1E3A6E"/>
          </a:solidFill>
          <a:ln w="12700">
            <a:solidFill>
              <a:srgbClr val="00B4D8"/>
            </a:solidFill>
            <a:prstDash val="solid"/>
          </a:ln>
        </p:spPr>
      </p:sp>
      <p:sp>
        <p:nvSpPr>
          <p:cNvPr id="11" name="Text 9"/>
          <p:cNvSpPr/>
          <p:nvPr/>
        </p:nvSpPr>
        <p:spPr>
          <a:xfrm>
            <a:off x="475488" y="1371600"/>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12" name="Text 10"/>
          <p:cNvSpPr/>
          <p:nvPr/>
        </p:nvSpPr>
        <p:spPr>
          <a:xfrm>
            <a:off x="822960" y="1353312"/>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What is the difference between Authentication and Authorization?</a:t>
            </a:r>
            <a:endParaRPr lang="en-US" sz="1050" dirty="0"/>
          </a:p>
        </p:txBody>
      </p:sp>
      <p:sp>
        <p:nvSpPr>
          <p:cNvPr id="13" name="Shape 11"/>
          <p:cNvSpPr/>
          <p:nvPr/>
        </p:nvSpPr>
        <p:spPr>
          <a:xfrm>
            <a:off x="475488" y="1719072"/>
            <a:ext cx="256032" cy="256032"/>
          </a:xfrm>
          <a:prstGeom prst="rect">
            <a:avLst/>
          </a:prstGeom>
          <a:solidFill>
            <a:srgbClr val="2ECC71"/>
          </a:solidFill>
          <a:ln w="12700">
            <a:solidFill>
              <a:srgbClr val="2ECC71"/>
            </a:solidFill>
            <a:prstDash val="solid"/>
          </a:ln>
        </p:spPr>
      </p:sp>
      <p:sp>
        <p:nvSpPr>
          <p:cNvPr id="14" name="Text 12"/>
          <p:cNvSpPr/>
          <p:nvPr/>
        </p:nvSpPr>
        <p:spPr>
          <a:xfrm>
            <a:off x="475488" y="1719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Text 13"/>
          <p:cNvSpPr/>
          <p:nvPr/>
        </p:nvSpPr>
        <p:spPr>
          <a:xfrm>
            <a:off x="822960" y="1691640"/>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Authentication verifies identity — Cognito does this via the Hosted UI login. Authorization decides what the authenticated user can access — the JWT Authorizer and IAM roles handle this. Both are required for secure systems.</a:t>
            </a:r>
            <a:endParaRPr lang="en-US" sz="950" dirty="0"/>
          </a:p>
        </p:txBody>
      </p:sp>
      <p:sp>
        <p:nvSpPr>
          <p:cNvPr id="16" name="Shape 14"/>
          <p:cNvSpPr/>
          <p:nvPr/>
        </p:nvSpPr>
        <p:spPr>
          <a:xfrm>
            <a:off x="320040" y="2359152"/>
            <a:ext cx="11521440" cy="987552"/>
          </a:xfrm>
          <a:prstGeom prst="rect">
            <a:avLst/>
          </a:prstGeom>
          <a:solidFill>
            <a:srgbClr val="162447"/>
          </a:solidFill>
          <a:ln w="12700">
            <a:solidFill>
              <a:srgbClr val="253B6E"/>
            </a:solidFill>
            <a:prstDash val="solid"/>
          </a:ln>
        </p:spPr>
      </p:sp>
      <p:sp>
        <p:nvSpPr>
          <p:cNvPr id="17" name="Shape 15"/>
          <p:cNvSpPr/>
          <p:nvPr/>
        </p:nvSpPr>
        <p:spPr>
          <a:xfrm>
            <a:off x="320040" y="2359152"/>
            <a:ext cx="54864" cy="987552"/>
          </a:xfrm>
          <a:prstGeom prst="rect">
            <a:avLst/>
          </a:prstGeom>
          <a:solidFill>
            <a:srgbClr val="FF9900"/>
          </a:solidFill>
          <a:ln w="12700">
            <a:solidFill>
              <a:srgbClr val="FF9900"/>
            </a:solidFill>
            <a:prstDash val="solid"/>
          </a:ln>
        </p:spPr>
      </p:sp>
      <p:sp>
        <p:nvSpPr>
          <p:cNvPr id="18" name="Shape 16"/>
          <p:cNvSpPr/>
          <p:nvPr/>
        </p:nvSpPr>
        <p:spPr>
          <a:xfrm>
            <a:off x="475488" y="2450592"/>
            <a:ext cx="256032" cy="256032"/>
          </a:xfrm>
          <a:prstGeom prst="rect">
            <a:avLst/>
          </a:prstGeom>
          <a:solidFill>
            <a:srgbClr val="1E3A6E"/>
          </a:solidFill>
          <a:ln w="12700">
            <a:solidFill>
              <a:srgbClr val="00B4D8"/>
            </a:solidFill>
            <a:prstDash val="solid"/>
          </a:ln>
        </p:spPr>
      </p:sp>
      <p:sp>
        <p:nvSpPr>
          <p:cNvPr id="19" name="Text 17"/>
          <p:cNvSpPr/>
          <p:nvPr/>
        </p:nvSpPr>
        <p:spPr>
          <a:xfrm>
            <a:off x="475488" y="2450592"/>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20" name="Text 18"/>
          <p:cNvSpPr/>
          <p:nvPr/>
        </p:nvSpPr>
        <p:spPr>
          <a:xfrm>
            <a:off x="822960" y="2432304"/>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Why use Authorization Code flow instead of Implicit flow?</a:t>
            </a:r>
            <a:endParaRPr lang="en-US" sz="1050" dirty="0"/>
          </a:p>
        </p:txBody>
      </p:sp>
      <p:sp>
        <p:nvSpPr>
          <p:cNvPr id="21" name="Shape 19"/>
          <p:cNvSpPr/>
          <p:nvPr/>
        </p:nvSpPr>
        <p:spPr>
          <a:xfrm>
            <a:off x="475488" y="2798064"/>
            <a:ext cx="256032" cy="256032"/>
          </a:xfrm>
          <a:prstGeom prst="rect">
            <a:avLst/>
          </a:prstGeom>
          <a:solidFill>
            <a:srgbClr val="2ECC71"/>
          </a:solidFill>
          <a:ln w="12700">
            <a:solidFill>
              <a:srgbClr val="2ECC71"/>
            </a:solidFill>
            <a:prstDash val="solid"/>
          </a:ln>
        </p:spPr>
      </p:sp>
      <p:sp>
        <p:nvSpPr>
          <p:cNvPr id="22" name="Text 20"/>
          <p:cNvSpPr/>
          <p:nvPr/>
        </p:nvSpPr>
        <p:spPr>
          <a:xfrm>
            <a:off x="475488" y="27980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1"/>
          <p:cNvSpPr/>
          <p:nvPr/>
        </p:nvSpPr>
        <p:spPr>
          <a:xfrm>
            <a:off x="822960" y="2770632"/>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The Implicit flow returns tokens directly in the URL, exposing them to browser history and server logs. Authorization Code flow keeps tokens out of the URL and exchanges the code server-side, keeping the client secret hidden.</a:t>
            </a:r>
            <a:endParaRPr lang="en-US" sz="950" dirty="0"/>
          </a:p>
        </p:txBody>
      </p:sp>
      <p:sp>
        <p:nvSpPr>
          <p:cNvPr id="24" name="Shape 22"/>
          <p:cNvSpPr/>
          <p:nvPr/>
        </p:nvSpPr>
        <p:spPr>
          <a:xfrm>
            <a:off x="320040" y="3438144"/>
            <a:ext cx="11521440" cy="987552"/>
          </a:xfrm>
          <a:prstGeom prst="rect">
            <a:avLst/>
          </a:prstGeom>
          <a:solidFill>
            <a:srgbClr val="162447"/>
          </a:solidFill>
          <a:ln w="12700">
            <a:solidFill>
              <a:srgbClr val="253B6E"/>
            </a:solidFill>
            <a:prstDash val="solid"/>
          </a:ln>
        </p:spPr>
      </p:sp>
      <p:sp>
        <p:nvSpPr>
          <p:cNvPr id="25" name="Shape 23"/>
          <p:cNvSpPr/>
          <p:nvPr/>
        </p:nvSpPr>
        <p:spPr>
          <a:xfrm>
            <a:off x="320040" y="3438144"/>
            <a:ext cx="54864" cy="987552"/>
          </a:xfrm>
          <a:prstGeom prst="rect">
            <a:avLst/>
          </a:prstGeom>
          <a:solidFill>
            <a:srgbClr val="FF9900"/>
          </a:solidFill>
          <a:ln w="12700">
            <a:solidFill>
              <a:srgbClr val="FF9900"/>
            </a:solidFill>
            <a:prstDash val="solid"/>
          </a:ln>
        </p:spPr>
      </p:sp>
      <p:sp>
        <p:nvSpPr>
          <p:cNvPr id="26" name="Shape 24"/>
          <p:cNvSpPr/>
          <p:nvPr/>
        </p:nvSpPr>
        <p:spPr>
          <a:xfrm>
            <a:off x="475488" y="3529584"/>
            <a:ext cx="256032" cy="256032"/>
          </a:xfrm>
          <a:prstGeom prst="rect">
            <a:avLst/>
          </a:prstGeom>
          <a:solidFill>
            <a:srgbClr val="1E3A6E"/>
          </a:solidFill>
          <a:ln w="12700">
            <a:solidFill>
              <a:srgbClr val="00B4D8"/>
            </a:solidFill>
            <a:prstDash val="solid"/>
          </a:ln>
        </p:spPr>
      </p:sp>
      <p:sp>
        <p:nvSpPr>
          <p:cNvPr id="27" name="Text 25"/>
          <p:cNvSpPr/>
          <p:nvPr/>
        </p:nvSpPr>
        <p:spPr>
          <a:xfrm>
            <a:off x="475488" y="3529584"/>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28" name="Text 26"/>
          <p:cNvSpPr/>
          <p:nvPr/>
        </p:nvSpPr>
        <p:spPr>
          <a:xfrm>
            <a:off x="822960" y="3511296"/>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What happens if a JWT token is expired when hitting the API?</a:t>
            </a:r>
            <a:endParaRPr lang="en-US" sz="1050" dirty="0"/>
          </a:p>
        </p:txBody>
      </p:sp>
      <p:sp>
        <p:nvSpPr>
          <p:cNvPr id="29" name="Shape 27"/>
          <p:cNvSpPr/>
          <p:nvPr/>
        </p:nvSpPr>
        <p:spPr>
          <a:xfrm>
            <a:off x="475488" y="3877056"/>
            <a:ext cx="256032" cy="256032"/>
          </a:xfrm>
          <a:prstGeom prst="rect">
            <a:avLst/>
          </a:prstGeom>
          <a:solidFill>
            <a:srgbClr val="2ECC71"/>
          </a:solidFill>
          <a:ln w="12700">
            <a:solidFill>
              <a:srgbClr val="2ECC71"/>
            </a:solidFill>
            <a:prstDash val="solid"/>
          </a:ln>
        </p:spPr>
      </p:sp>
      <p:sp>
        <p:nvSpPr>
          <p:cNvPr id="30" name="Text 28"/>
          <p:cNvSpPr/>
          <p:nvPr/>
        </p:nvSpPr>
        <p:spPr>
          <a:xfrm>
            <a:off x="475488" y="38770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1" name="Text 29"/>
          <p:cNvSpPr/>
          <p:nvPr/>
        </p:nvSpPr>
        <p:spPr>
          <a:xfrm>
            <a:off x="822960" y="3849624"/>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The JWT Authorizer in API Gateway validates the exp claim. An expired token results in a 401 Unauthorized response immediately — Lambda is never invoked. The user must re-authenticate to get a fresh token.</a:t>
            </a:r>
            <a:endParaRPr lang="en-US" sz="950" dirty="0"/>
          </a:p>
        </p:txBody>
      </p:sp>
      <p:sp>
        <p:nvSpPr>
          <p:cNvPr id="32" name="Shape 30"/>
          <p:cNvSpPr/>
          <p:nvPr/>
        </p:nvSpPr>
        <p:spPr>
          <a:xfrm>
            <a:off x="320040" y="4517136"/>
            <a:ext cx="11521440" cy="987552"/>
          </a:xfrm>
          <a:prstGeom prst="rect">
            <a:avLst/>
          </a:prstGeom>
          <a:solidFill>
            <a:srgbClr val="162447"/>
          </a:solidFill>
          <a:ln w="12700">
            <a:solidFill>
              <a:srgbClr val="253B6E"/>
            </a:solidFill>
            <a:prstDash val="solid"/>
          </a:ln>
        </p:spPr>
      </p:sp>
      <p:sp>
        <p:nvSpPr>
          <p:cNvPr id="33" name="Shape 31"/>
          <p:cNvSpPr/>
          <p:nvPr/>
        </p:nvSpPr>
        <p:spPr>
          <a:xfrm>
            <a:off x="320040" y="4517136"/>
            <a:ext cx="54864" cy="987552"/>
          </a:xfrm>
          <a:prstGeom prst="rect">
            <a:avLst/>
          </a:prstGeom>
          <a:solidFill>
            <a:srgbClr val="FF9900"/>
          </a:solidFill>
          <a:ln w="12700">
            <a:solidFill>
              <a:srgbClr val="FF9900"/>
            </a:solidFill>
            <a:prstDash val="solid"/>
          </a:ln>
        </p:spPr>
      </p:sp>
      <p:sp>
        <p:nvSpPr>
          <p:cNvPr id="34" name="Shape 32"/>
          <p:cNvSpPr/>
          <p:nvPr/>
        </p:nvSpPr>
        <p:spPr>
          <a:xfrm>
            <a:off x="475488" y="4608576"/>
            <a:ext cx="256032" cy="256032"/>
          </a:xfrm>
          <a:prstGeom prst="rect">
            <a:avLst/>
          </a:prstGeom>
          <a:solidFill>
            <a:srgbClr val="1E3A6E"/>
          </a:solidFill>
          <a:ln w="12700">
            <a:solidFill>
              <a:srgbClr val="00B4D8"/>
            </a:solidFill>
            <a:prstDash val="solid"/>
          </a:ln>
        </p:spPr>
      </p:sp>
      <p:sp>
        <p:nvSpPr>
          <p:cNvPr id="35" name="Text 33"/>
          <p:cNvSpPr/>
          <p:nvPr/>
        </p:nvSpPr>
        <p:spPr>
          <a:xfrm>
            <a:off x="475488" y="4608576"/>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36" name="Text 34"/>
          <p:cNvSpPr/>
          <p:nvPr/>
        </p:nvSpPr>
        <p:spPr>
          <a:xfrm>
            <a:off x="822960" y="4590288"/>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Why must token exchange happen in Lambda and not the browser?</a:t>
            </a:r>
            <a:endParaRPr lang="en-US" sz="1050" dirty="0"/>
          </a:p>
        </p:txBody>
      </p:sp>
      <p:sp>
        <p:nvSpPr>
          <p:cNvPr id="37" name="Shape 35"/>
          <p:cNvSpPr/>
          <p:nvPr/>
        </p:nvSpPr>
        <p:spPr>
          <a:xfrm>
            <a:off x="475488" y="4956048"/>
            <a:ext cx="256032" cy="256032"/>
          </a:xfrm>
          <a:prstGeom prst="rect">
            <a:avLst/>
          </a:prstGeom>
          <a:solidFill>
            <a:srgbClr val="2ECC71"/>
          </a:solidFill>
          <a:ln w="12700">
            <a:solidFill>
              <a:srgbClr val="2ECC71"/>
            </a:solidFill>
            <a:prstDash val="solid"/>
          </a:ln>
        </p:spPr>
      </p:sp>
      <p:sp>
        <p:nvSpPr>
          <p:cNvPr id="38" name="Text 36"/>
          <p:cNvSpPr/>
          <p:nvPr/>
        </p:nvSpPr>
        <p:spPr>
          <a:xfrm>
            <a:off x="475488" y="495604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7"/>
          <p:cNvSpPr/>
          <p:nvPr/>
        </p:nvSpPr>
        <p:spPr>
          <a:xfrm>
            <a:off x="822960" y="4928616"/>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The Cognito App Client secret is required for the token exchange request. Placing this logic in the frontend would expose the secret in JavaScript source code. Lambda keeps it server-side and secure.</a:t>
            </a:r>
            <a:endParaRPr lang="en-US" sz="950" dirty="0"/>
          </a:p>
        </p:txBody>
      </p:sp>
      <p:sp>
        <p:nvSpPr>
          <p:cNvPr id="40" name="Shape 38"/>
          <p:cNvSpPr/>
          <p:nvPr/>
        </p:nvSpPr>
        <p:spPr>
          <a:xfrm>
            <a:off x="320040" y="5596128"/>
            <a:ext cx="11521440" cy="987552"/>
          </a:xfrm>
          <a:prstGeom prst="rect">
            <a:avLst/>
          </a:prstGeom>
          <a:solidFill>
            <a:srgbClr val="162447"/>
          </a:solidFill>
          <a:ln w="12700">
            <a:solidFill>
              <a:srgbClr val="253B6E"/>
            </a:solidFill>
            <a:prstDash val="solid"/>
          </a:ln>
        </p:spPr>
      </p:sp>
      <p:sp>
        <p:nvSpPr>
          <p:cNvPr id="41" name="Shape 39"/>
          <p:cNvSpPr/>
          <p:nvPr/>
        </p:nvSpPr>
        <p:spPr>
          <a:xfrm>
            <a:off x="320040" y="5596128"/>
            <a:ext cx="54864" cy="987552"/>
          </a:xfrm>
          <a:prstGeom prst="rect">
            <a:avLst/>
          </a:prstGeom>
          <a:solidFill>
            <a:srgbClr val="FF9900"/>
          </a:solidFill>
          <a:ln w="12700">
            <a:solidFill>
              <a:srgbClr val="FF9900"/>
            </a:solidFill>
            <a:prstDash val="solid"/>
          </a:ln>
        </p:spPr>
      </p:sp>
      <p:sp>
        <p:nvSpPr>
          <p:cNvPr id="42" name="Shape 40"/>
          <p:cNvSpPr/>
          <p:nvPr/>
        </p:nvSpPr>
        <p:spPr>
          <a:xfrm>
            <a:off x="475488" y="5687568"/>
            <a:ext cx="256032" cy="256032"/>
          </a:xfrm>
          <a:prstGeom prst="rect">
            <a:avLst/>
          </a:prstGeom>
          <a:solidFill>
            <a:srgbClr val="1E3A6E"/>
          </a:solidFill>
          <a:ln w="12700">
            <a:solidFill>
              <a:srgbClr val="00B4D8"/>
            </a:solidFill>
            <a:prstDash val="solid"/>
          </a:ln>
        </p:spPr>
      </p:sp>
      <p:sp>
        <p:nvSpPr>
          <p:cNvPr id="43" name="Text 41"/>
          <p:cNvSpPr/>
          <p:nvPr/>
        </p:nvSpPr>
        <p:spPr>
          <a:xfrm>
            <a:off x="475488" y="5687568"/>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44" name="Text 42"/>
          <p:cNvSpPr/>
          <p:nvPr/>
        </p:nvSpPr>
        <p:spPr>
          <a:xfrm>
            <a:off x="822960" y="5669280"/>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How does a pre-signed URL grant access without making S3 public?</a:t>
            </a:r>
            <a:endParaRPr lang="en-US" sz="1050" dirty="0"/>
          </a:p>
        </p:txBody>
      </p:sp>
      <p:sp>
        <p:nvSpPr>
          <p:cNvPr id="45" name="Shape 43"/>
          <p:cNvSpPr/>
          <p:nvPr/>
        </p:nvSpPr>
        <p:spPr>
          <a:xfrm>
            <a:off x="475488" y="6035040"/>
            <a:ext cx="256032" cy="256032"/>
          </a:xfrm>
          <a:prstGeom prst="rect">
            <a:avLst/>
          </a:prstGeom>
          <a:solidFill>
            <a:srgbClr val="2ECC71"/>
          </a:solidFill>
          <a:ln w="12700">
            <a:solidFill>
              <a:srgbClr val="2ECC71"/>
            </a:solidFill>
            <a:prstDash val="solid"/>
          </a:ln>
        </p:spPr>
      </p:sp>
      <p:sp>
        <p:nvSpPr>
          <p:cNvPr id="46" name="Text 44"/>
          <p:cNvSpPr/>
          <p:nvPr/>
        </p:nvSpPr>
        <p:spPr>
          <a:xfrm>
            <a:off x="475488" y="603504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7" name="Text 45"/>
          <p:cNvSpPr/>
          <p:nvPr/>
        </p:nvSpPr>
        <p:spPr>
          <a:xfrm>
            <a:off x="822960" y="6007608"/>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Pre-signed URLs embed the IAM credentials of the signer (Lambda's role) cryptographically in the URL. S3 validates these credentials against the policy at request time — granting temporary access without changing the bucket's public access settings.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347472"/>
          </a:xfrm>
          <a:prstGeom prst="rect">
            <a:avLst/>
          </a:prstGeom>
          <a:solidFill>
            <a:srgbClr val="1A2E5A"/>
          </a:solidFill>
          <a:ln w="12700">
            <a:solidFill>
              <a:srgbClr val="1A2E5A"/>
            </a:solidFill>
            <a:prstDash val="solid"/>
          </a:ln>
        </p:spPr>
      </p:sp>
      <p:sp>
        <p:nvSpPr>
          <p:cNvPr id="3" name="Text 1"/>
          <p:cNvSpPr/>
          <p:nvPr/>
        </p:nvSpPr>
        <p:spPr>
          <a:xfrm>
            <a:off x="274320" y="0"/>
            <a:ext cx="7315200" cy="347472"/>
          </a:xfrm>
          <a:prstGeom prst="rect">
            <a:avLst/>
          </a:prstGeom>
          <a:noFill/>
          <a:ln/>
        </p:spPr>
        <p:txBody>
          <a:bodyPr wrap="square" lIns="0" tIns="0" rIns="0" bIns="0" rtlCol="0" anchor="ctr"/>
          <a:lstStyle/>
          <a:p>
            <a:pPr indent="0" marL="0">
              <a:buNone/>
            </a:pPr>
            <a:r>
              <a:rPr lang="en-US" sz="900" dirty="0">
                <a:solidFill>
                  <a:srgbClr val="B8C8E8"/>
                </a:solidFill>
                <a:latin typeface="Calibri" pitchFamily="34" charset="0"/>
                <a:ea typeface="Calibri" pitchFamily="34" charset="-122"/>
                <a:cs typeface="Calibri" pitchFamily="34" charset="-120"/>
              </a:rPr>
              <a:t>Secure AWS Content Delivery Platform</a:t>
            </a:r>
            <a:endParaRPr lang="en-US" sz="900" dirty="0"/>
          </a:p>
        </p:txBody>
      </p:sp>
      <p:sp>
        <p:nvSpPr>
          <p:cNvPr id="4" name="Text 2"/>
          <p:cNvSpPr/>
          <p:nvPr/>
        </p:nvSpPr>
        <p:spPr>
          <a:xfrm>
            <a:off x="8686800" y="0"/>
            <a:ext cx="3200400" cy="347472"/>
          </a:xfrm>
          <a:prstGeom prst="rect">
            <a:avLst/>
          </a:prstGeom>
          <a:noFill/>
          <a:ln/>
        </p:spPr>
        <p:txBody>
          <a:bodyPr wrap="square" lIns="0" tIns="0" rIns="0" bIns="0" rtlCol="0" anchor="ctr"/>
          <a:lstStyle/>
          <a:p>
            <a:pPr algn="r" indent="0" marL="0">
              <a:buNone/>
            </a:pPr>
            <a:r>
              <a:rPr lang="en-US" sz="900" dirty="0">
                <a:solidFill>
                  <a:srgbClr val="FF9900"/>
                </a:solidFill>
                <a:latin typeface="Calibri" pitchFamily="34" charset="0"/>
                <a:ea typeface="Calibri" pitchFamily="34" charset="-122"/>
                <a:cs typeface="Calibri" pitchFamily="34" charset="-120"/>
              </a:rPr>
              <a:t>Adhithyan Sivaraman T</a:t>
            </a:r>
            <a:endParaRPr lang="en-US" sz="900" dirty="0"/>
          </a:p>
        </p:txBody>
      </p:sp>
      <p:sp>
        <p:nvSpPr>
          <p:cNvPr id="5" name="Text 3"/>
          <p:cNvSpPr/>
          <p:nvPr/>
        </p:nvSpPr>
        <p:spPr>
          <a:xfrm>
            <a:off x="11612880" y="4892040"/>
            <a:ext cx="457200" cy="228600"/>
          </a:xfrm>
          <a:prstGeom prst="rect">
            <a:avLst/>
          </a:prstGeom>
          <a:noFill/>
          <a:ln/>
        </p:spPr>
        <p:txBody>
          <a:bodyPr wrap="square" rtlCol="0" anchor="ctr"/>
          <a:lstStyle/>
          <a:p>
            <a:pPr algn="ctr" indent="0" marL="0">
              <a:buNone/>
            </a:pPr>
            <a:r>
              <a:rPr lang="en-US" sz="900" dirty="0">
                <a:solidFill>
                  <a:srgbClr val="7A90B8"/>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320040" y="457200"/>
            <a:ext cx="3657600" cy="201168"/>
          </a:xfrm>
          <a:prstGeom prst="rect">
            <a:avLst/>
          </a:prstGeom>
          <a:noFill/>
          <a:ln/>
        </p:spPr>
        <p:txBody>
          <a:bodyPr wrap="square" lIns="0" tIns="0" rIns="0" bIns="0" rtlCol="0" anchor="ctr"/>
          <a:lstStyle/>
          <a:p>
            <a:pPr indent="0" marL="0">
              <a:buNone/>
            </a:pPr>
            <a:r>
              <a:rPr lang="en-US" sz="800" b="1" spc="300" kern="0" dirty="0">
                <a:solidFill>
                  <a:srgbClr val="FF9900"/>
                </a:solidFill>
                <a:latin typeface="Calibri" pitchFamily="34" charset="0"/>
                <a:ea typeface="Calibri" pitchFamily="34" charset="-122"/>
                <a:cs typeface="Calibri" pitchFamily="34" charset="-120"/>
              </a:rPr>
              <a:t>13 · INTERVIEW Q&amp;A</a:t>
            </a:r>
            <a:endParaRPr lang="en-US" sz="800" dirty="0"/>
          </a:p>
        </p:txBody>
      </p:sp>
      <p:sp>
        <p:nvSpPr>
          <p:cNvPr id="7" name="Text 5"/>
          <p:cNvSpPr/>
          <p:nvPr/>
        </p:nvSpPr>
        <p:spPr>
          <a:xfrm>
            <a:off x="320040" y="685800"/>
            <a:ext cx="114300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Interview Questions &amp; Answers</a:t>
            </a:r>
            <a:endParaRPr lang="en-US" sz="3000" dirty="0"/>
          </a:p>
        </p:txBody>
      </p:sp>
      <p:sp>
        <p:nvSpPr>
          <p:cNvPr id="8" name="Shape 6"/>
          <p:cNvSpPr/>
          <p:nvPr/>
        </p:nvSpPr>
        <p:spPr>
          <a:xfrm>
            <a:off x="320040" y="1280160"/>
            <a:ext cx="11521440" cy="987552"/>
          </a:xfrm>
          <a:prstGeom prst="rect">
            <a:avLst/>
          </a:prstGeom>
          <a:solidFill>
            <a:srgbClr val="162447"/>
          </a:solidFill>
          <a:ln w="12700">
            <a:solidFill>
              <a:srgbClr val="253B6E"/>
            </a:solidFill>
            <a:prstDash val="solid"/>
          </a:ln>
        </p:spPr>
      </p:sp>
      <p:sp>
        <p:nvSpPr>
          <p:cNvPr id="9" name="Shape 7"/>
          <p:cNvSpPr/>
          <p:nvPr/>
        </p:nvSpPr>
        <p:spPr>
          <a:xfrm>
            <a:off x="320040" y="1280160"/>
            <a:ext cx="54864" cy="987552"/>
          </a:xfrm>
          <a:prstGeom prst="rect">
            <a:avLst/>
          </a:prstGeom>
          <a:solidFill>
            <a:srgbClr val="00B4D8"/>
          </a:solidFill>
          <a:ln w="12700">
            <a:solidFill>
              <a:srgbClr val="00B4D8"/>
            </a:solidFill>
            <a:prstDash val="solid"/>
          </a:ln>
        </p:spPr>
      </p:sp>
      <p:sp>
        <p:nvSpPr>
          <p:cNvPr id="10" name="Shape 8"/>
          <p:cNvSpPr/>
          <p:nvPr/>
        </p:nvSpPr>
        <p:spPr>
          <a:xfrm>
            <a:off x="475488" y="1371600"/>
            <a:ext cx="256032" cy="256032"/>
          </a:xfrm>
          <a:prstGeom prst="rect">
            <a:avLst/>
          </a:prstGeom>
          <a:solidFill>
            <a:srgbClr val="1E3A6E"/>
          </a:solidFill>
          <a:ln w="12700">
            <a:solidFill>
              <a:srgbClr val="00B4D8"/>
            </a:solidFill>
            <a:prstDash val="solid"/>
          </a:ln>
        </p:spPr>
      </p:sp>
      <p:sp>
        <p:nvSpPr>
          <p:cNvPr id="11" name="Text 9"/>
          <p:cNvSpPr/>
          <p:nvPr/>
        </p:nvSpPr>
        <p:spPr>
          <a:xfrm>
            <a:off x="475488" y="1371600"/>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12" name="Text 10"/>
          <p:cNvSpPr/>
          <p:nvPr/>
        </p:nvSpPr>
        <p:spPr>
          <a:xfrm>
            <a:off x="822960" y="1353312"/>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What is the Principle of Least Privilege and how did you implement it?</a:t>
            </a:r>
            <a:endParaRPr lang="en-US" sz="1050" dirty="0"/>
          </a:p>
        </p:txBody>
      </p:sp>
      <p:sp>
        <p:nvSpPr>
          <p:cNvPr id="13" name="Shape 11"/>
          <p:cNvSpPr/>
          <p:nvPr/>
        </p:nvSpPr>
        <p:spPr>
          <a:xfrm>
            <a:off x="475488" y="1719072"/>
            <a:ext cx="256032" cy="256032"/>
          </a:xfrm>
          <a:prstGeom prst="rect">
            <a:avLst/>
          </a:prstGeom>
          <a:solidFill>
            <a:srgbClr val="2ECC71"/>
          </a:solidFill>
          <a:ln w="12700">
            <a:solidFill>
              <a:srgbClr val="2ECC71"/>
            </a:solidFill>
            <a:prstDash val="solid"/>
          </a:ln>
        </p:spPr>
      </p:sp>
      <p:sp>
        <p:nvSpPr>
          <p:cNvPr id="14" name="Text 12"/>
          <p:cNvSpPr/>
          <p:nvPr/>
        </p:nvSpPr>
        <p:spPr>
          <a:xfrm>
            <a:off x="475488" y="1719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Text 13"/>
          <p:cNvSpPr/>
          <p:nvPr/>
        </p:nvSpPr>
        <p:spPr>
          <a:xfrm>
            <a:off x="822960" y="1691640"/>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Least privilege means granting only the permissions required to perform a specific task. Lambda's IAM role was granted only s3:GetObject on the specific bucket ARN — not s3:* or even s3:ListBucket.</a:t>
            </a:r>
            <a:endParaRPr lang="en-US" sz="950" dirty="0"/>
          </a:p>
        </p:txBody>
      </p:sp>
      <p:sp>
        <p:nvSpPr>
          <p:cNvPr id="16" name="Shape 14"/>
          <p:cNvSpPr/>
          <p:nvPr/>
        </p:nvSpPr>
        <p:spPr>
          <a:xfrm>
            <a:off x="320040" y="2359152"/>
            <a:ext cx="11521440" cy="987552"/>
          </a:xfrm>
          <a:prstGeom prst="rect">
            <a:avLst/>
          </a:prstGeom>
          <a:solidFill>
            <a:srgbClr val="162447"/>
          </a:solidFill>
          <a:ln w="12700">
            <a:solidFill>
              <a:srgbClr val="253B6E"/>
            </a:solidFill>
            <a:prstDash val="solid"/>
          </a:ln>
        </p:spPr>
      </p:sp>
      <p:sp>
        <p:nvSpPr>
          <p:cNvPr id="17" name="Shape 15"/>
          <p:cNvSpPr/>
          <p:nvPr/>
        </p:nvSpPr>
        <p:spPr>
          <a:xfrm>
            <a:off x="320040" y="2359152"/>
            <a:ext cx="54864" cy="987552"/>
          </a:xfrm>
          <a:prstGeom prst="rect">
            <a:avLst/>
          </a:prstGeom>
          <a:solidFill>
            <a:srgbClr val="00B4D8"/>
          </a:solidFill>
          <a:ln w="12700">
            <a:solidFill>
              <a:srgbClr val="00B4D8"/>
            </a:solidFill>
            <a:prstDash val="solid"/>
          </a:ln>
        </p:spPr>
      </p:sp>
      <p:sp>
        <p:nvSpPr>
          <p:cNvPr id="18" name="Shape 16"/>
          <p:cNvSpPr/>
          <p:nvPr/>
        </p:nvSpPr>
        <p:spPr>
          <a:xfrm>
            <a:off x="475488" y="2450592"/>
            <a:ext cx="256032" cy="256032"/>
          </a:xfrm>
          <a:prstGeom prst="rect">
            <a:avLst/>
          </a:prstGeom>
          <a:solidFill>
            <a:srgbClr val="1E3A6E"/>
          </a:solidFill>
          <a:ln w="12700">
            <a:solidFill>
              <a:srgbClr val="00B4D8"/>
            </a:solidFill>
            <a:prstDash val="solid"/>
          </a:ln>
        </p:spPr>
      </p:sp>
      <p:sp>
        <p:nvSpPr>
          <p:cNvPr id="19" name="Text 17"/>
          <p:cNvSpPr/>
          <p:nvPr/>
        </p:nvSpPr>
        <p:spPr>
          <a:xfrm>
            <a:off x="475488" y="2450592"/>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20" name="Text 18"/>
          <p:cNvSpPr/>
          <p:nvPr/>
        </p:nvSpPr>
        <p:spPr>
          <a:xfrm>
            <a:off x="822960" y="2432304"/>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What are JWKS and how does the JWT Authorizer validate tokens?</a:t>
            </a:r>
            <a:endParaRPr lang="en-US" sz="1050" dirty="0"/>
          </a:p>
        </p:txBody>
      </p:sp>
      <p:sp>
        <p:nvSpPr>
          <p:cNvPr id="21" name="Shape 19"/>
          <p:cNvSpPr/>
          <p:nvPr/>
        </p:nvSpPr>
        <p:spPr>
          <a:xfrm>
            <a:off x="475488" y="2798064"/>
            <a:ext cx="256032" cy="256032"/>
          </a:xfrm>
          <a:prstGeom prst="rect">
            <a:avLst/>
          </a:prstGeom>
          <a:solidFill>
            <a:srgbClr val="2ECC71"/>
          </a:solidFill>
          <a:ln w="12700">
            <a:solidFill>
              <a:srgbClr val="2ECC71"/>
            </a:solidFill>
            <a:prstDash val="solid"/>
          </a:ln>
        </p:spPr>
      </p:sp>
      <p:sp>
        <p:nvSpPr>
          <p:cNvPr id="22" name="Text 20"/>
          <p:cNvSpPr/>
          <p:nvPr/>
        </p:nvSpPr>
        <p:spPr>
          <a:xfrm>
            <a:off x="475488" y="27980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1"/>
          <p:cNvSpPr/>
          <p:nvPr/>
        </p:nvSpPr>
        <p:spPr>
          <a:xfrm>
            <a:off x="822960" y="2770632"/>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JWKS (JSON Web Key Set) is a public endpoint published by Cognito containing the RSA public keys used to sign JWTs. The JWT Authorizer fetches the key matching the kid header in the token and verifies the signature — no database lookup needed.</a:t>
            </a:r>
            <a:endParaRPr lang="en-US" sz="950" dirty="0"/>
          </a:p>
        </p:txBody>
      </p:sp>
      <p:sp>
        <p:nvSpPr>
          <p:cNvPr id="24" name="Shape 22"/>
          <p:cNvSpPr/>
          <p:nvPr/>
        </p:nvSpPr>
        <p:spPr>
          <a:xfrm>
            <a:off x="320040" y="3438144"/>
            <a:ext cx="11521440" cy="987552"/>
          </a:xfrm>
          <a:prstGeom prst="rect">
            <a:avLst/>
          </a:prstGeom>
          <a:solidFill>
            <a:srgbClr val="162447"/>
          </a:solidFill>
          <a:ln w="12700">
            <a:solidFill>
              <a:srgbClr val="253B6E"/>
            </a:solidFill>
            <a:prstDash val="solid"/>
          </a:ln>
        </p:spPr>
      </p:sp>
      <p:sp>
        <p:nvSpPr>
          <p:cNvPr id="25" name="Shape 23"/>
          <p:cNvSpPr/>
          <p:nvPr/>
        </p:nvSpPr>
        <p:spPr>
          <a:xfrm>
            <a:off x="320040" y="3438144"/>
            <a:ext cx="54864" cy="987552"/>
          </a:xfrm>
          <a:prstGeom prst="rect">
            <a:avLst/>
          </a:prstGeom>
          <a:solidFill>
            <a:srgbClr val="00B4D8"/>
          </a:solidFill>
          <a:ln w="12700">
            <a:solidFill>
              <a:srgbClr val="00B4D8"/>
            </a:solidFill>
            <a:prstDash val="solid"/>
          </a:ln>
        </p:spPr>
      </p:sp>
      <p:sp>
        <p:nvSpPr>
          <p:cNvPr id="26" name="Shape 24"/>
          <p:cNvSpPr/>
          <p:nvPr/>
        </p:nvSpPr>
        <p:spPr>
          <a:xfrm>
            <a:off x="475488" y="3529584"/>
            <a:ext cx="256032" cy="256032"/>
          </a:xfrm>
          <a:prstGeom prst="rect">
            <a:avLst/>
          </a:prstGeom>
          <a:solidFill>
            <a:srgbClr val="1E3A6E"/>
          </a:solidFill>
          <a:ln w="12700">
            <a:solidFill>
              <a:srgbClr val="00B4D8"/>
            </a:solidFill>
            <a:prstDash val="solid"/>
          </a:ln>
        </p:spPr>
      </p:sp>
      <p:sp>
        <p:nvSpPr>
          <p:cNvPr id="27" name="Text 25"/>
          <p:cNvSpPr/>
          <p:nvPr/>
        </p:nvSpPr>
        <p:spPr>
          <a:xfrm>
            <a:off x="475488" y="3529584"/>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28" name="Text 26"/>
          <p:cNvSpPr/>
          <p:nvPr/>
        </p:nvSpPr>
        <p:spPr>
          <a:xfrm>
            <a:off x="822960" y="3511296"/>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How would you prevent a leaked pre-signed URL from being misused?</a:t>
            </a:r>
            <a:endParaRPr lang="en-US" sz="1050" dirty="0"/>
          </a:p>
        </p:txBody>
      </p:sp>
      <p:sp>
        <p:nvSpPr>
          <p:cNvPr id="29" name="Shape 27"/>
          <p:cNvSpPr/>
          <p:nvPr/>
        </p:nvSpPr>
        <p:spPr>
          <a:xfrm>
            <a:off x="475488" y="3877056"/>
            <a:ext cx="256032" cy="256032"/>
          </a:xfrm>
          <a:prstGeom prst="rect">
            <a:avLst/>
          </a:prstGeom>
          <a:solidFill>
            <a:srgbClr val="2ECC71"/>
          </a:solidFill>
          <a:ln w="12700">
            <a:solidFill>
              <a:srgbClr val="2ECC71"/>
            </a:solidFill>
            <a:prstDash val="solid"/>
          </a:ln>
        </p:spPr>
      </p:sp>
      <p:sp>
        <p:nvSpPr>
          <p:cNvPr id="30" name="Text 28"/>
          <p:cNvSpPr/>
          <p:nvPr/>
        </p:nvSpPr>
        <p:spPr>
          <a:xfrm>
            <a:off x="475488" y="38770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1" name="Text 29"/>
          <p:cNvSpPr/>
          <p:nvPr/>
        </p:nvSpPr>
        <p:spPr>
          <a:xfrm>
            <a:off x="822960" y="3849624"/>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Set a short expiry (15-30 minutes). In production, bind the URL to the requester's IP using S3 condition keys (aws:SourceIp). Use CloudFront Signed URLs with geographic restrictions for stronger control.</a:t>
            </a:r>
            <a:endParaRPr lang="en-US" sz="950" dirty="0"/>
          </a:p>
        </p:txBody>
      </p:sp>
      <p:sp>
        <p:nvSpPr>
          <p:cNvPr id="32" name="Shape 30"/>
          <p:cNvSpPr/>
          <p:nvPr/>
        </p:nvSpPr>
        <p:spPr>
          <a:xfrm>
            <a:off x="320040" y="4517136"/>
            <a:ext cx="11521440" cy="987552"/>
          </a:xfrm>
          <a:prstGeom prst="rect">
            <a:avLst/>
          </a:prstGeom>
          <a:solidFill>
            <a:srgbClr val="162447"/>
          </a:solidFill>
          <a:ln w="12700">
            <a:solidFill>
              <a:srgbClr val="253B6E"/>
            </a:solidFill>
            <a:prstDash val="solid"/>
          </a:ln>
        </p:spPr>
      </p:sp>
      <p:sp>
        <p:nvSpPr>
          <p:cNvPr id="33" name="Shape 31"/>
          <p:cNvSpPr/>
          <p:nvPr/>
        </p:nvSpPr>
        <p:spPr>
          <a:xfrm>
            <a:off x="320040" y="4517136"/>
            <a:ext cx="54864" cy="987552"/>
          </a:xfrm>
          <a:prstGeom prst="rect">
            <a:avLst/>
          </a:prstGeom>
          <a:solidFill>
            <a:srgbClr val="00B4D8"/>
          </a:solidFill>
          <a:ln w="12700">
            <a:solidFill>
              <a:srgbClr val="00B4D8"/>
            </a:solidFill>
            <a:prstDash val="solid"/>
          </a:ln>
        </p:spPr>
      </p:sp>
      <p:sp>
        <p:nvSpPr>
          <p:cNvPr id="34" name="Shape 32"/>
          <p:cNvSpPr/>
          <p:nvPr/>
        </p:nvSpPr>
        <p:spPr>
          <a:xfrm>
            <a:off x="475488" y="4608576"/>
            <a:ext cx="256032" cy="256032"/>
          </a:xfrm>
          <a:prstGeom prst="rect">
            <a:avLst/>
          </a:prstGeom>
          <a:solidFill>
            <a:srgbClr val="1E3A6E"/>
          </a:solidFill>
          <a:ln w="12700">
            <a:solidFill>
              <a:srgbClr val="00B4D8"/>
            </a:solidFill>
            <a:prstDash val="solid"/>
          </a:ln>
        </p:spPr>
      </p:sp>
      <p:sp>
        <p:nvSpPr>
          <p:cNvPr id="35" name="Text 33"/>
          <p:cNvSpPr/>
          <p:nvPr/>
        </p:nvSpPr>
        <p:spPr>
          <a:xfrm>
            <a:off x="475488" y="4608576"/>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36" name="Text 34"/>
          <p:cNvSpPr/>
          <p:nvPr/>
        </p:nvSpPr>
        <p:spPr>
          <a:xfrm>
            <a:off x="822960" y="4590288"/>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What is the difference between id_token and access_token in Cognito?</a:t>
            </a:r>
            <a:endParaRPr lang="en-US" sz="1050" dirty="0"/>
          </a:p>
        </p:txBody>
      </p:sp>
      <p:sp>
        <p:nvSpPr>
          <p:cNvPr id="37" name="Shape 35"/>
          <p:cNvSpPr/>
          <p:nvPr/>
        </p:nvSpPr>
        <p:spPr>
          <a:xfrm>
            <a:off x="475488" y="4956048"/>
            <a:ext cx="256032" cy="256032"/>
          </a:xfrm>
          <a:prstGeom prst="rect">
            <a:avLst/>
          </a:prstGeom>
          <a:solidFill>
            <a:srgbClr val="2ECC71"/>
          </a:solidFill>
          <a:ln w="12700">
            <a:solidFill>
              <a:srgbClr val="2ECC71"/>
            </a:solidFill>
            <a:prstDash val="solid"/>
          </a:ln>
        </p:spPr>
      </p:sp>
      <p:sp>
        <p:nvSpPr>
          <p:cNvPr id="38" name="Text 36"/>
          <p:cNvSpPr/>
          <p:nvPr/>
        </p:nvSpPr>
        <p:spPr>
          <a:xfrm>
            <a:off x="475488" y="495604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7"/>
          <p:cNvSpPr/>
          <p:nvPr/>
        </p:nvSpPr>
        <p:spPr>
          <a:xfrm>
            <a:off x="822960" y="4928616"/>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The id_token contains user identity claims (email, sub, phone). The access_token is used to call Cognito APIs (e.g. get user info). For API Gateway JWT Authorizer, the id_token is used to validate the user's identity.</a:t>
            </a:r>
            <a:endParaRPr lang="en-US" sz="950" dirty="0"/>
          </a:p>
        </p:txBody>
      </p:sp>
      <p:sp>
        <p:nvSpPr>
          <p:cNvPr id="40" name="Shape 38"/>
          <p:cNvSpPr/>
          <p:nvPr/>
        </p:nvSpPr>
        <p:spPr>
          <a:xfrm>
            <a:off x="320040" y="5596128"/>
            <a:ext cx="11521440" cy="987552"/>
          </a:xfrm>
          <a:prstGeom prst="rect">
            <a:avLst/>
          </a:prstGeom>
          <a:solidFill>
            <a:srgbClr val="162447"/>
          </a:solidFill>
          <a:ln w="12700">
            <a:solidFill>
              <a:srgbClr val="253B6E"/>
            </a:solidFill>
            <a:prstDash val="solid"/>
          </a:ln>
        </p:spPr>
      </p:sp>
      <p:sp>
        <p:nvSpPr>
          <p:cNvPr id="41" name="Shape 39"/>
          <p:cNvSpPr/>
          <p:nvPr/>
        </p:nvSpPr>
        <p:spPr>
          <a:xfrm>
            <a:off x="320040" y="5596128"/>
            <a:ext cx="54864" cy="987552"/>
          </a:xfrm>
          <a:prstGeom prst="rect">
            <a:avLst/>
          </a:prstGeom>
          <a:solidFill>
            <a:srgbClr val="00B4D8"/>
          </a:solidFill>
          <a:ln w="12700">
            <a:solidFill>
              <a:srgbClr val="00B4D8"/>
            </a:solidFill>
            <a:prstDash val="solid"/>
          </a:ln>
        </p:spPr>
      </p:sp>
      <p:sp>
        <p:nvSpPr>
          <p:cNvPr id="42" name="Shape 40"/>
          <p:cNvSpPr/>
          <p:nvPr/>
        </p:nvSpPr>
        <p:spPr>
          <a:xfrm>
            <a:off x="475488" y="5687568"/>
            <a:ext cx="256032" cy="256032"/>
          </a:xfrm>
          <a:prstGeom prst="rect">
            <a:avLst/>
          </a:prstGeom>
          <a:solidFill>
            <a:srgbClr val="1E3A6E"/>
          </a:solidFill>
          <a:ln w="12700">
            <a:solidFill>
              <a:srgbClr val="00B4D8"/>
            </a:solidFill>
            <a:prstDash val="solid"/>
          </a:ln>
        </p:spPr>
      </p:sp>
      <p:sp>
        <p:nvSpPr>
          <p:cNvPr id="43" name="Text 41"/>
          <p:cNvSpPr/>
          <p:nvPr/>
        </p:nvSpPr>
        <p:spPr>
          <a:xfrm>
            <a:off x="475488" y="5687568"/>
            <a:ext cx="256032" cy="256032"/>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Q</a:t>
            </a:r>
            <a:endParaRPr lang="en-US" sz="900" dirty="0"/>
          </a:p>
        </p:txBody>
      </p:sp>
      <p:sp>
        <p:nvSpPr>
          <p:cNvPr id="44" name="Text 42"/>
          <p:cNvSpPr/>
          <p:nvPr/>
        </p:nvSpPr>
        <p:spPr>
          <a:xfrm>
            <a:off x="822960" y="5669280"/>
            <a:ext cx="1088136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How would you scale this architecture for 10,000 concurrent users?</a:t>
            </a:r>
            <a:endParaRPr lang="en-US" sz="1050" dirty="0"/>
          </a:p>
        </p:txBody>
      </p:sp>
      <p:sp>
        <p:nvSpPr>
          <p:cNvPr id="45" name="Shape 43"/>
          <p:cNvSpPr/>
          <p:nvPr/>
        </p:nvSpPr>
        <p:spPr>
          <a:xfrm>
            <a:off x="475488" y="6035040"/>
            <a:ext cx="256032" cy="256032"/>
          </a:xfrm>
          <a:prstGeom prst="rect">
            <a:avLst/>
          </a:prstGeom>
          <a:solidFill>
            <a:srgbClr val="2ECC71"/>
          </a:solidFill>
          <a:ln w="12700">
            <a:solidFill>
              <a:srgbClr val="2ECC71"/>
            </a:solidFill>
            <a:prstDash val="solid"/>
          </a:ln>
        </p:spPr>
      </p:sp>
      <p:sp>
        <p:nvSpPr>
          <p:cNvPr id="46" name="Text 44"/>
          <p:cNvSpPr/>
          <p:nvPr/>
        </p:nvSpPr>
        <p:spPr>
          <a:xfrm>
            <a:off x="475488" y="603504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7" name="Text 45"/>
          <p:cNvSpPr/>
          <p:nvPr/>
        </p:nvSpPr>
        <p:spPr>
          <a:xfrm>
            <a:off x="822960" y="6007608"/>
            <a:ext cx="10881360" cy="475488"/>
          </a:xfrm>
          <a:prstGeom prst="rect">
            <a:avLst/>
          </a:prstGeom>
          <a:noFill/>
          <a:ln/>
        </p:spPr>
        <p:txBody>
          <a:bodyPr wrap="square" lIns="0" tIns="0" rIns="0" bIns="0" rtlCol="0" anchor="ctr"/>
          <a:lstStyle/>
          <a:p>
            <a:pPr indent="0" marL="0">
              <a:buNone/>
            </a:pPr>
            <a:r>
              <a:rPr lang="en-US" sz="950" dirty="0">
                <a:solidFill>
                  <a:srgbClr val="B8C8E8"/>
                </a:solidFill>
                <a:latin typeface="Calibri" pitchFamily="34" charset="0"/>
                <a:ea typeface="Calibri" pitchFamily="34" charset="-122"/>
                <a:cs typeface="Calibri" pitchFamily="34" charset="-120"/>
              </a:rPr>
              <a:t>Lambda auto-scales by default. API Gateway handles horizontal scaling automatically. Increase Cognito's token refresh intervals to reduce auth traffic. Add CloudFront in front of API Gateway for edge caching. Use SQS to buffer Lambda invocations under burst load.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35"/>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F9900"/>
          </a:solidFill>
          <a:ln w="12700">
            <a:solidFill>
              <a:srgbClr val="FF9900"/>
            </a:solidFill>
            <a:prstDash val="solid"/>
          </a:ln>
        </p:spPr>
      </p:sp>
      <p:pic>
        <p:nvPicPr>
          <p:cNvPr id="3" name="Image 0" descr="preencoded.png"/>
          <p:cNvPicPr>
            <a:picLocks noChangeAspect="1"/>
          </p:cNvPicPr>
          <p:nvPr/>
        </p:nvPicPr>
        <p:blipFill>
          <a:blip r:embed="rId1"/>
          <a:stretch>
            <a:fillRect/>
          </a:stretch>
        </p:blipFill>
        <p:spPr>
          <a:xfrm>
            <a:off x="457200" y="502920"/>
            <a:ext cx="594360" cy="594360"/>
          </a:xfrm>
          <a:prstGeom prst="rect">
            <a:avLst/>
          </a:prstGeom>
        </p:spPr>
      </p:pic>
      <p:sp>
        <p:nvSpPr>
          <p:cNvPr id="4" name="Text 1"/>
          <p:cNvSpPr/>
          <p:nvPr/>
        </p:nvSpPr>
        <p:spPr>
          <a:xfrm>
            <a:off x="1170432" y="502920"/>
            <a:ext cx="1005840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5" name="Shape 2"/>
          <p:cNvSpPr/>
          <p:nvPr/>
        </p:nvSpPr>
        <p:spPr>
          <a:xfrm>
            <a:off x="320040" y="1170432"/>
            <a:ext cx="11521440" cy="45720"/>
          </a:xfrm>
          <a:prstGeom prst="rect">
            <a:avLst/>
          </a:prstGeom>
          <a:solidFill>
            <a:srgbClr val="FF9900"/>
          </a:solidFill>
          <a:ln w="12700">
            <a:solidFill>
              <a:srgbClr val="FF9900"/>
            </a:solidFill>
            <a:prstDash val="solid"/>
          </a:ln>
        </p:spPr>
      </p:sp>
      <p:sp>
        <p:nvSpPr>
          <p:cNvPr id="6" name="Text 3"/>
          <p:cNvSpPr/>
          <p:nvPr/>
        </p:nvSpPr>
        <p:spPr>
          <a:xfrm>
            <a:off x="320040" y="1325880"/>
            <a:ext cx="11521440" cy="1005840"/>
          </a:xfrm>
          <a:prstGeom prst="rect">
            <a:avLst/>
          </a:prstGeom>
          <a:noFill/>
          <a:ln/>
        </p:spPr>
        <p:txBody>
          <a:bodyPr wrap="square" lIns="0" tIns="0" rIns="0" bIns="0" rtlCol="0" anchor="ctr"/>
          <a:lstStyle/>
          <a:p>
            <a:pPr indent="0" marL="0">
              <a:buNone/>
            </a:pPr>
            <a:r>
              <a:rPr lang="en-US" sz="1250" dirty="0">
                <a:solidFill>
                  <a:srgbClr val="B8C8E8"/>
                </a:solidFill>
                <a:latin typeface="Calibri" pitchFamily="34" charset="0"/>
                <a:ea typeface="Calibri" pitchFamily="34" charset="-122"/>
                <a:cs typeface="Calibri" pitchFamily="34" charset="-120"/>
              </a:rPr>
              <a:t>Designed and implemented a fully serverless, secure AWS content delivery architecture that demonstrates real-world application of identity management, API security, and private resource access control. The system enforces authentication through Amazon Cognito, validates every request via a JWT Authorizer in API Gateway, and delivers private S3 content exclusively through time-limited pre-signed URLs — ensuring that no resource is ever directly exposed.</a:t>
            </a:r>
            <a:endParaRPr lang="en-US" sz="1250" dirty="0"/>
          </a:p>
        </p:txBody>
      </p:sp>
      <p:sp>
        <p:nvSpPr>
          <p:cNvPr id="7" name="Shape 4"/>
          <p:cNvSpPr/>
          <p:nvPr/>
        </p:nvSpPr>
        <p:spPr>
          <a:xfrm>
            <a:off x="320040" y="2468880"/>
            <a:ext cx="2743200" cy="1234440"/>
          </a:xfrm>
          <a:prstGeom prst="rect">
            <a:avLst/>
          </a:prstGeom>
          <a:solidFill>
            <a:srgbClr val="1A2E5A"/>
          </a:solidFill>
          <a:ln w="12700">
            <a:solidFill>
              <a:srgbClr val="253B6E"/>
            </a:solidFill>
            <a:prstDash val="solid"/>
          </a:ln>
        </p:spPr>
      </p:sp>
      <p:sp>
        <p:nvSpPr>
          <p:cNvPr id="8" name="Shape 5"/>
          <p:cNvSpPr/>
          <p:nvPr/>
        </p:nvSpPr>
        <p:spPr>
          <a:xfrm>
            <a:off x="320040" y="2468880"/>
            <a:ext cx="2743200" cy="54864"/>
          </a:xfrm>
          <a:prstGeom prst="rect">
            <a:avLst/>
          </a:prstGeom>
          <a:solidFill>
            <a:srgbClr val="FF9900"/>
          </a:solidFill>
          <a:ln w="12700">
            <a:solidFill>
              <a:srgbClr val="FF9900"/>
            </a:solidFill>
            <a:prstDash val="solid"/>
          </a:ln>
        </p:spPr>
      </p:sp>
      <p:sp>
        <p:nvSpPr>
          <p:cNvPr id="9" name="Text 6"/>
          <p:cNvSpPr/>
          <p:nvPr/>
        </p:nvSpPr>
        <p:spPr>
          <a:xfrm>
            <a:off x="320040" y="2578608"/>
            <a:ext cx="2743200" cy="548640"/>
          </a:xfrm>
          <a:prstGeom prst="rect">
            <a:avLst/>
          </a:prstGeom>
          <a:noFill/>
          <a:ln/>
        </p:spPr>
        <p:txBody>
          <a:bodyPr wrap="square" lIns="0" tIns="0" rIns="0" bIns="0" rtlCol="0" anchor="ctr"/>
          <a:lstStyle/>
          <a:p>
            <a:pPr algn="ctr" indent="0" marL="0">
              <a:buNone/>
            </a:pPr>
            <a:r>
              <a:rPr lang="en-US" sz="3600" b="1" dirty="0">
                <a:solidFill>
                  <a:srgbClr val="FF9900"/>
                </a:solidFill>
                <a:latin typeface="Calibri" pitchFamily="34" charset="0"/>
                <a:ea typeface="Calibri" pitchFamily="34" charset="-122"/>
                <a:cs typeface="Calibri" pitchFamily="34" charset="-120"/>
              </a:rPr>
              <a:t>7+</a:t>
            </a:r>
            <a:endParaRPr lang="en-US" sz="3600" dirty="0"/>
          </a:p>
        </p:txBody>
      </p:sp>
      <p:sp>
        <p:nvSpPr>
          <p:cNvPr id="10" name="Text 7"/>
          <p:cNvSpPr/>
          <p:nvPr/>
        </p:nvSpPr>
        <p:spPr>
          <a:xfrm>
            <a:off x="320040" y="3163824"/>
            <a:ext cx="2743200" cy="411480"/>
          </a:xfrm>
          <a:prstGeom prst="rect">
            <a:avLst/>
          </a:prstGeom>
          <a:noFill/>
          <a:ln/>
        </p:spPr>
        <p:txBody>
          <a:bodyPr wrap="square" lIns="0" tIns="0" rIns="0" bIns="0" rtlCol="0" anchor="ctr"/>
          <a:lstStyle/>
          <a:p>
            <a:pPr algn="ctr" indent="0" marL="0">
              <a:buNone/>
            </a:pPr>
            <a:r>
              <a:rPr lang="en-US" sz="1000" dirty="0">
                <a:solidFill>
                  <a:srgbClr val="B8C8E8"/>
                </a:solidFill>
                <a:latin typeface="Calibri" pitchFamily="34" charset="0"/>
                <a:ea typeface="Calibri" pitchFamily="34" charset="-122"/>
                <a:cs typeface="Calibri" pitchFamily="34" charset="-120"/>
              </a:rPr>
              <a:t>AWS Services Integrated</a:t>
            </a:r>
            <a:endParaRPr lang="en-US" sz="1000" dirty="0"/>
          </a:p>
        </p:txBody>
      </p:sp>
      <p:sp>
        <p:nvSpPr>
          <p:cNvPr id="11" name="Shape 8"/>
          <p:cNvSpPr/>
          <p:nvPr/>
        </p:nvSpPr>
        <p:spPr>
          <a:xfrm>
            <a:off x="3291840" y="2468880"/>
            <a:ext cx="2743200" cy="1234440"/>
          </a:xfrm>
          <a:prstGeom prst="rect">
            <a:avLst/>
          </a:prstGeom>
          <a:solidFill>
            <a:srgbClr val="1A2E5A"/>
          </a:solidFill>
          <a:ln w="12700">
            <a:solidFill>
              <a:srgbClr val="253B6E"/>
            </a:solidFill>
            <a:prstDash val="solid"/>
          </a:ln>
        </p:spPr>
      </p:sp>
      <p:sp>
        <p:nvSpPr>
          <p:cNvPr id="12" name="Shape 9"/>
          <p:cNvSpPr/>
          <p:nvPr/>
        </p:nvSpPr>
        <p:spPr>
          <a:xfrm>
            <a:off x="3291840" y="2468880"/>
            <a:ext cx="2743200" cy="54864"/>
          </a:xfrm>
          <a:prstGeom prst="rect">
            <a:avLst/>
          </a:prstGeom>
          <a:solidFill>
            <a:srgbClr val="FF9900"/>
          </a:solidFill>
          <a:ln w="12700">
            <a:solidFill>
              <a:srgbClr val="FF9900"/>
            </a:solidFill>
            <a:prstDash val="solid"/>
          </a:ln>
        </p:spPr>
      </p:sp>
      <p:sp>
        <p:nvSpPr>
          <p:cNvPr id="13" name="Text 10"/>
          <p:cNvSpPr/>
          <p:nvPr/>
        </p:nvSpPr>
        <p:spPr>
          <a:xfrm>
            <a:off x="3291840" y="2578608"/>
            <a:ext cx="2743200" cy="548640"/>
          </a:xfrm>
          <a:prstGeom prst="rect">
            <a:avLst/>
          </a:prstGeom>
          <a:noFill/>
          <a:ln/>
        </p:spPr>
        <p:txBody>
          <a:bodyPr wrap="square" lIns="0" tIns="0" rIns="0" bIns="0" rtlCol="0" anchor="ctr"/>
          <a:lstStyle/>
          <a:p>
            <a:pPr algn="ctr" indent="0" marL="0">
              <a:buNone/>
            </a:pPr>
            <a:r>
              <a:rPr lang="en-US" sz="3600" b="1" dirty="0">
                <a:solidFill>
                  <a:srgbClr val="FF9900"/>
                </a:solidFill>
                <a:latin typeface="Calibri" pitchFamily="34" charset="0"/>
                <a:ea typeface="Calibri" pitchFamily="34" charset="-122"/>
                <a:cs typeface="Calibri" pitchFamily="34" charset="-120"/>
              </a:rPr>
              <a:t>0</a:t>
            </a:r>
            <a:endParaRPr lang="en-US" sz="3600" dirty="0"/>
          </a:p>
        </p:txBody>
      </p:sp>
      <p:sp>
        <p:nvSpPr>
          <p:cNvPr id="14" name="Text 11"/>
          <p:cNvSpPr/>
          <p:nvPr/>
        </p:nvSpPr>
        <p:spPr>
          <a:xfrm>
            <a:off x="3291840" y="3163824"/>
            <a:ext cx="2743200" cy="411480"/>
          </a:xfrm>
          <a:prstGeom prst="rect">
            <a:avLst/>
          </a:prstGeom>
          <a:noFill/>
          <a:ln/>
        </p:spPr>
        <p:txBody>
          <a:bodyPr wrap="square" lIns="0" tIns="0" rIns="0" bIns="0" rtlCol="0" anchor="ctr"/>
          <a:lstStyle/>
          <a:p>
            <a:pPr algn="ctr" indent="0" marL="0">
              <a:buNone/>
            </a:pPr>
            <a:r>
              <a:rPr lang="en-US" sz="1000" dirty="0">
                <a:solidFill>
                  <a:srgbClr val="B8C8E8"/>
                </a:solidFill>
                <a:latin typeface="Calibri" pitchFamily="34" charset="0"/>
                <a:ea typeface="Calibri" pitchFamily="34" charset="-122"/>
                <a:cs typeface="Calibri" pitchFamily="34" charset="-120"/>
              </a:rPr>
              <a:t>Private S3 Access Enforced</a:t>
            </a:r>
            <a:endParaRPr lang="en-US" sz="1000" dirty="0"/>
          </a:p>
        </p:txBody>
      </p:sp>
      <p:sp>
        <p:nvSpPr>
          <p:cNvPr id="15" name="Shape 12"/>
          <p:cNvSpPr/>
          <p:nvPr/>
        </p:nvSpPr>
        <p:spPr>
          <a:xfrm>
            <a:off x="6263640" y="2468880"/>
            <a:ext cx="2743200" cy="1234440"/>
          </a:xfrm>
          <a:prstGeom prst="rect">
            <a:avLst/>
          </a:prstGeom>
          <a:solidFill>
            <a:srgbClr val="1A2E5A"/>
          </a:solidFill>
          <a:ln w="12700">
            <a:solidFill>
              <a:srgbClr val="253B6E"/>
            </a:solidFill>
            <a:prstDash val="solid"/>
          </a:ln>
        </p:spPr>
      </p:sp>
      <p:sp>
        <p:nvSpPr>
          <p:cNvPr id="16" name="Shape 13"/>
          <p:cNvSpPr/>
          <p:nvPr/>
        </p:nvSpPr>
        <p:spPr>
          <a:xfrm>
            <a:off x="6263640" y="2468880"/>
            <a:ext cx="2743200" cy="54864"/>
          </a:xfrm>
          <a:prstGeom prst="rect">
            <a:avLst/>
          </a:prstGeom>
          <a:solidFill>
            <a:srgbClr val="FF9900"/>
          </a:solidFill>
          <a:ln w="12700">
            <a:solidFill>
              <a:srgbClr val="FF9900"/>
            </a:solidFill>
            <a:prstDash val="solid"/>
          </a:ln>
        </p:spPr>
      </p:sp>
      <p:sp>
        <p:nvSpPr>
          <p:cNvPr id="17" name="Text 14"/>
          <p:cNvSpPr/>
          <p:nvPr/>
        </p:nvSpPr>
        <p:spPr>
          <a:xfrm>
            <a:off x="6263640" y="2578608"/>
            <a:ext cx="2743200" cy="548640"/>
          </a:xfrm>
          <a:prstGeom prst="rect">
            <a:avLst/>
          </a:prstGeom>
          <a:noFill/>
          <a:ln/>
        </p:spPr>
        <p:txBody>
          <a:bodyPr wrap="square" lIns="0" tIns="0" rIns="0" bIns="0" rtlCol="0" anchor="ctr"/>
          <a:lstStyle/>
          <a:p>
            <a:pPr algn="ctr" indent="0" marL="0">
              <a:buNone/>
            </a:pPr>
            <a:r>
              <a:rPr lang="en-US" sz="3600" b="1" dirty="0">
                <a:solidFill>
                  <a:srgbClr val="FF9900"/>
                </a:solidFill>
                <a:latin typeface="Calibri" pitchFamily="34" charset="0"/>
                <a:ea typeface="Calibri" pitchFamily="34" charset="-122"/>
                <a:cs typeface="Calibri" pitchFamily="34" charset="-120"/>
              </a:rPr>
              <a:t>100%</a:t>
            </a:r>
            <a:endParaRPr lang="en-US" sz="3600" dirty="0"/>
          </a:p>
        </p:txBody>
      </p:sp>
      <p:sp>
        <p:nvSpPr>
          <p:cNvPr id="18" name="Text 15"/>
          <p:cNvSpPr/>
          <p:nvPr/>
        </p:nvSpPr>
        <p:spPr>
          <a:xfrm>
            <a:off x="6263640" y="3163824"/>
            <a:ext cx="2743200" cy="411480"/>
          </a:xfrm>
          <a:prstGeom prst="rect">
            <a:avLst/>
          </a:prstGeom>
          <a:noFill/>
          <a:ln/>
        </p:spPr>
        <p:txBody>
          <a:bodyPr wrap="square" lIns="0" tIns="0" rIns="0" bIns="0" rtlCol="0" anchor="ctr"/>
          <a:lstStyle/>
          <a:p>
            <a:pPr algn="ctr" indent="0" marL="0">
              <a:buNone/>
            </a:pPr>
            <a:r>
              <a:rPr lang="en-US" sz="1000" dirty="0">
                <a:solidFill>
                  <a:srgbClr val="B8C8E8"/>
                </a:solidFill>
                <a:latin typeface="Calibri" pitchFamily="34" charset="0"/>
                <a:ea typeface="Calibri" pitchFamily="34" charset="-122"/>
                <a:cs typeface="Calibri" pitchFamily="34" charset="-120"/>
              </a:rPr>
              <a:t>APIs JWT Protected</a:t>
            </a:r>
            <a:endParaRPr lang="en-US" sz="1000" dirty="0"/>
          </a:p>
        </p:txBody>
      </p:sp>
      <p:sp>
        <p:nvSpPr>
          <p:cNvPr id="19" name="Shape 16"/>
          <p:cNvSpPr/>
          <p:nvPr/>
        </p:nvSpPr>
        <p:spPr>
          <a:xfrm>
            <a:off x="9235440" y="2468880"/>
            <a:ext cx="2743200" cy="1234440"/>
          </a:xfrm>
          <a:prstGeom prst="rect">
            <a:avLst/>
          </a:prstGeom>
          <a:solidFill>
            <a:srgbClr val="1A2E5A"/>
          </a:solidFill>
          <a:ln w="12700">
            <a:solidFill>
              <a:srgbClr val="253B6E"/>
            </a:solidFill>
            <a:prstDash val="solid"/>
          </a:ln>
        </p:spPr>
      </p:sp>
      <p:sp>
        <p:nvSpPr>
          <p:cNvPr id="20" name="Shape 17"/>
          <p:cNvSpPr/>
          <p:nvPr/>
        </p:nvSpPr>
        <p:spPr>
          <a:xfrm>
            <a:off x="9235440" y="2468880"/>
            <a:ext cx="2743200" cy="54864"/>
          </a:xfrm>
          <a:prstGeom prst="rect">
            <a:avLst/>
          </a:prstGeom>
          <a:solidFill>
            <a:srgbClr val="FF9900"/>
          </a:solidFill>
          <a:ln w="12700">
            <a:solidFill>
              <a:srgbClr val="FF9900"/>
            </a:solidFill>
            <a:prstDash val="solid"/>
          </a:ln>
        </p:spPr>
      </p:sp>
      <p:sp>
        <p:nvSpPr>
          <p:cNvPr id="21" name="Text 18"/>
          <p:cNvSpPr/>
          <p:nvPr/>
        </p:nvSpPr>
        <p:spPr>
          <a:xfrm>
            <a:off x="9235440" y="2578608"/>
            <a:ext cx="2743200" cy="548640"/>
          </a:xfrm>
          <a:prstGeom prst="rect">
            <a:avLst/>
          </a:prstGeom>
          <a:noFill/>
          <a:ln/>
        </p:spPr>
        <p:txBody>
          <a:bodyPr wrap="square" lIns="0" tIns="0" rIns="0" bIns="0" rtlCol="0" anchor="ctr"/>
          <a:lstStyle/>
          <a:p>
            <a:pPr algn="ctr" indent="0" marL="0">
              <a:buNone/>
            </a:pPr>
            <a:r>
              <a:rPr lang="en-US" sz="3600" b="1" dirty="0">
                <a:solidFill>
                  <a:srgbClr val="FF9900"/>
                </a:solidFill>
                <a:latin typeface="Calibri" pitchFamily="34" charset="0"/>
                <a:ea typeface="Calibri" pitchFamily="34" charset="-122"/>
                <a:cs typeface="Calibri" pitchFamily="34" charset="-120"/>
              </a:rPr>
              <a:t>Full</a:t>
            </a:r>
            <a:endParaRPr lang="en-US" sz="3600" dirty="0"/>
          </a:p>
        </p:txBody>
      </p:sp>
      <p:sp>
        <p:nvSpPr>
          <p:cNvPr id="22" name="Text 19"/>
          <p:cNvSpPr/>
          <p:nvPr/>
        </p:nvSpPr>
        <p:spPr>
          <a:xfrm>
            <a:off x="9235440" y="3163824"/>
            <a:ext cx="2743200" cy="411480"/>
          </a:xfrm>
          <a:prstGeom prst="rect">
            <a:avLst/>
          </a:prstGeom>
          <a:noFill/>
          <a:ln/>
        </p:spPr>
        <p:txBody>
          <a:bodyPr wrap="square" lIns="0" tIns="0" rIns="0" bIns="0" rtlCol="0" anchor="ctr"/>
          <a:lstStyle/>
          <a:p>
            <a:pPr algn="ctr" indent="0" marL="0">
              <a:buNone/>
            </a:pPr>
            <a:r>
              <a:rPr lang="en-US" sz="1000" dirty="0">
                <a:solidFill>
                  <a:srgbClr val="B8C8E8"/>
                </a:solidFill>
                <a:latin typeface="Calibri" pitchFamily="34" charset="0"/>
                <a:ea typeface="Calibri" pitchFamily="34" charset="-122"/>
                <a:cs typeface="Calibri" pitchFamily="34" charset="-120"/>
              </a:rPr>
              <a:t>Serverless Architecture</a:t>
            </a:r>
            <a:endParaRPr lang="en-US" sz="1000" dirty="0"/>
          </a:p>
        </p:txBody>
      </p:sp>
      <p:sp>
        <p:nvSpPr>
          <p:cNvPr id="23" name="Text 20"/>
          <p:cNvSpPr/>
          <p:nvPr/>
        </p:nvSpPr>
        <p:spPr>
          <a:xfrm>
            <a:off x="320040" y="3840480"/>
            <a:ext cx="115214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This Project Demonstrates</a:t>
            </a:r>
            <a:endParaRPr lang="en-US" sz="1400" dirty="0"/>
          </a:p>
        </p:txBody>
      </p:sp>
      <p:sp>
        <p:nvSpPr>
          <p:cNvPr id="24" name="Shape 21"/>
          <p:cNvSpPr/>
          <p:nvPr/>
        </p:nvSpPr>
        <p:spPr>
          <a:xfrm>
            <a:off x="320040" y="4251960"/>
            <a:ext cx="5623560" cy="457200"/>
          </a:xfrm>
          <a:prstGeom prst="rect">
            <a:avLst/>
          </a:prstGeom>
          <a:solidFill>
            <a:srgbClr val="162447"/>
          </a:solidFill>
          <a:ln w="12700">
            <a:solidFill>
              <a:srgbClr val="253B6E"/>
            </a:solidFill>
            <a:prstDash val="solid"/>
          </a:ln>
        </p:spPr>
      </p:sp>
      <p:pic>
        <p:nvPicPr>
          <p:cNvPr id="25" name="Image 1" descr="preencoded.png"/>
          <p:cNvPicPr>
            <a:picLocks noChangeAspect="1"/>
          </p:cNvPicPr>
          <p:nvPr/>
        </p:nvPicPr>
        <p:blipFill>
          <a:blip r:embed="rId2"/>
          <a:stretch>
            <a:fillRect/>
          </a:stretch>
        </p:blipFill>
        <p:spPr>
          <a:xfrm>
            <a:off x="429768" y="4343400"/>
            <a:ext cx="274320" cy="274320"/>
          </a:xfrm>
          <a:prstGeom prst="rect">
            <a:avLst/>
          </a:prstGeom>
        </p:spPr>
      </p:pic>
      <p:sp>
        <p:nvSpPr>
          <p:cNvPr id="26" name="Text 22"/>
          <p:cNvSpPr/>
          <p:nvPr/>
        </p:nvSpPr>
        <p:spPr>
          <a:xfrm>
            <a:off x="822960" y="4352544"/>
            <a:ext cx="5029200" cy="274320"/>
          </a:xfrm>
          <a:prstGeom prst="rect">
            <a:avLst/>
          </a:prstGeom>
          <a:noFill/>
          <a:ln/>
        </p:spPr>
        <p:txBody>
          <a:bodyPr wrap="square" lIns="0" tIns="0" rIns="0" bIns="0" rtlCol="0" anchor="ctr"/>
          <a:lstStyle/>
          <a:p>
            <a:pPr indent="0" marL="0">
              <a:buNone/>
            </a:pPr>
            <a:r>
              <a:rPr lang="en-US" sz="1100" dirty="0">
                <a:solidFill>
                  <a:srgbClr val="B8C8E8"/>
                </a:solidFill>
                <a:latin typeface="Calibri" pitchFamily="34" charset="0"/>
                <a:ea typeface="Calibri" pitchFamily="34" charset="-122"/>
                <a:cs typeface="Calibri" pitchFamily="34" charset="-120"/>
              </a:rPr>
              <a:t>Identity &amp; Access Management — Cognito, OAuth 2.0, JWT</a:t>
            </a:r>
            <a:endParaRPr lang="en-US" sz="1100" dirty="0"/>
          </a:p>
        </p:txBody>
      </p:sp>
      <p:sp>
        <p:nvSpPr>
          <p:cNvPr id="27" name="Shape 23"/>
          <p:cNvSpPr/>
          <p:nvPr/>
        </p:nvSpPr>
        <p:spPr>
          <a:xfrm>
            <a:off x="6236208" y="4251960"/>
            <a:ext cx="5623560" cy="457200"/>
          </a:xfrm>
          <a:prstGeom prst="rect">
            <a:avLst/>
          </a:prstGeom>
          <a:solidFill>
            <a:srgbClr val="162447"/>
          </a:solidFill>
          <a:ln w="12700">
            <a:solidFill>
              <a:srgbClr val="253B6E"/>
            </a:solidFill>
            <a:prstDash val="solid"/>
          </a:ln>
        </p:spPr>
      </p:sp>
      <p:pic>
        <p:nvPicPr>
          <p:cNvPr id="28" name="Image 2" descr="preencoded.png"/>
          <p:cNvPicPr>
            <a:picLocks noChangeAspect="1"/>
          </p:cNvPicPr>
          <p:nvPr/>
        </p:nvPicPr>
        <p:blipFill>
          <a:blip r:embed="rId3"/>
          <a:stretch>
            <a:fillRect/>
          </a:stretch>
        </p:blipFill>
        <p:spPr>
          <a:xfrm>
            <a:off x="6345936" y="4343400"/>
            <a:ext cx="274320" cy="274320"/>
          </a:xfrm>
          <a:prstGeom prst="rect">
            <a:avLst/>
          </a:prstGeom>
        </p:spPr>
      </p:pic>
      <p:sp>
        <p:nvSpPr>
          <p:cNvPr id="29" name="Text 24"/>
          <p:cNvSpPr/>
          <p:nvPr/>
        </p:nvSpPr>
        <p:spPr>
          <a:xfrm>
            <a:off x="6739128" y="4352544"/>
            <a:ext cx="5029200" cy="274320"/>
          </a:xfrm>
          <a:prstGeom prst="rect">
            <a:avLst/>
          </a:prstGeom>
          <a:noFill/>
          <a:ln/>
        </p:spPr>
        <p:txBody>
          <a:bodyPr wrap="square" lIns="0" tIns="0" rIns="0" bIns="0" rtlCol="0" anchor="ctr"/>
          <a:lstStyle/>
          <a:p>
            <a:pPr indent="0" marL="0">
              <a:buNone/>
            </a:pPr>
            <a:r>
              <a:rPr lang="en-US" sz="1100" dirty="0">
                <a:solidFill>
                  <a:srgbClr val="B8C8E8"/>
                </a:solidFill>
                <a:latin typeface="Calibri" pitchFamily="34" charset="0"/>
                <a:ea typeface="Calibri" pitchFamily="34" charset="-122"/>
                <a:cs typeface="Calibri" pitchFamily="34" charset="-120"/>
              </a:rPr>
              <a:t>API Security Design — JWT Authorizers, CORS, route protection</a:t>
            </a:r>
            <a:endParaRPr lang="en-US" sz="1100" dirty="0"/>
          </a:p>
        </p:txBody>
      </p:sp>
      <p:sp>
        <p:nvSpPr>
          <p:cNvPr id="30" name="Shape 25"/>
          <p:cNvSpPr/>
          <p:nvPr/>
        </p:nvSpPr>
        <p:spPr>
          <a:xfrm>
            <a:off x="320040" y="4818888"/>
            <a:ext cx="5623560" cy="457200"/>
          </a:xfrm>
          <a:prstGeom prst="rect">
            <a:avLst/>
          </a:prstGeom>
          <a:solidFill>
            <a:srgbClr val="162447"/>
          </a:solidFill>
          <a:ln w="12700">
            <a:solidFill>
              <a:srgbClr val="253B6E"/>
            </a:solidFill>
            <a:prstDash val="solid"/>
          </a:ln>
        </p:spPr>
      </p:sp>
      <p:pic>
        <p:nvPicPr>
          <p:cNvPr id="31" name="Image 3" descr="preencoded.png"/>
          <p:cNvPicPr>
            <a:picLocks noChangeAspect="1"/>
          </p:cNvPicPr>
          <p:nvPr/>
        </p:nvPicPr>
        <p:blipFill>
          <a:blip r:embed="rId4"/>
          <a:stretch>
            <a:fillRect/>
          </a:stretch>
        </p:blipFill>
        <p:spPr>
          <a:xfrm>
            <a:off x="429768" y="4910328"/>
            <a:ext cx="274320" cy="274320"/>
          </a:xfrm>
          <a:prstGeom prst="rect">
            <a:avLst/>
          </a:prstGeom>
        </p:spPr>
      </p:pic>
      <p:sp>
        <p:nvSpPr>
          <p:cNvPr id="32" name="Text 26"/>
          <p:cNvSpPr/>
          <p:nvPr/>
        </p:nvSpPr>
        <p:spPr>
          <a:xfrm>
            <a:off x="822960" y="4919472"/>
            <a:ext cx="5029200" cy="274320"/>
          </a:xfrm>
          <a:prstGeom prst="rect">
            <a:avLst/>
          </a:prstGeom>
          <a:noFill/>
          <a:ln/>
        </p:spPr>
        <p:txBody>
          <a:bodyPr wrap="square" lIns="0" tIns="0" rIns="0" bIns="0" rtlCol="0" anchor="ctr"/>
          <a:lstStyle/>
          <a:p>
            <a:pPr indent="0" marL="0">
              <a:buNone/>
            </a:pPr>
            <a:r>
              <a:rPr lang="en-US" sz="1100" dirty="0">
                <a:solidFill>
                  <a:srgbClr val="B8C8E8"/>
                </a:solidFill>
                <a:latin typeface="Calibri" pitchFamily="34" charset="0"/>
                <a:ea typeface="Calibri" pitchFamily="34" charset="-122"/>
                <a:cs typeface="Calibri" pitchFamily="34" charset="-120"/>
              </a:rPr>
              <a:t>Cloud Storage Security — Private S3, IAM roles, pre-signed URLs</a:t>
            </a:r>
            <a:endParaRPr lang="en-US" sz="1100" dirty="0"/>
          </a:p>
        </p:txBody>
      </p:sp>
      <p:sp>
        <p:nvSpPr>
          <p:cNvPr id="33" name="Shape 27"/>
          <p:cNvSpPr/>
          <p:nvPr/>
        </p:nvSpPr>
        <p:spPr>
          <a:xfrm>
            <a:off x="6236208" y="4818888"/>
            <a:ext cx="5623560" cy="457200"/>
          </a:xfrm>
          <a:prstGeom prst="rect">
            <a:avLst/>
          </a:prstGeom>
          <a:solidFill>
            <a:srgbClr val="162447"/>
          </a:solidFill>
          <a:ln w="12700">
            <a:solidFill>
              <a:srgbClr val="253B6E"/>
            </a:solidFill>
            <a:prstDash val="solid"/>
          </a:ln>
        </p:spPr>
      </p:sp>
      <p:pic>
        <p:nvPicPr>
          <p:cNvPr id="34" name="Image 4" descr="preencoded.png"/>
          <p:cNvPicPr>
            <a:picLocks noChangeAspect="1"/>
          </p:cNvPicPr>
          <p:nvPr/>
        </p:nvPicPr>
        <p:blipFill>
          <a:blip r:embed="rId5"/>
          <a:stretch>
            <a:fillRect/>
          </a:stretch>
        </p:blipFill>
        <p:spPr>
          <a:xfrm>
            <a:off x="6345936" y="4910328"/>
            <a:ext cx="274320" cy="274320"/>
          </a:xfrm>
          <a:prstGeom prst="rect">
            <a:avLst/>
          </a:prstGeom>
        </p:spPr>
      </p:pic>
      <p:sp>
        <p:nvSpPr>
          <p:cNvPr id="35" name="Text 28"/>
          <p:cNvSpPr/>
          <p:nvPr/>
        </p:nvSpPr>
        <p:spPr>
          <a:xfrm>
            <a:off x="6739128" y="4919472"/>
            <a:ext cx="5029200" cy="274320"/>
          </a:xfrm>
          <a:prstGeom prst="rect">
            <a:avLst/>
          </a:prstGeom>
          <a:noFill/>
          <a:ln/>
        </p:spPr>
        <p:txBody>
          <a:bodyPr wrap="square" lIns="0" tIns="0" rIns="0" bIns="0" rtlCol="0" anchor="ctr"/>
          <a:lstStyle/>
          <a:p>
            <a:pPr indent="0" marL="0">
              <a:buNone/>
            </a:pPr>
            <a:r>
              <a:rPr lang="en-US" sz="1100" dirty="0">
                <a:solidFill>
                  <a:srgbClr val="B8C8E8"/>
                </a:solidFill>
                <a:latin typeface="Calibri" pitchFamily="34" charset="0"/>
                <a:ea typeface="Calibri" pitchFamily="34" charset="-122"/>
                <a:cs typeface="Calibri" pitchFamily="34" charset="-120"/>
              </a:rPr>
              <a:t>Serverless Architecture — Lambda, API Gateway, event-driven design</a:t>
            </a:r>
            <a:endParaRPr lang="en-US" sz="1100" dirty="0"/>
          </a:p>
        </p:txBody>
      </p:sp>
      <p:sp>
        <p:nvSpPr>
          <p:cNvPr id="36" name="Shape 29"/>
          <p:cNvSpPr/>
          <p:nvPr/>
        </p:nvSpPr>
        <p:spPr>
          <a:xfrm>
            <a:off x="0" y="6473952"/>
            <a:ext cx="12188952" cy="384048"/>
          </a:xfrm>
          <a:prstGeom prst="rect">
            <a:avLst/>
          </a:prstGeom>
          <a:solidFill>
            <a:srgbClr val="1A2E5A"/>
          </a:solidFill>
          <a:ln w="12700">
            <a:solidFill>
              <a:srgbClr val="1A2E5A"/>
            </a:solidFill>
            <a:prstDash val="solid"/>
          </a:ln>
        </p:spPr>
      </p:sp>
      <p:sp>
        <p:nvSpPr>
          <p:cNvPr id="37" name="Text 30"/>
          <p:cNvSpPr/>
          <p:nvPr/>
        </p:nvSpPr>
        <p:spPr>
          <a:xfrm>
            <a:off x="0" y="6473952"/>
            <a:ext cx="12188952" cy="384048"/>
          </a:xfrm>
          <a:prstGeom prst="rect">
            <a:avLst/>
          </a:prstGeom>
          <a:noFill/>
          <a:ln/>
        </p:spPr>
        <p:txBody>
          <a:bodyPr wrap="square" lIns="0" tIns="0" rIns="0" bIns="0" rtlCol="0" anchor="ctr"/>
          <a:lstStyle/>
          <a:p>
            <a:pPr algn="ctr" indent="0" marL="0">
              <a:buNone/>
            </a:pPr>
            <a:r>
              <a:rPr lang="en-US" sz="950" dirty="0">
                <a:solidFill>
                  <a:srgbClr val="7A90B8"/>
                </a:solidFill>
                <a:latin typeface="Calibri" pitchFamily="34" charset="0"/>
                <a:ea typeface="Calibri" pitchFamily="34" charset="-122"/>
                <a:cs typeface="Calibri" pitchFamily="34" charset="-120"/>
              </a:rPr>
              <a:t>Adhithyan Sivaraman T  •  github.com/Adhithyan-10  •  linkedin.com/in/adhithyan-sivaraman-t-399b5b362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AWS Content Delivery Platform</dc:title>
  <dc:subject>PptxGenJS Presentation</dc:subject>
  <dc:creator>Adhithyan Sivaraman T</dc:creator>
  <cp:lastModifiedBy>Adhithyan Sivaraman T</cp:lastModifiedBy>
  <cp:revision>1</cp:revision>
  <dcterms:created xsi:type="dcterms:W3CDTF">2026-05-16T11:13:56Z</dcterms:created>
  <dcterms:modified xsi:type="dcterms:W3CDTF">2026-05-16T11:13:56Z</dcterms:modified>
</cp:coreProperties>
</file>